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各位领导、各位同事，大家好。（若为代讲：受林桑同志委托，我代表他向大家汇报。）今天汇报的题目是——一个人加AI，等于一个生产力团队。</a:t>
            </a:r>
          </a:p>
          <a:p>
            <a:r>
              <a:t>过去八周，我作为一名DBA，在不写一行代码的情况下，指挥三个AI智能体，从零开发出了一套企业级的TDSQL数据库SQL审核工具，现在已经具备上线条件。大家看屏幕下方这四个数字：八周从零到上线、119条审核规则、880项自动化测试，而我本人手写的代码——是零行。</a:t>
            </a:r>
          </a:p>
          <a:p>
            <a:r>
              <a:t>今天我想向大家汇报的，不只是这个工具本身，更是这套"人指挥AI"的工作方法。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今天的汇报分六个部分。</a:t>
            </a:r>
          </a:p>
          <a:p>
            <a:r>
              <a:t>第一部分讲背景，为什么最懂需求的人反而做不出工具；第二部分是方法论，也是今天的核心——专家驱动的三角色AI协作模型；第三部分实战历程，八周里到底发生了什么；第四部分提示词工程，怎么让AI完全听懂人话；第五部分用数据说话，效率提升三到六倍，成本节省五十万以上；最后第六部分，谈谈这件事对个人能力的提升，以及在咱们部门推广的建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先看第一部分，背景与挑战。一句话概括：最懂需求的人，不会写代码。这曾经是我的困境，我相信也是在座很多专业岗位同事共同的困境。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作为DBA，我们日常运维面临三大痛点。</a:t>
            </a:r>
          </a:p>
          <a:p>
            <a:r>
              <a:t>第一，SQL质量管控缺失。开发提交的SQL没有经过审核就直接上线，生产事故时有发生，救火成了常态。</a:t>
            </a:r>
          </a:p>
          <a:p>
            <a:r>
              <a:t>第二，Oracle迁移适配难。业务系统从Oracle迁到TDSQL，原厂文档里有四十多类不兼容语法，靠人工逐条排查，效率极低还容易漏。</a:t>
            </a:r>
          </a:p>
          <a:p>
            <a:r>
              <a:t>第三，慢SQL治理是被动的，只能等问题暴露了再处理。</a:t>
            </a:r>
          </a:p>
          <a:p>
            <a:r>
              <a:t>这三个痛点指向同一个根源：SQL的质量问题必须在上线前拦截，而拦截，需要一套自动化的、真正懂TDSQL的审核工具。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要这套工具，传统上有三条路，但条条走不通。</a:t>
            </a:r>
          </a:p>
          <a:p>
            <a:r>
              <a:t>买商业产品——年费几十万，还很难适配咱们行内的TDSQL环境；找外包——沟通成本高、周期长，以后维护还受制于人；自己开发——问题来了，我是DBA，是数据库运维的专家，但编程，我是一窍不通的。</a:t>
            </a:r>
          </a:p>
          <a:p>
            <a:r>
              <a:t>这就是屏幕下方这句话，我称之为核心矛盾：最懂业务需求的人，不具备编程能力；有编程能力的人，又不理解DBA的专业需求。这个矛盾，过去是无解的。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AI给了我一个破局的机会。我当时的想法很朴素：我懂TDSQL的每一个技术细节和运维规范，我能设计出完整的审核规则体系和架构方案——我缺的只是把设计变成代码的那双手。而AI，恰恰就是这双手。</a:t>
            </a:r>
          </a:p>
          <a:p>
            <a:r>
              <a:t>于是我做了一个大胆的假设：一个人，加上AI工具，能不能等于一个完整的生产力团队？</a:t>
            </a:r>
          </a:p>
          <a:p>
            <a:r>
              <a:t>接下来的八周，验证了这个假设。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第二部分，方法论。这是今天汇报的核心。我想先说结论：用好AI的关键，是把AI当团队来管理，而不是当工具来使用。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我的核心理念是八个字：专家是大脑，AI是双手。</a:t>
            </a:r>
          </a:p>
          <a:p>
            <a:r>
              <a:t>作为专家，我提供三样东西：架构设计能力——定方向、定边界、定标准；业务理解深度——TDSQL的每一个细节我门儿清；质量判断标准——什么叫生产级可用，我说了算。</a:t>
            </a:r>
          </a:p>
          <a:p>
            <a:r>
              <a:t>AI提供另外三样：万行级代码的落地执行、小时级的迭代速度、设计编码测试多角色并行的协同能力。</a:t>
            </a:r>
          </a:p>
          <a:p>
            <a:r>
              <a:t>一句话：专家提供方向和质量标准，AI提供执行力和生产效率。我不是在和AI聊天，我是在管理一个AI团队——就像Tech Lead管理开发团队一样。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具体怎么管？我同时指挥三个AI智能体，各司其职。</a:t>
            </a:r>
          </a:p>
          <a:p>
            <a:r>
              <a:t>设计智能体，是我的设计参谋，负责需求分析、架构设计、写设计说明书，还兼任质检验收；编码智能体，是我的程序员，严格按设计说明书写代码、修缺陷；测试智能体，是我的QA工程师，独立做SIT、UAT测试，专门挑毛病。</a:t>
            </a:r>
          </a:p>
          <a:p>
            <a:r>
              <a:t>为什么必须三个角色？因为单一AI既当运动员又当裁判，必然失控。设计出标准、编码去实现、测试来揭短，我做最终裁决——制衡，才能产生质量。这是我在整个项目里最重要的一条管理心得。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在几十轮交互中，我沉淀出一套固定打法，叫五步交互方法论。</a:t>
            </a:r>
          </a:p>
          <a:p>
            <a:r>
              <a:t>第一步，专家定义——我先想清楚，输出设计思想和业务需求；第二步，AI设计——设计智能体把需求变成详细设计说明书；第三步，AI实现——编码智能体严格按说明书编码；第四步，AI测试——测试智能体独立验证、揭示缺陷；第五步，闭环修复——我审报告、做裁决、指挥修复，然后再来一轮复验。</a:t>
            </a:r>
          </a:p>
          <a:p>
            <a:r>
              <a:t>注意中间这行金色的字：循环迭代，直到质检通过准出。项目里最多的一个模块循环了四轮，最终零缺陷上线。这套流程看着慢，实际是最快的路，因为它避免了方向性返工。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这一页讲质量的秘密：制衡，而不是信任。</a:t>
            </a:r>
          </a:p>
          <a:p>
            <a:r>
              <a:t>给大家讲真实的一幕：有一轮，编码智能体报告说"已完成开发并自测通过"。结果质检验收一查，十九个页面里十一个是空壳子。从那以后我定了一条铁的规矩：AI说做完了，不算数；必须经过独立验证，再由我做最终裁决，才算数。</a:t>
            </a:r>
          </a:p>
          <a:p>
            <a:r>
              <a:t>大家看这个结构：三个智能体互相制衡，所有报告最后汇到我这里，由我逐条审核、确认根因、决定是准出还是打回整改。质量，就是这么管出来的。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第三部分，实战历程。八周、七个阶段、六十二次代码提交——下面带大家快速走一遍这条从零到上线的路。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这是项目的全景时间线。</a:t>
            </a:r>
          </a:p>
          <a:p>
            <a:r>
              <a:t>第一周做架构设计，我是总架构师；第二到三周攻核心引擎，七十七条审核规则，我是规则设计者；第四周前端改版，十九个页面，我是产品设计师；第五周功能增强，我是需求定义者；第六周接入Oracle迁移规则四十二条，我是规范制定者；第七周质检验收，八百八十个用例回归零失败，我是质量把关者；第八周上线准备，一键部署包定版，我回归老本行，运维专家。</a:t>
            </a:r>
          </a:p>
          <a:p>
            <a:r>
              <a:t>大家注意，每个阶段我扮演不同的专家角色，而AI团队三线并行——这就是一个人的"多线程"工作方式。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这一页的数据全部来自Git代码仓库的真实统计，每一个数字都可以查证。</a:t>
            </a:r>
          </a:p>
          <a:p>
            <a:r>
              <a:t>六十二次代码提交，全部由AI编写；两万九千八百行工程代码，其中后端一万六千五百行、测试一万一千八百行；二十六份项目文档，一万两千五百行，设计、测试、部署、运维全套齐备；八百八十项自动化测试，上线前全量回归零失败。</a:t>
            </a:r>
          </a:p>
          <a:p>
            <a:r>
              <a:t>而最下面这行金色的字，是我最想让大家记住的：我本人手写代码，零行。我贡献的，是设计思想、规则体系，和每一轮的质量裁决。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接下来用两个典型案例，展开讲讲这套方法是怎么运转的。第一个案例，Oracle迁移规则的诞生——这是整个项目里最能体现专家价值的一战。</a:t>
            </a:r>
          </a:p>
          <a:p>
            <a:r>
              <a:t>背景是这样的：原厂给了一份《Oracle迁移TDSQL改造适配方案》，七百二十九行的Word文档，里面全是干货：to_char、nvl、decode这些函数不支持怎么改写，rownum、MERGE INTO、WITH AS这些语法不兼容怎么替换，还有分布式场景下的各种限制、分片键的六条军规。</a:t>
            </a:r>
          </a:p>
          <a:p>
            <a:r>
              <a:t>如果靠人工逐条记忆、逐条排查——右边这个红色卡片说得很清楚——一个DBA团队也得干几个月，还必然有遗漏。我的目标只有一个：把这份文档的每一个规范点，无遗漏地变成审核工具里可执行的规则。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六步走完这件事。</a:t>
            </a:r>
          </a:p>
          <a:p>
            <a:r>
              <a:t>第一步，我把七百二十九行文档交给设计智能体，指令的关键词是"无遗漏"；第二步，设计智能体产出了六百四十八行的设计说明书，五十二个规范点的追溯矩阵、四十二条新规则的逐条规格；第三步，我把说明书交给编码智能体，要求"严格按每一个规格编码"；第四步，AI写出了近千行的规则代码；第五步，测试和质检独立揭短，真挖出了三个缺陷；第六步，我逐条确认根因、指挥修复，最终一百八十四项验收全过、八百八十项回归零失败，准出。</a:t>
            </a:r>
          </a:p>
          <a:p>
            <a:r>
              <a:t>请注意关键洞察：如果我不懂TDSQL的技术细节、不懂原厂文档的每一个规范点，AI是不可能自动完成这些工作的。是我的专家判断力，确保了规则的完整和准确。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这个案例的成果：新增四十二条审核规则；原厂五十二个规范点百分之百无遗漏覆盖；一百八十四项验收检查全部通过；而全流程耗时——大约一周，传统方式需要几个月。</a:t>
            </a:r>
          </a:p>
          <a:p>
            <a:r>
              <a:t>更重要的是下面这段话：上线以后，每一次SQL审核，这四十二条规则都在自动工作。开发再提交to_char、nvl、rownum这些Oracle写法，审核工具当场拦截，并且给出原厂文档对应的TDSQL改写方案。</a:t>
            </a:r>
          </a:p>
          <a:p>
            <a:r>
              <a:t>原厂规范，从纸面文档，变成了每一次提交都在执行的自动化防线。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第二个案例，讲质检验收的闭环，让大家看看AI给AI挑刺是什么样子。</a:t>
            </a:r>
          </a:p>
          <a:p>
            <a:r>
              <a:t>左边是质检智能体验收结论的原文，它先肯定"引擎是几轮交付里质量最高的"，但话锋一转——"仍不能准出"，因为一条军规是死代码、一个高频误报、测试工作没做。够狠吧？这就是我要的独立质检。</a:t>
            </a:r>
          </a:p>
          <a:p>
            <a:r>
              <a:t>右边是我的处理：逐条审核四个缺陷、确认根因分析是准的，然后按优先级下达整改指令，并且定死复验口径。下面四个绿色卡片是整改结果，最终复验：八百八十项测试通过、零失败，准出上线。</a:t>
            </a:r>
          </a:p>
          <a:p>
            <a:r>
              <a:t>还是那句话：编码智能体说"写对了"不算数，必须过独立验证，再由我做最终裁决。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领导要求我重点讲讲交互过程，这一页就是"无数次交互"的真实样貌——前端改版的四轮攻坚，我一点都不回避。</a:t>
            </a:r>
          </a:p>
          <a:p>
            <a:r>
              <a:t>第一轮，验收发现十九个页面里十一个是空壳，我发出整改单，逐页列问题；第二轮，页面填上了但表格全是空的，质检定位到根因是数据解包的问题，我要求出"傻瓜式"整改文档，错误代码和正确代码逐行对照；第三轮，只剩两个接口参数错误，我直接给出照抄级的修复代码，并且要求"亲手点一遍再交付"；第四轮，全部验证通过。</a:t>
            </a:r>
          </a:p>
          <a:p>
            <a:r>
              <a:t>我想说的是：四轮不是失败，恰恰是方法论在工作——每一轮都可度量、可收敛。整个项目，这样的"验收、整改、复验"循环发生了十几次。交互越充分，AI的输出就越接近专家标准。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第四部分，提示词工程。怎么跟AI说话，它才能完全听懂你的意图？我总结了六条铁律和四个真实的提示词实录。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先看六条铁律。</a:t>
            </a:r>
          </a:p>
          <a:p>
            <a:r>
              <a:t>一，专家先行：先想清楚再让AI做，别让AI替你做决策，"帮我设计个系统"这种话太模糊；二，设计先行：先出设计说明书再编码，直接写代码必然方向跑偏；三，精确约束：给明确的验收标准；四，闭环验证：每轮交付必须过独立测试；五，迭代改进：接受AI不完美，持续推动收敛；六，角色分工：设计编码测试不混岗，否则没有制衡。</a:t>
            </a:r>
          </a:p>
          <a:p>
            <a:r>
              <a:t>一句话总结：把AI当成能力极强、但需要明确指令的新员工——你给的目标越清晰、验收越严格，它的产出就越接近专家水准。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这两页是我真实使用过的提示词原文，一个字没改。</a:t>
            </a:r>
          </a:p>
          <a:p>
            <a:r>
              <a:t>左边是任务委派："你从GitHub更新最新内容，把设计说明书严格按要求编码开发，说明书在哪个目录你自己取。完成后自己先做冒烟测试，通过后向我汇报，我会让测试智能体做SIT和UAT。"要点是三个明确：明确输入、明确流程、明确后续。</a:t>
            </a:r>
          </a:p>
          <a:p>
            <a:r>
              <a:t>右边是缺陷修复，就两句话："这是测试报告，你照着修复。改好后我让测试智能体复测。"要点是不过度指导，让AI自己分析问题，同时"复测"两个字形成压力闭环。</a:t>
            </a:r>
          </a:p>
          <a:p>
            <a:r>
              <a:t>大家看，没有任何编程术语，全是大白话。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再看两个模式。</a:t>
            </a:r>
          </a:p>
          <a:p>
            <a:r>
              <a:t>左边是质检驱动整改："我让设计智能体做了质检验收，结论是不予准出，质检意见在这个文档里，你拿下来照着改。"要点是引入独立质检角色，用质检报告驱动修复——报告写得越"傻瓜式"，修复就越精准。</a:t>
            </a:r>
          </a:p>
          <a:p>
            <a:r>
              <a:t>右边是需求定义，就是Oracle规则那个案例的原始提示词："原厂今天给过来一份文档……这些内容对业务系统至关重要，现在急需把文档内容全部无遗漏地添加到审核规则库中。"要点是说清业务背景、紧迫程度和核心要求——"无遗漏"三个字，就是我给AI定的最高优先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当然，我也踩过坑，总结成五大陷阱送给大家。</a:t>
            </a:r>
          </a:p>
          <a:p>
            <a:r>
              <a:t>一，让AI自己做架构决策，结果架构混乱前后矛盾——正确做法是专家定架构，AI做细节；二，一次提太多需求，AI理解偏差——要分阶段迭代；三，不看AI输出就继续下指令，错误会累积——每轮必须审核；四，忽略独立测试，上线才发现缺陷——测试先行；五，也是对咱们非编程背景同事最重要的一条：不用硬学编程术语，用业务语言描述需求就够了。我全程都是用DBA的话在指挥AI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第五部分，成果与数据。前面讲了怎么干，现在用数字回答干得怎么样。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这就是交付成果：TDSQL数据库SQL审核工具v1.0.2。</a:t>
            </a:r>
          </a:p>
          <a:p>
            <a:r>
              <a:t>上面十五个能力标签：SQL即时审核、文件批量审核、GitLab集成、慢SQL扫描分析、EXPLAIN诊断、数据库体检、大表治理、质量门禁、角色权限、监控告警、操作审计等等——是一个功能完整的企业级平台。</a:t>
            </a:r>
          </a:p>
          <a:p>
            <a:r>
              <a:t>三个关键指标：规则，一百一十九条、九大分类；质量，八百八十项全量回归零失败，多轮SIT、UAT加独立质检准出；交付，麒麟V10操作系统一键部署包，加十三份文档体系。随时可以上线。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效率对比，同样的活，时间轴完全不同。</a:t>
            </a:r>
          </a:p>
          <a:p>
            <a:r>
              <a:t>架构设计，传统两到三周，AI协作三天；规则引擎开发，传统两到三个月，AI两周；Oracle迁移规则，传统一到两个月，AI一周；前端十九个页面，传统一到两个月，AI一周；八百八十个用例的全量测试，传统要两到四周，AI是自动执行的。</a:t>
            </a:r>
          </a:p>
          <a:p>
            <a:r>
              <a:t>汇总起来看最下面：传统方式六到十二个月的项目，AI协作八周完成，整体提速三到六倍。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再算经济账。</a:t>
            </a:r>
          </a:p>
          <a:p>
            <a:r>
              <a:t>买商业产品，一年三十到八十万；外包开发，五十到一百五十万；自建一个三到五人的团队，一年一百到两百万。而我加AI工具这条路——零额外人力成本，八周交付。</a:t>
            </a:r>
          </a:p>
          <a:p>
            <a:r>
              <a:t>按最保守的口径，这个项目直接节省了至少五十万元的开发成本，和六个月的时间成本。还有一笔更大的隐性收益：SQL缺陷从此在上线前被拦截，生产事故和救火成本会持续下降——这笔账难以精确估量，但真实存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最后一部分，谈谈这次实践对我个人能力的提升，以及给部门的推广建议。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先说AI怎么提升了我。四个维度的跃迁：</a:t>
            </a:r>
          </a:p>
          <a:p>
            <a:r>
              <a:t>从DBA到全栈交付者——过去我只会SQL运维，现在能独立交付完整的软件产品；从执行者到架构师——过去执行运维任务，现在设计系统架构、指挥AI团队；从个人到团队——过去是一个人的能力边界，现在一个人就是一个生产力团队；从被动到主动——过去问题来了再救火，现在主动构建工具去预防问题。</a:t>
            </a:r>
          </a:p>
          <a:p>
            <a:r>
              <a:t>这四个跃迁，不是AI赐予的，是我在指挥AI的过程中被倒逼出来的。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但我更想强调的是这一页：为什么必须"专家驱动"？因为有五项能力，AI一项都替代不了。</a:t>
            </a:r>
          </a:p>
          <a:p>
            <a:r>
              <a:t>需求定义——我知道DBA真正需要什么工具；架构设计——我能设计出一百一十九条规则的完整体系；质量判断——我能判断AI的输出到没到生产级；业务理解——Oracle迁移的每一个技术细节我都懂；优先级决策——我知道什么最重要、什么可以延后。</a:t>
            </a:r>
          </a:p>
          <a:p>
            <a:r>
              <a:t>请注意：这五项能力，恰恰是咱们部门每一位领域专家已经具备的。也就是说，在座每一位专家，都具备复制这个实践的核心条件。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所以这套方法论完全可以复制。</a:t>
            </a:r>
          </a:p>
          <a:p>
            <a:r>
              <a:t>左边是岗位映射：DBA可以做SQL审核、慢SQL平台；网络工程师可以做网络监控、故障自动诊断；安全工程师可以做漏洞扫描、合规检查；运维工程师可以做CMDB、自动化运维平台；业务分析师可以做数据分析工具。</a:t>
            </a:r>
          </a:p>
          <a:p>
            <a:r>
              <a:t>右边是我对部门的五点建议：机制上，建立"AI加专家"的项目孵化机制；培训上，开展提示词工程培训，推广五步方法论；工具上，统一AI平台、建立智能体协作规范；激励上，把AI协作创新纳入绩效、设创新实践奖；知识上，建案例库，沉淀方法论和提示词模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最后，用三句话结束今天的汇报。</a:t>
            </a:r>
          </a:p>
          <a:p>
            <a:r>
              <a:t>这不是一个程序员的故事，而是一个DBA用专家智慧指挥AI团队的故事。我没有写一行代码，但我设计了一百一十九条规则的完整体系，定义了四十二条迁移规范的技术细节，审核了每一轮测试报告，做出了每一次质量裁决。</a:t>
            </a:r>
          </a:p>
          <a:p>
            <a:r>
              <a:t>AI是放大器——它放大了专家能力，而不是替代了专家能力。</a:t>
            </a:r>
          </a:p>
          <a:p>
            <a:r>
              <a:t>一个人加AI，等于一个生产力团队。这不是未来的愿景，而是今天正在发生的现实。它今天发生在数据库运维领域，明天就可以发生在咱们部门的每一个专业领域。</a:t>
            </a:r>
          </a:p>
          <a:p>
            <a:r>
              <a:t>我的汇报到此结束，感谢聆听，欢迎各位领导同事批评指正。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235440" y="-2377440"/>
            <a:ext cx="5852160" cy="5852160"/>
          </a:xfrm>
          <a:prstGeom prst="ellipse">
            <a:avLst/>
          </a:prstGeom>
          <a:solidFill>
            <a:srgbClr val="12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4023360" cy="4023360"/>
          </a:xfrm>
          <a:prstGeom prst="ellipse">
            <a:avLst/>
          </a:prstGeom>
          <a:noFill/>
          <a:ln w="15240">
            <a:solidFill>
              <a:srgbClr val="1B4A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07040" y="4480560"/>
            <a:ext cx="2926080" cy="2926080"/>
          </a:xfrm>
          <a:prstGeom prst="ellipse">
            <a:avLst/>
          </a:prstGeom>
          <a:noFill/>
          <a:ln w="12700">
            <a:solidFill>
              <a:srgbClr val="1B4A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1704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3A93C"/>
                </a:solidFill>
                <a:latin typeface="微软雅黑"/>
              </a:rPr>
              <a:t>信息科技部 · AI赋能创新实践汇报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" y="1691640"/>
            <a:ext cx="111556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>
                <a:solidFill>
                  <a:srgbClr val="FFFFFF"/>
                </a:solidFill>
                <a:latin typeface="微软雅黑"/>
              </a:rPr>
              <a:t>一个人 + AI = 一个生产力团队</a:t>
            </a:r>
          </a:p>
          <a:p>
            <a:pPr algn="l">
              <a:lnSpc>
                <a:spcPct val="112000"/>
              </a:lnSpc>
              <a:spcBef>
                <a:spcPts val="1400"/>
              </a:spcBef>
              <a:spcAft>
                <a:spcPts val="0"/>
              </a:spcAft>
            </a:pPr>
            <a:r>
              <a:rPr sz="1900" b="0">
                <a:solidFill>
                  <a:srgbClr val="8FC2EE"/>
                </a:solidFill>
                <a:latin typeface="微软雅黑"/>
              </a:rPr>
              <a:t>DBA 专家驱动 AI 协作，从零构建企业级 SQL 审核平台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3703320"/>
            <a:ext cx="731520" cy="44450"/>
          </a:xfrm>
          <a:prstGeom prst="rect">
            <a:avLst/>
          </a:prstGeom>
          <a:solidFill>
            <a:srgbClr val="E3A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395020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汇报人：林桑（DBA）</a:t>
            </a:r>
            <a:r>
              <a:rPr sz="1400" b="0">
                <a:solidFill>
                  <a:srgbClr val="8FC2EE"/>
                </a:solidFill>
                <a:latin typeface="微软雅黑"/>
              </a:rPr>
              <a:t>    项目：TDSQL数据库SQL审核工具 v1.0.2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892040"/>
            <a:ext cx="2395728" cy="1143000"/>
          </a:xfrm>
          <a:prstGeom prst="roundRect">
            <a:avLst>
              <a:gd name="adj" fmla="val 12000"/>
            </a:avLst>
          </a:prstGeom>
          <a:solidFill>
            <a:srgbClr val="13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1120" bIns="7112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E3A93C"/>
                </a:solidFill>
                <a:latin typeface="微软雅黑"/>
              </a:rPr>
              <a:t>8 周</a:t>
            </a:r>
          </a:p>
          <a:p>
            <a:pPr algn="ctr">
              <a:lnSpc>
                <a:spcPct val="112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>
                <a:solidFill>
                  <a:srgbClr val="8FC2EE"/>
                </a:solidFill>
                <a:latin typeface="微软雅黑"/>
              </a:rPr>
              <a:t>从零到上线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6120" y="4892040"/>
            <a:ext cx="2395728" cy="1143000"/>
          </a:xfrm>
          <a:prstGeom prst="roundRect">
            <a:avLst>
              <a:gd name="adj" fmla="val 12000"/>
            </a:avLst>
          </a:prstGeom>
          <a:solidFill>
            <a:srgbClr val="13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1120" bIns="7112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微软雅黑"/>
              </a:rPr>
              <a:t>119 条</a:t>
            </a:r>
          </a:p>
          <a:p>
            <a:pPr algn="ctr">
              <a:lnSpc>
                <a:spcPct val="112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>
                <a:solidFill>
                  <a:srgbClr val="8FC2EE"/>
                </a:solidFill>
                <a:latin typeface="微软雅黑"/>
              </a:rPr>
              <a:t>审核规则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25312" y="4892040"/>
            <a:ext cx="2395728" cy="1143000"/>
          </a:xfrm>
          <a:prstGeom prst="roundRect">
            <a:avLst>
              <a:gd name="adj" fmla="val 12000"/>
            </a:avLst>
          </a:prstGeom>
          <a:solidFill>
            <a:srgbClr val="13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1120" bIns="7112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微软雅黑"/>
              </a:rPr>
              <a:t>880 项</a:t>
            </a:r>
          </a:p>
          <a:p>
            <a:pPr algn="ctr">
              <a:lnSpc>
                <a:spcPct val="112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>
                <a:solidFill>
                  <a:srgbClr val="8FC2EE"/>
                </a:solidFill>
                <a:latin typeface="微软雅黑"/>
              </a:rPr>
              <a:t>自动化测试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04504" y="4892040"/>
            <a:ext cx="2395728" cy="1143000"/>
          </a:xfrm>
          <a:prstGeom prst="roundRect">
            <a:avLst>
              <a:gd name="adj" fmla="val 12000"/>
            </a:avLst>
          </a:prstGeom>
          <a:solidFill>
            <a:srgbClr val="13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1120" bIns="7112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E3A93C"/>
                </a:solidFill>
                <a:latin typeface="微软雅黑"/>
              </a:rPr>
              <a:t>0 行</a:t>
            </a:r>
          </a:p>
          <a:p>
            <a:pPr algn="ctr">
              <a:lnSpc>
                <a:spcPct val="112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>
                <a:solidFill>
                  <a:srgbClr val="8FC2EE"/>
                </a:solidFill>
                <a:latin typeface="微软雅黑"/>
              </a:rPr>
              <a:t>本人手写代码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1057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B7BD3"/>
                </a:solidFill>
                <a:latin typeface="微软雅黑"/>
              </a:rP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105783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2239"/>
                </a:solidFill>
                <a:latin typeface="微软雅黑"/>
              </a:rPr>
              <a:t>汇报目录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502920" cy="38100"/>
          </a:xfrm>
          <a:prstGeom prst="rect">
            <a:avLst/>
          </a:prstGeom>
          <a:solidFill>
            <a:srgbClr val="E3A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78C"/>
                </a:solidFill>
                <a:latin typeface="微软雅黑"/>
              </a:rPr>
              <a:t>AI赋能DBA创新实践 · TDSQL数据库SQL审核工具 v1.0.2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4778C"/>
                </a:solidFill>
                <a:latin typeface="微软雅黑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00200"/>
            <a:ext cx="5358384" cy="13167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874520"/>
            <a:ext cx="1051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C6DAF0"/>
                </a:solidFill>
                <a:latin typeface="微软雅黑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38528" y="1801368"/>
            <a:ext cx="3840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E2239"/>
                </a:solidFill>
                <a:latin typeface="微软雅黑"/>
              </a:rPr>
              <a:t>背景与挑战</a:t>
            </a:r>
          </a:p>
          <a:p>
            <a:pPr algn="l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</a:pPr>
            <a:r>
              <a:rPr sz="1150" b="0">
                <a:solidFill>
                  <a:srgbClr val="64778C"/>
                </a:solidFill>
                <a:latin typeface="微软雅黑"/>
              </a:rPr>
              <a:t>最懂需求的人，不会写代码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1600200"/>
            <a:ext cx="5358384" cy="13167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0528" y="1874520"/>
            <a:ext cx="1051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C6DAF0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6096" y="1801368"/>
            <a:ext cx="3840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E2239"/>
                </a:solidFill>
                <a:latin typeface="微软雅黑"/>
              </a:rPr>
              <a:t>方法论</a:t>
            </a:r>
          </a:p>
          <a:p>
            <a:pPr algn="l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</a:pPr>
            <a:r>
              <a:rPr sz="1150" b="0">
                <a:solidFill>
                  <a:srgbClr val="64778C"/>
                </a:solidFill>
                <a:latin typeface="微软雅黑"/>
              </a:rPr>
              <a:t>专家驱动的三角色 AI 协作模型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172968"/>
            <a:ext cx="5358384" cy="13167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447288"/>
            <a:ext cx="1051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C6DAF0"/>
                </a:solidFill>
                <a:latin typeface="微软雅黑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38528" y="3374136"/>
            <a:ext cx="3840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E2239"/>
                </a:solidFill>
                <a:latin typeface="微软雅黑"/>
              </a:rPr>
              <a:t>实战历程</a:t>
            </a:r>
          </a:p>
          <a:p>
            <a:pPr algn="l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</a:pPr>
            <a:r>
              <a:rPr sz="1150" b="0">
                <a:solidFill>
                  <a:srgbClr val="64778C"/>
                </a:solidFill>
                <a:latin typeface="微软雅黑"/>
              </a:rPr>
              <a:t>8 周、62 次提交、从零到 v1.0.2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54496" y="3172968"/>
            <a:ext cx="5358384" cy="13167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0528" y="3447288"/>
            <a:ext cx="1051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C6DAF0"/>
                </a:solidFill>
                <a:latin typeface="微软雅黑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6096" y="3374136"/>
            <a:ext cx="3840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E2239"/>
                </a:solidFill>
                <a:latin typeface="微软雅黑"/>
              </a:rPr>
              <a:t>提示词工程</a:t>
            </a:r>
          </a:p>
          <a:p>
            <a:pPr algn="l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</a:pPr>
            <a:r>
              <a:rPr sz="1150" b="0">
                <a:solidFill>
                  <a:srgbClr val="64778C"/>
                </a:solidFill>
                <a:latin typeface="微软雅黑"/>
              </a:rPr>
              <a:t>让 AI 完全理解人的意图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745736"/>
            <a:ext cx="5358384" cy="13167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020056"/>
            <a:ext cx="1051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C6DAF0"/>
                </a:solidFill>
                <a:latin typeface="微软雅黑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38528" y="4946904"/>
            <a:ext cx="3840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E2239"/>
                </a:solidFill>
                <a:latin typeface="微软雅黑"/>
              </a:rPr>
              <a:t>成果与数据</a:t>
            </a:r>
          </a:p>
          <a:p>
            <a:pPr algn="l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</a:pPr>
            <a:r>
              <a:rPr sz="1150" b="0">
                <a:solidFill>
                  <a:srgbClr val="64778C"/>
                </a:solidFill>
                <a:latin typeface="微软雅黑"/>
              </a:rPr>
              <a:t>效率提升 3-6 倍，节省 50 万+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54496" y="4745736"/>
            <a:ext cx="5358384" cy="13167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10528" y="5020056"/>
            <a:ext cx="1051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C6DAF0"/>
                </a:solidFill>
                <a:latin typeface="微软雅黑"/>
              </a:rP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26096" y="4946904"/>
            <a:ext cx="3840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E2239"/>
                </a:solidFill>
                <a:latin typeface="微软雅黑"/>
              </a:rPr>
              <a:t>能力提升与推广</a:t>
            </a:r>
          </a:p>
          <a:p>
            <a:pPr algn="l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</a:pPr>
            <a:r>
              <a:rPr sz="1150" b="0">
                <a:solidFill>
                  <a:srgbClr val="64778C"/>
                </a:solidFill>
                <a:latin typeface="微软雅黑"/>
              </a:rPr>
              <a:t>AI 是放大器，专家是灵魂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235440" y="-2377440"/>
            <a:ext cx="5852160" cy="5852160"/>
          </a:xfrm>
          <a:prstGeom prst="ellipse">
            <a:avLst/>
          </a:prstGeom>
          <a:solidFill>
            <a:srgbClr val="12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4023360" cy="4023360"/>
          </a:xfrm>
          <a:prstGeom prst="ellipse">
            <a:avLst/>
          </a:prstGeom>
          <a:noFill/>
          <a:ln w="15240">
            <a:solidFill>
              <a:srgbClr val="1B4A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07040" y="4480560"/>
            <a:ext cx="2926080" cy="2926080"/>
          </a:xfrm>
          <a:prstGeom prst="ellipse">
            <a:avLst/>
          </a:prstGeom>
          <a:noFill/>
          <a:ln w="12700">
            <a:solidFill>
              <a:srgbClr val="1B4A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4572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0" b="1">
                <a:solidFill>
                  <a:srgbClr val="1D416B"/>
                </a:solidFill>
                <a:latin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30632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微软雅黑"/>
              </a:rPr>
              <a:t>背景与挑战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" y="3913632"/>
            <a:ext cx="594360" cy="44450"/>
          </a:xfrm>
          <a:prstGeom prst="rect">
            <a:avLst/>
          </a:prstGeom>
          <a:solidFill>
            <a:srgbClr val="E3A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" y="4114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8FC2EE"/>
                </a:solidFill>
                <a:latin typeface="微软雅黑"/>
              </a:rPr>
              <a:t>SQL 质量管控之痛，与一个 DBA 的破局思考</a:t>
            </a:r>
          </a:p>
        </p:txBody>
      </p:sp>
      <p:sp>
        <p:nvSpPr>
          <p:cNvPr id="10" name="Oval 9"/>
          <p:cNvSpPr/>
          <p:nvPr/>
        </p:nvSpPr>
        <p:spPr>
          <a:xfrm>
            <a:off x="630936" y="5577840"/>
            <a:ext cx="128016" cy="128016"/>
          </a:xfrm>
          <a:prstGeom prst="ellipse">
            <a:avLst/>
          </a:prstGeom>
          <a:solidFill>
            <a:srgbClr val="E3A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9456" y="57607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E3A93C"/>
                </a:solidFill>
                <a:latin typeface="微软雅黑"/>
              </a:rPr>
              <a:t>背景与挑战</a:t>
            </a:r>
          </a:p>
        </p:txBody>
      </p:sp>
      <p:sp>
        <p:nvSpPr>
          <p:cNvPr id="12" name="Oval 11"/>
          <p:cNvSpPr/>
          <p:nvPr/>
        </p:nvSpPr>
        <p:spPr>
          <a:xfrm>
            <a:off x="2112264" y="5577840"/>
            <a:ext cx="128016" cy="128016"/>
          </a:xfrm>
          <a:prstGeom prst="ellipse">
            <a:avLst/>
          </a:prstGeom>
          <a:solidFill>
            <a:srgbClr val="2A4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00784" y="57607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E7793"/>
                </a:solidFill>
                <a:latin typeface="微软雅黑"/>
              </a:rPr>
              <a:t>方法论</a:t>
            </a:r>
          </a:p>
        </p:txBody>
      </p:sp>
      <p:sp>
        <p:nvSpPr>
          <p:cNvPr id="14" name="Oval 13"/>
          <p:cNvSpPr/>
          <p:nvPr/>
        </p:nvSpPr>
        <p:spPr>
          <a:xfrm>
            <a:off x="3593592" y="5577840"/>
            <a:ext cx="128016" cy="128016"/>
          </a:xfrm>
          <a:prstGeom prst="ellipse">
            <a:avLst/>
          </a:prstGeom>
          <a:solidFill>
            <a:srgbClr val="2A4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82112" y="57607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E7793"/>
                </a:solidFill>
                <a:latin typeface="微软雅黑"/>
              </a:rPr>
              <a:t>实战历程</a:t>
            </a:r>
          </a:p>
        </p:txBody>
      </p:sp>
      <p:sp>
        <p:nvSpPr>
          <p:cNvPr id="16" name="Oval 15"/>
          <p:cNvSpPr/>
          <p:nvPr/>
        </p:nvSpPr>
        <p:spPr>
          <a:xfrm>
            <a:off x="5074920" y="5577840"/>
            <a:ext cx="128016" cy="128016"/>
          </a:xfrm>
          <a:prstGeom prst="ellipse">
            <a:avLst/>
          </a:prstGeom>
          <a:solidFill>
            <a:srgbClr val="2A4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57607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E7793"/>
                </a:solidFill>
                <a:latin typeface="微软雅黑"/>
              </a:rPr>
              <a:t>提示词工程</a:t>
            </a:r>
          </a:p>
        </p:txBody>
      </p:sp>
      <p:sp>
        <p:nvSpPr>
          <p:cNvPr id="18" name="Oval 17"/>
          <p:cNvSpPr/>
          <p:nvPr/>
        </p:nvSpPr>
        <p:spPr>
          <a:xfrm>
            <a:off x="6556248" y="5577840"/>
            <a:ext cx="128016" cy="128016"/>
          </a:xfrm>
          <a:prstGeom prst="ellipse">
            <a:avLst/>
          </a:prstGeom>
          <a:solidFill>
            <a:srgbClr val="2A4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44768" y="57607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E7793"/>
                </a:solidFill>
                <a:latin typeface="微软雅黑"/>
              </a:rPr>
              <a:t>成果与数据</a:t>
            </a:r>
          </a:p>
        </p:txBody>
      </p:sp>
      <p:sp>
        <p:nvSpPr>
          <p:cNvPr id="20" name="Oval 19"/>
          <p:cNvSpPr/>
          <p:nvPr/>
        </p:nvSpPr>
        <p:spPr>
          <a:xfrm>
            <a:off x="8037576" y="5577840"/>
            <a:ext cx="128016" cy="128016"/>
          </a:xfrm>
          <a:prstGeom prst="ellipse">
            <a:avLst/>
          </a:prstGeom>
          <a:solidFill>
            <a:srgbClr val="2A4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26096" y="57607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E7793"/>
                </a:solidFill>
                <a:latin typeface="微软雅黑"/>
              </a:rPr>
              <a:t>能力提升与推广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1057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B7BD3"/>
                </a:solidFill>
                <a:latin typeface="微软雅黑"/>
              </a:rPr>
              <a:t>01 · 背景与挑战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105783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2239"/>
                </a:solidFill>
                <a:latin typeface="微软雅黑"/>
              </a:rPr>
              <a:t>日常运维中的三大核心痛点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502920" cy="38100"/>
          </a:xfrm>
          <a:prstGeom prst="rect">
            <a:avLst/>
          </a:prstGeom>
          <a:solidFill>
            <a:srgbClr val="E3A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78C"/>
                </a:solidFill>
                <a:latin typeface="微软雅黑"/>
              </a:rPr>
              <a:t>AI赋能DBA创新实践 · TDSQL数据库SQL审核工具 v1.0.2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4778C"/>
                </a:solidFill>
                <a:latin typeface="微软雅黑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54480"/>
            <a:ext cx="3529584" cy="3291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24459" bIns="124459"/>
          <a:lstStyle/>
          <a:p>
            <a:pPr algn="l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</a:pPr>
            <a:r>
              <a:rPr sz="1750" b="1">
                <a:solidFill>
                  <a:srgbClr val="0E2239"/>
                </a:solidFill>
                <a:latin typeface="微软雅黑"/>
              </a:rPr>
              <a:t>SQL 质量管控缺失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  <a:spcAft>
                <a:spcPts val="0"/>
              </a:spcAft>
            </a:pPr>
            <a:r>
              <a:rPr sz="1250" b="0">
                <a:solidFill>
                  <a:srgbClr val="1C2B3A"/>
                </a:solidFill>
                <a:latin typeface="微软雅黑"/>
              </a:rPr>
              <a:t>开发提交的 SQL 未经审核直接上线，生产事故频发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554480"/>
            <a:ext cx="3529584" cy="38100"/>
          </a:xfrm>
          <a:prstGeom prst="rect">
            <a:avLst/>
          </a:prstGeom>
          <a:solidFill>
            <a:srgbClr val="CE5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86384" y="4133087"/>
            <a:ext cx="3090672" cy="475488"/>
          </a:xfrm>
          <a:prstGeom prst="roundRect">
            <a:avLst>
              <a:gd name="adj" fmla="val 50000"/>
            </a:avLst>
          </a:prstGeom>
          <a:solidFill>
            <a:srgbClr val="FB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E544E"/>
                </a:solidFill>
                <a:latin typeface="微软雅黑"/>
              </a:rPr>
              <a:t>影响：系统稳定性差 · 运维成本高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4548" y="1554480"/>
            <a:ext cx="3529584" cy="3291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24459" bIns="124459"/>
          <a:lstStyle/>
          <a:p>
            <a:pPr algn="l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</a:pPr>
            <a:r>
              <a:rPr sz="1750" b="1">
                <a:solidFill>
                  <a:srgbClr val="0E2239"/>
                </a:solidFill>
                <a:latin typeface="微软雅黑"/>
              </a:rPr>
              <a:t>Oracle 迁移适配难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  <a:spcAft>
                <a:spcPts val="0"/>
              </a:spcAft>
            </a:pPr>
            <a:r>
              <a:rPr sz="1250" b="0">
                <a:solidFill>
                  <a:srgbClr val="1C2B3A"/>
                </a:solidFill>
                <a:latin typeface="微软雅黑"/>
              </a:rPr>
              <a:t>业务系统 Oracle → TDSQL，42 类不兼容语法需逐一排查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4548" y="1554480"/>
            <a:ext cx="3529584" cy="38100"/>
          </a:xfrm>
          <a:prstGeom prst="rect">
            <a:avLst/>
          </a:prstGeom>
          <a:solidFill>
            <a:srgbClr val="E3A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04004" y="4133087"/>
            <a:ext cx="3090672" cy="475488"/>
          </a:xfrm>
          <a:prstGeom prst="roundRect">
            <a:avLst>
              <a:gd name="adj" fmla="val 50000"/>
            </a:avLst>
          </a:prstGeom>
          <a:solidFill>
            <a:srgbClr val="FBF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3A93C"/>
                </a:solidFill>
                <a:latin typeface="微软雅黑"/>
              </a:rPr>
              <a:t>影响：人工审查效率极低 · 遗漏风险大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02168" y="1554480"/>
            <a:ext cx="3529584" cy="3291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24459" bIns="124459"/>
          <a:lstStyle/>
          <a:p>
            <a:pPr algn="l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</a:pPr>
            <a:r>
              <a:rPr sz="1750" b="1">
                <a:solidFill>
                  <a:srgbClr val="0E2239"/>
                </a:solidFill>
                <a:latin typeface="微软雅黑"/>
              </a:rPr>
              <a:t>慢 SQL 治理被动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  <a:spcAft>
                <a:spcPts val="0"/>
              </a:spcAft>
            </a:pPr>
            <a:r>
              <a:rPr sz="1250" b="0">
                <a:solidFill>
                  <a:srgbClr val="1C2B3A"/>
                </a:solidFill>
                <a:latin typeface="微软雅黑"/>
              </a:rPr>
              <a:t>缺乏主动发现与优化建议能力，问题暴露后才能救火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2168" y="1554480"/>
            <a:ext cx="3529584" cy="38100"/>
          </a:xfrm>
          <a:prstGeom prst="rect">
            <a:avLst/>
          </a:prstGeom>
          <a:solidFill>
            <a:srgbClr val="2B7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21624" y="4133087"/>
            <a:ext cx="3090672" cy="475488"/>
          </a:xfrm>
          <a:prstGeom prst="roundRect">
            <a:avLst>
              <a:gd name="adj" fmla="val 50000"/>
            </a:avLst>
          </a:prstGeom>
          <a:solidFill>
            <a:srgbClr val="E4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B7BD3"/>
                </a:solidFill>
                <a:latin typeface="微软雅黑"/>
              </a:rPr>
              <a:t>影响：用户体验差 · 资源浪费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257800"/>
            <a:ext cx="11057839" cy="914400"/>
          </a:xfrm>
          <a:prstGeom prst="roundRect">
            <a:avLst>
              <a:gd name="adj" fmla="val 12000"/>
            </a:avLst>
          </a:prstGeom>
          <a:solidFill>
            <a:srgbClr val="E4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142240" bIns="14224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64778C"/>
                </a:solidFill>
                <a:latin typeface="微软雅黑"/>
              </a:rPr>
              <a:t>痛点的共同根源：</a:t>
            </a:r>
            <a:r>
              <a:rPr sz="1450" b="1">
                <a:solidFill>
                  <a:srgbClr val="0E2239"/>
                </a:solidFill>
                <a:latin typeface="微软雅黑"/>
              </a:rPr>
              <a:t>SQL 质量问题必须在上线前拦截，而拦截需要一套自动化、懂 TDSQL 的审核工具。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1057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B7BD3"/>
                </a:solidFill>
                <a:latin typeface="微软雅黑"/>
              </a:rPr>
              <a:t>01 · 背景与挑战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105783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2239"/>
                </a:solidFill>
                <a:latin typeface="微软雅黑"/>
              </a:rPr>
              <a:t>三条传统路径，条条走不通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502920" cy="38100"/>
          </a:xfrm>
          <a:prstGeom prst="rect">
            <a:avLst/>
          </a:prstGeom>
          <a:solidFill>
            <a:srgbClr val="E3A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78C"/>
                </a:solidFill>
                <a:latin typeface="微软雅黑"/>
              </a:rPr>
              <a:t>AI赋能DBA创新实践 · TDSQL数据库SQL审核工具 v1.0.2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4778C"/>
                </a:solidFill>
                <a:latin typeface="微软雅黑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72768"/>
            <a:ext cx="11057839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1248" y="1847088"/>
            <a:ext cx="384048" cy="384048"/>
          </a:xfrm>
          <a:prstGeom prst="ellipse">
            <a:avLst/>
          </a:prstGeom>
          <a:solidFill>
            <a:srgbClr val="CE5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8" y="1700784"/>
            <a:ext cx="23774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0E2239"/>
                </a:solidFill>
                <a:latin typeface="微软雅黑"/>
              </a:rPr>
              <a:t>采购商业产品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50208" y="1700784"/>
            <a:ext cx="7498079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C2B3A"/>
                </a:solidFill>
                <a:latin typeface="微软雅黑"/>
              </a:rPr>
              <a:t>年费数十万，定制化困难，与行内 TDSQL 环境适配差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88336"/>
            <a:ext cx="11057839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248" y="2962656"/>
            <a:ext cx="384048" cy="384048"/>
          </a:xfrm>
          <a:prstGeom prst="ellipse">
            <a:avLst/>
          </a:prstGeom>
          <a:solidFill>
            <a:srgbClr val="CE5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35608" y="2816352"/>
            <a:ext cx="23774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0E2239"/>
                </a:solidFill>
                <a:latin typeface="微软雅黑"/>
              </a:rPr>
              <a:t>外包开发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50208" y="2816352"/>
            <a:ext cx="7498079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C2B3A"/>
                </a:solidFill>
                <a:latin typeface="微软雅黑"/>
              </a:rPr>
              <a:t>沟通成本高、交付周期长，后续维护受制于人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803904"/>
            <a:ext cx="11057839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1248" y="4078224"/>
            <a:ext cx="384048" cy="384048"/>
          </a:xfrm>
          <a:prstGeom prst="ellipse">
            <a:avLst/>
          </a:prstGeom>
          <a:solidFill>
            <a:srgbClr val="CE5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35608" y="3931920"/>
            <a:ext cx="23774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0E2239"/>
                </a:solidFill>
                <a:latin typeface="微软雅黑"/>
              </a:rPr>
              <a:t>自行开发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50208" y="3931920"/>
            <a:ext cx="7498079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C2B3A"/>
                </a:solidFill>
                <a:latin typeface="微软雅黑"/>
              </a:rPr>
              <a:t>我是 DBA，数据库运维专家——但编程一窍不通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120640"/>
            <a:ext cx="11057839" cy="1078992"/>
          </a:xfrm>
          <a:prstGeom prst="roundRect">
            <a:avLst>
              <a:gd name="adj" fmla="val 10000"/>
            </a:avLst>
          </a:prstGeom>
          <a:solidFill>
            <a:srgbClr val="0E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0020" bIns="16002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3A93C"/>
                </a:solidFill>
                <a:latin typeface="微软雅黑"/>
              </a:rPr>
              <a:t>核 心 矛 盾</a:t>
            </a:r>
          </a:p>
          <a:p>
            <a:pPr algn="ctr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微软雅黑"/>
              </a:rPr>
              <a:t>最懂业务需求的人（DBA）不具备编程能力；有编程能力的人，不理解 DBA 的专业需求。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1057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B7BD3"/>
                </a:solidFill>
                <a:latin typeface="微软雅黑"/>
              </a:rPr>
              <a:t>01 · 背景与挑战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105783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2239"/>
                </a:solidFill>
                <a:latin typeface="微软雅黑"/>
              </a:rPr>
              <a:t>破局思路：一个大胆的假设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502920" cy="38100"/>
          </a:xfrm>
          <a:prstGeom prst="rect">
            <a:avLst/>
          </a:prstGeom>
          <a:solidFill>
            <a:srgbClr val="E3A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78C"/>
                </a:solidFill>
                <a:latin typeface="微软雅黑"/>
              </a:rPr>
              <a:t>AI赋能DBA创新实践 · TDSQL数据库SQL审核工具 v1.0.2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4778C"/>
                </a:solidFill>
                <a:latin typeface="微软雅黑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91640"/>
            <a:ext cx="3200400" cy="1371600"/>
          </a:xfrm>
          <a:prstGeom prst="roundRect">
            <a:avLst>
              <a:gd name="adj" fmla="val 10000"/>
            </a:avLst>
          </a:prstGeom>
          <a:solidFill>
            <a:srgbClr val="E4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88900" bIns="8890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B7BD3"/>
                </a:solidFill>
                <a:latin typeface="微软雅黑"/>
              </a:rPr>
              <a:t>DBA 的专家经验</a:t>
            </a:r>
          </a:p>
          <a:p>
            <a:pPr algn="ctr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</a:pPr>
            <a:r>
              <a:rPr sz="1100" b="0">
                <a:solidFill>
                  <a:srgbClr val="64778C"/>
                </a:solidFill>
                <a:latin typeface="微软雅黑"/>
              </a:rPr>
              <a:t>TDSQL 技术细节 · 运维规范 · 规则体系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77056" y="1965960"/>
            <a:ext cx="640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64778C"/>
                </a:solidFill>
                <a:latin typeface="微软雅黑"/>
              </a:rPr>
              <a:t>+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90288" y="1691640"/>
            <a:ext cx="3200400" cy="1371600"/>
          </a:xfrm>
          <a:prstGeom prst="roundRect">
            <a:avLst>
              <a:gd name="adj" fmla="val 10000"/>
            </a:avLst>
          </a:prstGeom>
          <a:solidFill>
            <a:srgbClr val="FBF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88900" bIns="8890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E3A93C"/>
                </a:solidFill>
                <a:latin typeface="微软雅黑"/>
              </a:rPr>
              <a:t>AI 的编程能力</a:t>
            </a:r>
          </a:p>
          <a:p>
            <a:pPr algn="ctr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</a:pPr>
            <a:r>
              <a:rPr sz="1100" b="0">
                <a:solidFill>
                  <a:srgbClr val="64778C"/>
                </a:solidFill>
                <a:latin typeface="微软雅黑"/>
              </a:rPr>
              <a:t>代码实现 · 快速迭代 · 多角色协同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0416" y="1965960"/>
            <a:ext cx="640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64778C"/>
                </a:solidFill>
                <a:latin typeface="微软雅黑"/>
              </a:rPr>
              <a:t>=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13648" y="1691640"/>
            <a:ext cx="3291840" cy="1371600"/>
          </a:xfrm>
          <a:prstGeom prst="roundRect">
            <a:avLst>
              <a:gd name="adj" fmla="val 10000"/>
            </a:avLst>
          </a:prstGeom>
          <a:solidFill>
            <a:srgbClr val="0E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88900" bIns="8890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E3A93C"/>
                </a:solidFill>
                <a:latin typeface="微软雅黑"/>
              </a:rPr>
              <a:t>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9000"/>
            <a:ext cx="11057839" cy="56692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1520" y="3538728"/>
            <a:ext cx="347472" cy="347472"/>
          </a:xfrm>
          <a:prstGeom prst="ellipse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52728" y="3483864"/>
            <a:ext cx="10058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C2B3A"/>
                </a:solidFill>
                <a:latin typeface="微软雅黑"/>
              </a:rPr>
              <a:t>我懂 TDSQL 的每一个技术细节和运维规范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160520"/>
            <a:ext cx="11057839" cy="56692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4270248"/>
            <a:ext cx="347472" cy="347472"/>
          </a:xfrm>
          <a:prstGeom prst="ellipse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52728" y="4215384"/>
            <a:ext cx="10058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C2B3A"/>
                </a:solidFill>
                <a:latin typeface="微软雅黑"/>
              </a:rPr>
              <a:t>我能设计出完整的审核规则体系和架构方案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892040"/>
            <a:ext cx="11057839" cy="56692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1520" y="5001768"/>
            <a:ext cx="347472" cy="347472"/>
          </a:xfrm>
          <a:prstGeom prst="ellipse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52728" y="4946904"/>
            <a:ext cx="10058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C2B3A"/>
                </a:solidFill>
                <a:latin typeface="微软雅黑"/>
              </a:rPr>
              <a:t>AI 工具可以把我的设计思想转化为可运行的代码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5623560"/>
            <a:ext cx="11057839" cy="685800"/>
          </a:xfrm>
          <a:prstGeom prst="roundRect">
            <a:avLst>
              <a:gd name="adj" fmla="val 12000"/>
            </a:avLst>
          </a:prstGeom>
          <a:solidFill>
            <a:srgbClr val="FBF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88900" bIns="8890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3A93C"/>
                </a:solidFill>
                <a:latin typeface="微软雅黑"/>
              </a:rPr>
              <a:t>大胆假设：</a:t>
            </a:r>
            <a:r>
              <a:rPr sz="1600" b="1">
                <a:solidFill>
                  <a:srgbClr val="0E2239"/>
                </a:solidFill>
                <a:latin typeface="微软雅黑"/>
              </a:rPr>
              <a:t>一个人 + AI 工具 = 一个完整的生产力团队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235440" y="-2377440"/>
            <a:ext cx="5852160" cy="5852160"/>
          </a:xfrm>
          <a:prstGeom prst="ellipse">
            <a:avLst/>
          </a:prstGeom>
          <a:solidFill>
            <a:srgbClr val="12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4023360" cy="4023360"/>
          </a:xfrm>
          <a:prstGeom prst="ellipse">
            <a:avLst/>
          </a:prstGeom>
          <a:noFill/>
          <a:ln w="15240">
            <a:solidFill>
              <a:srgbClr val="1B4A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07040" y="4480560"/>
            <a:ext cx="2926080" cy="2926080"/>
          </a:xfrm>
          <a:prstGeom prst="ellipse">
            <a:avLst/>
          </a:prstGeom>
          <a:noFill/>
          <a:ln w="12700">
            <a:solidFill>
              <a:srgbClr val="1B4A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4572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0" b="1">
                <a:solidFill>
                  <a:srgbClr val="1D416B"/>
                </a:solidFill>
                <a:latin typeface="微软雅黑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30632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微软雅黑"/>
              </a:rPr>
              <a:t>方法论：专家驱动 AI 协作模型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" y="3913632"/>
            <a:ext cx="594360" cy="44450"/>
          </a:xfrm>
          <a:prstGeom prst="rect">
            <a:avLst/>
          </a:prstGeom>
          <a:solidFill>
            <a:srgbClr val="E3A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" y="4114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8FC2EE"/>
                </a:solidFill>
                <a:latin typeface="微软雅黑"/>
              </a:rPr>
              <a:t>把 AI 当团队管理，而不是当工具使用</a:t>
            </a:r>
          </a:p>
        </p:txBody>
      </p:sp>
      <p:sp>
        <p:nvSpPr>
          <p:cNvPr id="10" name="Oval 9"/>
          <p:cNvSpPr/>
          <p:nvPr/>
        </p:nvSpPr>
        <p:spPr>
          <a:xfrm>
            <a:off x="630936" y="5577840"/>
            <a:ext cx="128016" cy="128016"/>
          </a:xfrm>
          <a:prstGeom prst="ellipse">
            <a:avLst/>
          </a:prstGeom>
          <a:solidFill>
            <a:srgbClr val="2A4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9456" y="57607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E7793"/>
                </a:solidFill>
                <a:latin typeface="微软雅黑"/>
              </a:rPr>
              <a:t>背景与挑战</a:t>
            </a:r>
          </a:p>
        </p:txBody>
      </p:sp>
      <p:sp>
        <p:nvSpPr>
          <p:cNvPr id="12" name="Oval 11"/>
          <p:cNvSpPr/>
          <p:nvPr/>
        </p:nvSpPr>
        <p:spPr>
          <a:xfrm>
            <a:off x="2112264" y="5577840"/>
            <a:ext cx="128016" cy="128016"/>
          </a:xfrm>
          <a:prstGeom prst="ellipse">
            <a:avLst/>
          </a:prstGeom>
          <a:solidFill>
            <a:srgbClr val="E3A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00784" y="57607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E3A93C"/>
                </a:solidFill>
                <a:latin typeface="微软雅黑"/>
              </a:rPr>
              <a:t>方法论</a:t>
            </a:r>
          </a:p>
        </p:txBody>
      </p:sp>
      <p:sp>
        <p:nvSpPr>
          <p:cNvPr id="14" name="Oval 13"/>
          <p:cNvSpPr/>
          <p:nvPr/>
        </p:nvSpPr>
        <p:spPr>
          <a:xfrm>
            <a:off x="3593592" y="5577840"/>
            <a:ext cx="128016" cy="128016"/>
          </a:xfrm>
          <a:prstGeom prst="ellipse">
            <a:avLst/>
          </a:prstGeom>
          <a:solidFill>
            <a:srgbClr val="2A4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82112" y="57607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E7793"/>
                </a:solidFill>
                <a:latin typeface="微软雅黑"/>
              </a:rPr>
              <a:t>实战历程</a:t>
            </a:r>
          </a:p>
        </p:txBody>
      </p:sp>
      <p:sp>
        <p:nvSpPr>
          <p:cNvPr id="16" name="Oval 15"/>
          <p:cNvSpPr/>
          <p:nvPr/>
        </p:nvSpPr>
        <p:spPr>
          <a:xfrm>
            <a:off x="5074920" y="5577840"/>
            <a:ext cx="128016" cy="128016"/>
          </a:xfrm>
          <a:prstGeom prst="ellipse">
            <a:avLst/>
          </a:prstGeom>
          <a:solidFill>
            <a:srgbClr val="2A4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57607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E7793"/>
                </a:solidFill>
                <a:latin typeface="微软雅黑"/>
              </a:rPr>
              <a:t>提示词工程</a:t>
            </a:r>
          </a:p>
        </p:txBody>
      </p:sp>
      <p:sp>
        <p:nvSpPr>
          <p:cNvPr id="18" name="Oval 17"/>
          <p:cNvSpPr/>
          <p:nvPr/>
        </p:nvSpPr>
        <p:spPr>
          <a:xfrm>
            <a:off x="6556248" y="5577840"/>
            <a:ext cx="128016" cy="128016"/>
          </a:xfrm>
          <a:prstGeom prst="ellipse">
            <a:avLst/>
          </a:prstGeom>
          <a:solidFill>
            <a:srgbClr val="2A4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44768" y="57607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E7793"/>
                </a:solidFill>
                <a:latin typeface="微软雅黑"/>
              </a:rPr>
              <a:t>成果与数据</a:t>
            </a:r>
          </a:p>
        </p:txBody>
      </p:sp>
      <p:sp>
        <p:nvSpPr>
          <p:cNvPr id="20" name="Oval 19"/>
          <p:cNvSpPr/>
          <p:nvPr/>
        </p:nvSpPr>
        <p:spPr>
          <a:xfrm>
            <a:off x="8037576" y="5577840"/>
            <a:ext cx="128016" cy="128016"/>
          </a:xfrm>
          <a:prstGeom prst="ellipse">
            <a:avLst/>
          </a:prstGeom>
          <a:solidFill>
            <a:srgbClr val="2A4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26096" y="57607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E7793"/>
                </a:solidFill>
                <a:latin typeface="微软雅黑"/>
              </a:rPr>
              <a:t>能力提升与推广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1057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B7BD3"/>
                </a:solidFill>
                <a:latin typeface="微软雅黑"/>
              </a:rPr>
              <a:t>02 · 方法论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105783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2239"/>
                </a:solidFill>
                <a:latin typeface="微软雅黑"/>
              </a:rPr>
              <a:t>核心理念：专家是「大脑」，AI 是「双手」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502920" cy="38100"/>
          </a:xfrm>
          <a:prstGeom prst="rect">
            <a:avLst/>
          </a:prstGeom>
          <a:solidFill>
            <a:srgbClr val="E3A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78C"/>
                </a:solidFill>
                <a:latin typeface="微软雅黑"/>
              </a:rPr>
              <a:t>AI赋能DBA创新实践 · TDSQL数据库SQL审核工具 v1.0.2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4778C"/>
                </a:solidFill>
                <a:latin typeface="微软雅黑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72768"/>
            <a:ext cx="539496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142240" bIns="142240"/>
          <a:lstStyle/>
          <a:p>
            <a:pPr algn="l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</a:pPr>
            <a:r>
              <a:rPr sz="2000" b="1">
                <a:solidFill>
                  <a:srgbClr val="2B7BD3"/>
                </a:solidFill>
                <a:latin typeface="微软雅黑"/>
              </a:rPr>
              <a:t>专家 = 大脑</a:t>
            </a:r>
          </a:p>
          <a:p>
            <a:pPr algn="l">
              <a:lnSpc>
                <a:spcPct val="130000"/>
              </a:lnSpc>
              <a:spcBef>
                <a:spcPts val="1400"/>
              </a:spcBef>
              <a:spcAft>
                <a:spcPts val="0"/>
              </a:spcAft>
            </a:pPr>
            <a:r>
              <a:rPr sz="1350" b="0">
                <a:solidFill>
                  <a:srgbClr val="1C2B3A"/>
                </a:solidFill>
                <a:latin typeface="微软雅黑"/>
              </a:rPr>
              <a:t>●  架构设计能力 —— 定方向、定边界、定标准</a:t>
            </a:r>
          </a:p>
          <a:p>
            <a:pPr algn="l">
              <a:lnSpc>
                <a:spcPct val="130000"/>
              </a:lnSpc>
              <a:spcBef>
                <a:spcPts val="1400"/>
              </a:spcBef>
              <a:spcAft>
                <a:spcPts val="0"/>
              </a:spcAft>
            </a:pPr>
            <a:r>
              <a:rPr sz="1350" b="0">
                <a:solidFill>
                  <a:srgbClr val="1C2B3A"/>
                </a:solidFill>
                <a:latin typeface="微软雅黑"/>
              </a:rPr>
              <a:t>●  业务理解深度 —— 懂 TDSQL 的每一个细节</a:t>
            </a:r>
          </a:p>
          <a:p>
            <a:pPr algn="l">
              <a:lnSpc>
                <a:spcPct val="130000"/>
              </a:lnSpc>
              <a:spcBef>
                <a:spcPts val="1400"/>
              </a:spcBef>
              <a:spcAft>
                <a:spcPts val="0"/>
              </a:spcAft>
            </a:pPr>
            <a:r>
              <a:rPr sz="1350" b="0">
                <a:solidFill>
                  <a:srgbClr val="1C2B3A"/>
                </a:solidFill>
                <a:latin typeface="微软雅黑"/>
              </a:rPr>
              <a:t>●  质量判断标准 —— 什么是「生产级可用」</a:t>
            </a:r>
          </a:p>
          <a:p>
            <a:pPr algn="l">
              <a:lnSpc>
                <a:spcPct val="112000"/>
              </a:lnSpc>
              <a:spcBef>
                <a:spcPts val="1800"/>
              </a:spcBef>
              <a:spcAft>
                <a:spcPts val="0"/>
              </a:spcAft>
            </a:pPr>
            <a:r>
              <a:rPr sz="1300" b="1">
                <a:solidFill>
                  <a:srgbClr val="64778C"/>
                </a:solidFill>
                <a:latin typeface="微软雅黑"/>
              </a:rPr>
              <a:t>提供方向和质量标准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572768"/>
            <a:ext cx="5394960" cy="44450"/>
          </a:xfrm>
          <a:prstGeom prst="rect">
            <a:avLst/>
          </a:prstGeom>
          <a:solidFill>
            <a:srgbClr val="2B7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27064" y="1572768"/>
            <a:ext cx="539496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142240" bIns="142240"/>
          <a:lstStyle/>
          <a:p>
            <a:pPr algn="l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</a:pPr>
            <a:r>
              <a:rPr sz="2000" b="1">
                <a:solidFill>
                  <a:srgbClr val="E3A93C"/>
                </a:solidFill>
                <a:latin typeface="微软雅黑"/>
              </a:rPr>
              <a:t>AI = 双手</a:t>
            </a:r>
          </a:p>
          <a:p>
            <a:pPr algn="l">
              <a:lnSpc>
                <a:spcPct val="130000"/>
              </a:lnSpc>
              <a:spcBef>
                <a:spcPts val="1400"/>
              </a:spcBef>
              <a:spcAft>
                <a:spcPts val="0"/>
              </a:spcAft>
            </a:pPr>
            <a:r>
              <a:rPr sz="1350" b="0">
                <a:solidFill>
                  <a:srgbClr val="1C2B3A"/>
                </a:solidFill>
                <a:latin typeface="微软雅黑"/>
              </a:rPr>
              <a:t>●  代码实现能力 —— 万行级工程的落地执行</a:t>
            </a:r>
          </a:p>
          <a:p>
            <a:pPr algn="l">
              <a:lnSpc>
                <a:spcPct val="130000"/>
              </a:lnSpc>
              <a:spcBef>
                <a:spcPts val="1400"/>
              </a:spcBef>
              <a:spcAft>
                <a:spcPts val="0"/>
              </a:spcAft>
            </a:pPr>
            <a:r>
              <a:rPr sz="1350" b="0">
                <a:solidFill>
                  <a:srgbClr val="1C2B3A"/>
                </a:solidFill>
                <a:latin typeface="微软雅黑"/>
              </a:rPr>
              <a:t>●  快速迭代能力 —— 小时级完成一轮整改</a:t>
            </a:r>
          </a:p>
          <a:p>
            <a:pPr algn="l">
              <a:lnSpc>
                <a:spcPct val="130000"/>
              </a:lnSpc>
              <a:spcBef>
                <a:spcPts val="1400"/>
              </a:spcBef>
              <a:spcAft>
                <a:spcPts val="0"/>
              </a:spcAft>
            </a:pPr>
            <a:r>
              <a:rPr sz="1350" b="0">
                <a:solidFill>
                  <a:srgbClr val="1C2B3A"/>
                </a:solidFill>
                <a:latin typeface="微软雅黑"/>
              </a:rPr>
              <a:t>●  多角色协同能力 —— 设计 / 编码 / 测试并行</a:t>
            </a:r>
          </a:p>
          <a:p>
            <a:pPr algn="l">
              <a:lnSpc>
                <a:spcPct val="112000"/>
              </a:lnSpc>
              <a:spcBef>
                <a:spcPts val="1800"/>
              </a:spcBef>
              <a:spcAft>
                <a:spcPts val="0"/>
              </a:spcAft>
            </a:pPr>
            <a:r>
              <a:rPr sz="1300" b="1">
                <a:solidFill>
                  <a:srgbClr val="64778C"/>
                </a:solidFill>
                <a:latin typeface="微软雅黑"/>
              </a:rPr>
              <a:t>提供执行力和生产效率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27064" y="1572768"/>
            <a:ext cx="5394960" cy="44450"/>
          </a:xfrm>
          <a:prstGeom prst="rect">
            <a:avLst/>
          </a:prstGeom>
          <a:solidFill>
            <a:srgbClr val="E3A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66928" y="5376672"/>
            <a:ext cx="11057839" cy="868680"/>
          </a:xfrm>
          <a:prstGeom prst="roundRect">
            <a:avLst>
              <a:gd name="adj" fmla="val 10000"/>
            </a:avLst>
          </a:prstGeom>
          <a:solidFill>
            <a:srgbClr val="0E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88900" bIns="8890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微软雅黑"/>
              </a:rPr>
              <a:t>关键洞察：我不是在和 AI「对话」，我是在管理一个 AI 团队 —— 像 Tech Lead 管理开发团队一样。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1057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B7BD3"/>
                </a:solidFill>
                <a:latin typeface="微软雅黑"/>
              </a:rPr>
              <a:t>02 · 方法论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105783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2239"/>
                </a:solidFill>
                <a:latin typeface="微软雅黑"/>
              </a:rPr>
              <a:t>三角色 AI 协作架构：各司其职、相互制衡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502920" cy="38100"/>
          </a:xfrm>
          <a:prstGeom prst="rect">
            <a:avLst/>
          </a:prstGeom>
          <a:solidFill>
            <a:srgbClr val="E3A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78C"/>
                </a:solidFill>
                <a:latin typeface="微软雅黑"/>
              </a:rPr>
              <a:t>AI赋能DBA创新实践 · TDSQL数据库SQL审核工具 v1.0.2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4778C"/>
                </a:solidFill>
                <a:latin typeface="微软雅黑"/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41648" y="1481328"/>
            <a:ext cx="4114800" cy="987552"/>
          </a:xfrm>
          <a:prstGeom prst="roundRect">
            <a:avLst>
              <a:gd name="adj" fmla="val 10000"/>
            </a:avLst>
          </a:prstGeom>
          <a:solidFill>
            <a:srgbClr val="0E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88900" bIns="8890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E3A93C"/>
                </a:solidFill>
                <a:latin typeface="微软雅黑"/>
              </a:rPr>
              <a:t>我（DBA · Tech Lead）</a:t>
            </a:r>
          </a:p>
          <a:p>
            <a:pPr algn="ctr">
              <a:lnSpc>
                <a:spcPct val="112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>
                <a:solidFill>
                  <a:srgbClr val="8FC2EE"/>
                </a:solidFill>
                <a:latin typeface="微软雅黑"/>
              </a:rPr>
              <a:t>决策 · 设计思想 · 质量裁决 · 验收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2331720.0" y="2468880"/>
            <a:ext cx="3767328.0" cy="411480"/>
          </a:xfrm>
          <a:prstGeom prst="bentConnector3">
            <a:avLst/>
          </a:prstGeom>
          <a:ln w="19050">
            <a:solidFill>
              <a:srgbClr val="DCE5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66928" y="2880360"/>
            <a:ext cx="3529584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24459" bIns="124459"/>
          <a:lstStyle/>
          <a:p>
            <a:pPr algn="ctr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</a:pPr>
            <a:r>
              <a:rPr sz="1700" b="1">
                <a:solidFill>
                  <a:srgbClr val="0E2239"/>
                </a:solidFill>
                <a:latin typeface="微软雅黑"/>
              </a:rPr>
              <a:t>设计智能体</a:t>
            </a:r>
          </a:p>
          <a:p>
            <a:pPr algn="ctr">
              <a:lnSpc>
                <a:spcPct val="112000"/>
              </a:lnSpc>
              <a:spcBef>
                <a:spcPts val="400"/>
              </a:spcBef>
              <a:spcAft>
                <a:spcPts val="0"/>
              </a:spcAft>
            </a:pPr>
            <a:r>
              <a:rPr sz="1200" b="1">
                <a:solidFill>
                  <a:srgbClr val="2B7BD3"/>
                </a:solidFill>
                <a:latin typeface="微软雅黑"/>
              </a:rPr>
              <a:t>我的「设计参谋」</a:t>
            </a:r>
          </a:p>
          <a:p>
            <a:pPr algn="ctr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64778C"/>
                </a:solidFill>
                <a:latin typeface="微软雅黑"/>
              </a:rPr>
              <a:t>需求分析 · 架构设计</a:t>
            </a:r>
          </a:p>
          <a:p>
            <a:pPr algn="ctr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64778C"/>
                </a:solidFill>
                <a:latin typeface="微软雅黑"/>
              </a:rPr>
              <a:t>设计说明书 · 质检验收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2880360"/>
            <a:ext cx="3529584" cy="38100"/>
          </a:xfrm>
          <a:prstGeom prst="rect">
            <a:avLst/>
          </a:prstGeom>
          <a:solidFill>
            <a:srgbClr val="2B7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H="1" flipV="1">
            <a:off x="6099048" y="2468880"/>
            <a:ext cx="50292.0" cy="411480"/>
          </a:xfrm>
          <a:prstGeom prst="bentConnector3">
            <a:avLst/>
          </a:prstGeom>
          <a:ln w="19050">
            <a:solidFill>
              <a:srgbClr val="DCE5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384548" y="2880360"/>
            <a:ext cx="3529584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24459" bIns="124459"/>
          <a:lstStyle/>
          <a:p>
            <a:pPr algn="ctr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</a:pPr>
            <a:r>
              <a:rPr sz="1700" b="1">
                <a:solidFill>
                  <a:srgbClr val="0E2239"/>
                </a:solidFill>
                <a:latin typeface="微软雅黑"/>
              </a:rPr>
              <a:t>编码智能体</a:t>
            </a:r>
          </a:p>
          <a:p>
            <a:pPr algn="ctr">
              <a:lnSpc>
                <a:spcPct val="112000"/>
              </a:lnSpc>
              <a:spcBef>
                <a:spcPts val="400"/>
              </a:spcBef>
              <a:spcAft>
                <a:spcPts val="0"/>
              </a:spcAft>
            </a:pPr>
            <a:r>
              <a:rPr sz="1200" b="1">
                <a:solidFill>
                  <a:srgbClr val="E3A93C"/>
                </a:solidFill>
                <a:latin typeface="微软雅黑"/>
              </a:rPr>
              <a:t>我的「程序员」</a:t>
            </a:r>
          </a:p>
          <a:p>
            <a:pPr algn="ctr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64778C"/>
                </a:solidFill>
                <a:latin typeface="微软雅黑"/>
              </a:rPr>
              <a:t>代码实现 · 缺陷修复</a:t>
            </a:r>
          </a:p>
          <a:p>
            <a:pPr algn="ctr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64778C"/>
                </a:solidFill>
                <a:latin typeface="微软雅黑"/>
              </a:rPr>
              <a:t>性能优化 · 部署脚本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4548" y="2880360"/>
            <a:ext cx="3529584" cy="38100"/>
          </a:xfrm>
          <a:prstGeom prst="rect">
            <a:avLst/>
          </a:prstGeom>
          <a:solidFill>
            <a:srgbClr val="E3A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 flipH="1" flipV="1">
            <a:off x="6099048" y="2468880"/>
            <a:ext cx="3867912.0" cy="411480"/>
          </a:xfrm>
          <a:prstGeom prst="bentConnector3">
            <a:avLst/>
          </a:prstGeom>
          <a:ln w="19050">
            <a:solidFill>
              <a:srgbClr val="DCE5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202168" y="2880360"/>
            <a:ext cx="3529584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24459" bIns="124459"/>
          <a:lstStyle/>
          <a:p>
            <a:pPr algn="ctr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</a:pPr>
            <a:r>
              <a:rPr sz="1700" b="1">
                <a:solidFill>
                  <a:srgbClr val="0E2239"/>
                </a:solidFill>
                <a:latin typeface="微软雅黑"/>
              </a:rPr>
              <a:t>测试智能体</a:t>
            </a:r>
          </a:p>
          <a:p>
            <a:pPr algn="ctr">
              <a:lnSpc>
                <a:spcPct val="112000"/>
              </a:lnSpc>
              <a:spcBef>
                <a:spcPts val="400"/>
              </a:spcBef>
              <a:spcAft>
                <a:spcPts val="0"/>
              </a:spcAft>
            </a:pPr>
            <a:r>
              <a:rPr sz="1200" b="1">
                <a:solidFill>
                  <a:srgbClr val="2E9E6B"/>
                </a:solidFill>
                <a:latin typeface="微软雅黑"/>
              </a:rPr>
              <a:t>我的「QA 工程师」</a:t>
            </a:r>
          </a:p>
          <a:p>
            <a:pPr algn="ctr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64778C"/>
                </a:solidFill>
                <a:latin typeface="微软雅黑"/>
              </a:rPr>
              <a:t>SIT/UAT 测试 · 回归</a:t>
            </a:r>
          </a:p>
          <a:p>
            <a:pPr algn="ctr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64778C"/>
                </a:solidFill>
                <a:latin typeface="微软雅黑"/>
              </a:rPr>
              <a:t>缺陷发现 · 复测准出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2168" y="2880360"/>
            <a:ext cx="3529584" cy="38100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66928" y="5321808"/>
            <a:ext cx="11057839" cy="914400"/>
          </a:xfrm>
          <a:prstGeom prst="roundRect">
            <a:avLst>
              <a:gd name="adj" fmla="val 10000"/>
            </a:avLst>
          </a:prstGeom>
          <a:solidFill>
            <a:srgbClr val="E4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88900" bIns="8890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2B7BD3"/>
                </a:solidFill>
                <a:latin typeface="微软雅黑"/>
              </a:rPr>
              <a:t>为什么要三个角色？ </a:t>
            </a:r>
            <a:r>
              <a:rPr sz="1350" b="0">
                <a:solidFill>
                  <a:srgbClr val="0E2239"/>
                </a:solidFill>
                <a:latin typeface="微软雅黑"/>
              </a:rPr>
              <a:t>单一 AI 既当运动员又当裁判必然失控。设计出标准、编码去实现、测试来揭短，我做最终裁决 —— 制衡产生质量。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1057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B7BD3"/>
                </a:solidFill>
                <a:latin typeface="微软雅黑"/>
              </a:rPr>
              <a:t>02 · 方法论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105783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2239"/>
                </a:solidFill>
                <a:latin typeface="微软雅黑"/>
              </a:rPr>
              <a:t>五步交互方法论：数十轮迭代沉淀的固定打法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502920" cy="38100"/>
          </a:xfrm>
          <a:prstGeom prst="rect">
            <a:avLst/>
          </a:prstGeom>
          <a:solidFill>
            <a:srgbClr val="E3A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78C"/>
                </a:solidFill>
                <a:latin typeface="微软雅黑"/>
              </a:rPr>
              <a:t>AI赋能DBA创新实践 · TDSQL数据库SQL审核工具 v1.0.2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4778C"/>
                </a:solidFill>
                <a:latin typeface="微软雅黑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874519"/>
            <a:ext cx="2084831" cy="2286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1120" bIns="7112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00" b="0">
                <a:solidFill>
                  <a:srgbClr val="64778C"/>
                </a:solidFill>
                <a:latin typeface="微软雅黑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874519"/>
            <a:ext cx="2084831" cy="38100"/>
          </a:xfrm>
          <a:prstGeom prst="rect">
            <a:avLst/>
          </a:prstGeom>
          <a:solidFill>
            <a:srgbClr val="2B7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17319" y="2130552"/>
            <a:ext cx="384048" cy="384048"/>
          </a:xfrm>
          <a:prstGeom prst="ellipse">
            <a:avLst/>
          </a:prstGeom>
          <a:solidFill>
            <a:srgbClr val="2B7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697480"/>
            <a:ext cx="208483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E2239"/>
                </a:solidFill>
                <a:latin typeface="微软雅黑"/>
              </a:rPr>
              <a:t>专家定义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3200400"/>
            <a:ext cx="186537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64778C"/>
                </a:solidFill>
                <a:latin typeface="微软雅黑"/>
              </a:rPr>
              <a:t>我输出设计思想</a:t>
            </a:r>
          </a:p>
          <a:p>
            <a:pPr algn="ctr">
              <a:lnSpc>
                <a:spcPct val="112000"/>
              </a:lnSpc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64778C"/>
                </a:solidFill>
                <a:latin typeface="微软雅黑"/>
              </a:rPr>
              <a:t>与业务需求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96895" y="26974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2B7BD3"/>
                </a:solidFill>
                <a:latin typeface="微软雅黑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07791" y="1874519"/>
            <a:ext cx="2084831" cy="2286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1120" bIns="7112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00" b="0">
                <a:solidFill>
                  <a:srgbClr val="64778C"/>
                </a:solidFill>
                <a:latin typeface="微软雅黑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2907791" y="1874519"/>
            <a:ext cx="2084831" cy="38100"/>
          </a:xfrm>
          <a:prstGeom prst="rect">
            <a:avLst/>
          </a:prstGeom>
          <a:solidFill>
            <a:srgbClr val="2B7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58182" y="2130552"/>
            <a:ext cx="384048" cy="384048"/>
          </a:xfrm>
          <a:prstGeom prst="ellipse">
            <a:avLst/>
          </a:prstGeom>
          <a:solidFill>
            <a:srgbClr val="2B7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07791" y="2697480"/>
            <a:ext cx="208483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E2239"/>
                </a:solidFill>
                <a:latin typeface="微软雅黑"/>
              </a:rPr>
              <a:t>AI 设计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19" y="3200400"/>
            <a:ext cx="186537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64778C"/>
                </a:solidFill>
                <a:latin typeface="微软雅黑"/>
              </a:rPr>
              <a:t>设计智能体产出</a:t>
            </a:r>
          </a:p>
          <a:p>
            <a:pPr algn="ctr">
              <a:lnSpc>
                <a:spcPct val="112000"/>
              </a:lnSpc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64778C"/>
                </a:solidFill>
                <a:latin typeface="微软雅黑"/>
              </a:rPr>
              <a:t>详细设计说明书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58" y="26974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2B7BD3"/>
                </a:solidFill>
                <a:latin typeface="微软雅黑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248654" y="1874519"/>
            <a:ext cx="2084831" cy="2286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1120" bIns="7112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00" b="0">
                <a:solidFill>
                  <a:srgbClr val="64778C"/>
                </a:solidFill>
                <a:latin typeface="微软雅黑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5248654" y="1874519"/>
            <a:ext cx="2084831" cy="38100"/>
          </a:xfrm>
          <a:prstGeom prst="rect">
            <a:avLst/>
          </a:prstGeom>
          <a:solidFill>
            <a:srgbClr val="2B7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099045" y="2130552"/>
            <a:ext cx="384048" cy="384048"/>
          </a:xfrm>
          <a:prstGeom prst="ellipse">
            <a:avLst/>
          </a:prstGeom>
          <a:solidFill>
            <a:srgbClr val="2B7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48654" y="2697480"/>
            <a:ext cx="208483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E2239"/>
                </a:solidFill>
                <a:latin typeface="微软雅黑"/>
              </a:rPr>
              <a:t>AI 实现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58382" y="3200400"/>
            <a:ext cx="186537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64778C"/>
                </a:solidFill>
                <a:latin typeface="微软雅黑"/>
              </a:rPr>
              <a:t>编码智能体严格</a:t>
            </a:r>
          </a:p>
          <a:p>
            <a:pPr algn="ctr">
              <a:lnSpc>
                <a:spcPct val="112000"/>
              </a:lnSpc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64778C"/>
                </a:solidFill>
                <a:latin typeface="微软雅黑"/>
              </a:rPr>
              <a:t>按说明书编码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78621" y="26974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2B7BD3"/>
                </a:solidFill>
                <a:latin typeface="微软雅黑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89517" y="1874519"/>
            <a:ext cx="2084831" cy="2286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1120" bIns="7112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00" b="0">
                <a:solidFill>
                  <a:srgbClr val="64778C"/>
                </a:solidFill>
                <a:latin typeface="微软雅黑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7589517" y="1874519"/>
            <a:ext cx="2084831" cy="38100"/>
          </a:xfrm>
          <a:prstGeom prst="rect">
            <a:avLst/>
          </a:prstGeom>
          <a:solidFill>
            <a:srgbClr val="2B7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439908" y="2130552"/>
            <a:ext cx="384048" cy="384048"/>
          </a:xfrm>
          <a:prstGeom prst="ellipse">
            <a:avLst/>
          </a:prstGeom>
          <a:solidFill>
            <a:srgbClr val="2B7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17" y="2697480"/>
            <a:ext cx="208483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E2239"/>
                </a:solidFill>
                <a:latin typeface="微软雅黑"/>
              </a:rPr>
              <a:t>AI 测试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99245" y="3200400"/>
            <a:ext cx="186537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64778C"/>
                </a:solidFill>
                <a:latin typeface="微软雅黑"/>
              </a:rPr>
              <a:t>测试智能体独立</a:t>
            </a:r>
          </a:p>
          <a:p>
            <a:pPr algn="ctr">
              <a:lnSpc>
                <a:spcPct val="112000"/>
              </a:lnSpc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64778C"/>
                </a:solidFill>
                <a:latin typeface="微软雅黑"/>
              </a:rPr>
              <a:t>验证、揭示缺陷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19484" y="26974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2B7BD3"/>
                </a:solidFill>
                <a:latin typeface="微软雅黑"/>
              </a:rP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930380" y="1874519"/>
            <a:ext cx="2084831" cy="2286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1120" bIns="7112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00" b="0">
                <a:solidFill>
                  <a:srgbClr val="64778C"/>
                </a:solidFill>
                <a:latin typeface="微软雅黑"/>
              </a:rPr>
              <a:t/>
            </a:r>
          </a:p>
        </p:txBody>
      </p:sp>
      <p:sp>
        <p:nvSpPr>
          <p:cNvPr id="33" name="Rectangle 32"/>
          <p:cNvSpPr/>
          <p:nvPr/>
        </p:nvSpPr>
        <p:spPr>
          <a:xfrm>
            <a:off x="9930380" y="1874519"/>
            <a:ext cx="2084831" cy="38100"/>
          </a:xfrm>
          <a:prstGeom prst="rect">
            <a:avLst/>
          </a:prstGeom>
          <a:solidFill>
            <a:srgbClr val="E3A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780771" y="2130552"/>
            <a:ext cx="384048" cy="384048"/>
          </a:xfrm>
          <a:prstGeom prst="ellipse">
            <a:avLst/>
          </a:prstGeom>
          <a:solidFill>
            <a:srgbClr val="E3A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30380" y="2697480"/>
            <a:ext cx="208483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E2239"/>
                </a:solidFill>
                <a:latin typeface="微软雅黑"/>
              </a:rPr>
              <a:t>闭环修复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40108" y="3200400"/>
            <a:ext cx="186537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64778C"/>
                </a:solidFill>
                <a:latin typeface="微软雅黑"/>
              </a:rPr>
              <a:t>我审报告做裁决</a:t>
            </a:r>
          </a:p>
          <a:p>
            <a:pPr algn="ctr">
              <a:lnSpc>
                <a:spcPct val="112000"/>
              </a:lnSpc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64778C"/>
                </a:solidFill>
                <a:latin typeface="微软雅黑"/>
              </a:rPr>
              <a:t>指挥修复再复验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6928" y="4572000"/>
            <a:ext cx="11057839" cy="566928"/>
          </a:xfrm>
          <a:prstGeom prst="roundRect">
            <a:avLst>
              <a:gd name="adj" fmla="val 30000"/>
            </a:avLst>
          </a:prstGeom>
          <a:solidFill>
            <a:srgbClr val="FBF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88900" bIns="8890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3A93C"/>
                </a:solidFill>
                <a:latin typeface="微软雅黑"/>
              </a:rPr>
              <a:t>⟲  循环迭代，直到质检通过准出 —— 本项目最多的一个模块循环了 4 轮，最终 0 缺陷上线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5440680"/>
            <a:ext cx="110578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</a:pPr>
            <a:r>
              <a:rPr sz="1350" b="1">
                <a:solidFill>
                  <a:srgbClr val="0E2239"/>
                </a:solidFill>
                <a:latin typeface="微软雅黑"/>
              </a:rPr>
              <a:t>这套流程看似「慢」，实际是最快的路径：</a:t>
            </a:r>
            <a:r>
              <a:rPr sz="1350" b="0">
                <a:solidFill>
                  <a:srgbClr val="64778C"/>
                </a:solidFill>
                <a:latin typeface="微软雅黑"/>
              </a:rPr>
              <a:t>设计先行避免了方向性返工，独立测试把缺陷拦在上线前。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1057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B7BD3"/>
                </a:solidFill>
                <a:latin typeface="微软雅黑"/>
              </a:rPr>
              <a:t>02 · 方法论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105783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2239"/>
                </a:solidFill>
                <a:latin typeface="微软雅黑"/>
              </a:rPr>
              <a:t>质量的秘密：制衡，而不是信任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502920" cy="38100"/>
          </a:xfrm>
          <a:prstGeom prst="rect">
            <a:avLst/>
          </a:prstGeom>
          <a:solidFill>
            <a:srgbClr val="E3A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78C"/>
                </a:solidFill>
                <a:latin typeface="微软雅黑"/>
              </a:rPr>
              <a:t>AI赋能DBA创新实践 · TDSQL数据库SQL审核工具 v1.0.2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4778C"/>
                </a:solidFill>
                <a:latin typeface="微软雅黑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691640"/>
            <a:ext cx="3017520" cy="15544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6679" bIns="106679"/>
          <a:lstStyle/>
          <a:p>
            <a:pPr algn="ctr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</a:pPr>
            <a:r>
              <a:rPr sz="1600" b="1">
                <a:solidFill>
                  <a:srgbClr val="0E2239"/>
                </a:solidFill>
                <a:latin typeface="微软雅黑"/>
              </a:rPr>
              <a:t>设计智能体</a:t>
            </a:r>
          </a:p>
          <a:p>
            <a:pPr algn="ctr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</a:pPr>
            <a:r>
              <a:rPr sz="1150" b="0">
                <a:solidFill>
                  <a:srgbClr val="64778C"/>
                </a:solidFill>
                <a:latin typeface="微软雅黑"/>
              </a:rPr>
              <a:t>产出设计说明书</a:t>
            </a:r>
          </a:p>
          <a:p>
            <a:pPr algn="ctr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</a:pPr>
            <a:r>
              <a:rPr sz="1150" b="0">
                <a:solidFill>
                  <a:srgbClr val="64778C"/>
                </a:solidFill>
                <a:latin typeface="微软雅黑"/>
              </a:rPr>
              <a:t>+ 质检验收报告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1691640"/>
            <a:ext cx="3017520" cy="38100"/>
          </a:xfrm>
          <a:prstGeom prst="rect">
            <a:avLst/>
          </a:prstGeom>
          <a:solidFill>
            <a:srgbClr val="2B7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94760" y="21488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64778C"/>
                </a:solidFill>
                <a:latin typeface="微软雅黑"/>
              </a:rPr>
              <a:t>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70248" y="1691640"/>
            <a:ext cx="3017520" cy="15544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6679" bIns="106679"/>
          <a:lstStyle/>
          <a:p>
            <a:pPr algn="ctr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</a:pPr>
            <a:r>
              <a:rPr sz="1600" b="1">
                <a:solidFill>
                  <a:srgbClr val="0E2239"/>
                </a:solidFill>
                <a:latin typeface="微软雅黑"/>
              </a:rPr>
              <a:t>编码智能体</a:t>
            </a:r>
          </a:p>
          <a:p>
            <a:pPr algn="ctr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</a:pPr>
            <a:r>
              <a:rPr sz="1150" b="0">
                <a:solidFill>
                  <a:srgbClr val="64778C"/>
                </a:solidFill>
                <a:latin typeface="微软雅黑"/>
              </a:rPr>
              <a:t>按说明书实现</a:t>
            </a:r>
          </a:p>
          <a:p>
            <a:pPr algn="ctr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</a:pPr>
            <a:r>
              <a:rPr sz="1150" b="0">
                <a:solidFill>
                  <a:srgbClr val="64778C"/>
                </a:solidFill>
                <a:latin typeface="微软雅黑"/>
              </a:rPr>
              <a:t>按整改单修复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70248" y="1691640"/>
            <a:ext cx="3017520" cy="38100"/>
          </a:xfrm>
          <a:prstGeom prst="rect">
            <a:avLst/>
          </a:prstGeom>
          <a:solidFill>
            <a:srgbClr val="E3A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0" y="21488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64778C"/>
                </a:solidFill>
                <a:latin typeface="微软雅黑"/>
              </a:rPr>
              <a:t>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90688" y="1691640"/>
            <a:ext cx="3017520" cy="15544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6679" bIns="106679"/>
          <a:lstStyle/>
          <a:p>
            <a:pPr algn="ctr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</a:pPr>
            <a:r>
              <a:rPr sz="1600" b="1">
                <a:solidFill>
                  <a:srgbClr val="0E2239"/>
                </a:solidFill>
                <a:latin typeface="微软雅黑"/>
              </a:rPr>
              <a:t>测试智能体</a:t>
            </a:r>
          </a:p>
          <a:p>
            <a:pPr algn="ctr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</a:pPr>
            <a:r>
              <a:rPr sz="1150" b="0">
                <a:solidFill>
                  <a:srgbClr val="64778C"/>
                </a:solidFill>
                <a:latin typeface="微软雅黑"/>
              </a:rPr>
              <a:t>独立执行用例</a:t>
            </a:r>
          </a:p>
          <a:p>
            <a:pPr algn="ctr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</a:pPr>
            <a:r>
              <a:rPr sz="1150" b="0">
                <a:solidFill>
                  <a:srgbClr val="64778C"/>
                </a:solidFill>
                <a:latin typeface="微软雅黑"/>
              </a:rPr>
              <a:t>出具测试报告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90688" y="1691640"/>
            <a:ext cx="3017520" cy="38100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041648" y="3657600"/>
            <a:ext cx="4114800" cy="960120"/>
          </a:xfrm>
          <a:prstGeom prst="roundRect">
            <a:avLst>
              <a:gd name="adj" fmla="val 10000"/>
            </a:avLst>
          </a:prstGeom>
          <a:solidFill>
            <a:srgbClr val="0E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88900" bIns="8890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3A93C"/>
                </a:solidFill>
                <a:latin typeface="微软雅黑"/>
              </a:rPr>
              <a:t>我：最终质量裁决</a:t>
            </a:r>
          </a:p>
          <a:p>
            <a:pPr algn="ctr">
              <a:lnSpc>
                <a:spcPct val="112000"/>
              </a:lnSpc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8FC2EE"/>
                </a:solidFill>
                <a:latin typeface="微软雅黑"/>
              </a:rPr>
              <a:t>逐条审核报告 · 确认根因 · 决定准出/整改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258568.0" y="3246120"/>
            <a:ext cx="3840480.0" cy="411480"/>
          </a:xfrm>
          <a:prstGeom prst="bentConnector3">
            <a:avLst/>
          </a:prstGeom>
          <a:ln w="19050">
            <a:solidFill>
              <a:srgbClr val="DCE5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779008.0" y="3246120"/>
            <a:ext cx="320040.0" cy="411480"/>
          </a:xfrm>
          <a:prstGeom prst="bentConnector3">
            <a:avLst/>
          </a:prstGeom>
          <a:ln w="19050">
            <a:solidFill>
              <a:srgbClr val="DCE5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6099048" y="3246120"/>
            <a:ext cx="3200400.0" cy="411480"/>
          </a:xfrm>
          <a:prstGeom prst="bentConnector3">
            <a:avLst/>
          </a:prstGeom>
          <a:ln w="19050">
            <a:solidFill>
              <a:srgbClr val="DCE5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66928" y="5029200"/>
            <a:ext cx="11057839" cy="1051560"/>
          </a:xfrm>
          <a:prstGeom prst="roundRect">
            <a:avLst>
              <a:gd name="adj" fmla="val 10000"/>
            </a:avLst>
          </a:prstGeom>
          <a:solidFill>
            <a:srgbClr val="E4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24459" bIns="124459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E2239"/>
                </a:solidFill>
                <a:latin typeface="微软雅黑"/>
              </a:rPr>
              <a:t>真实一幕：编码智能体报告「已完成并自测通过」，质检验收却发现 11 个页面是空壳——</a:t>
            </a:r>
          </a:p>
          <a:p>
            <a:pPr algn="ctr">
              <a:lnSpc>
                <a:spcPct val="112000"/>
              </a:lnSpc>
              <a:spcBef>
                <a:spcPts val="400"/>
              </a:spcBef>
              <a:spcAft>
                <a:spcPts val="0"/>
              </a:spcAft>
            </a:pPr>
            <a:r>
              <a:rPr sz="1450" b="1">
                <a:solidFill>
                  <a:srgbClr val="2B7BD3"/>
                </a:solidFill>
                <a:latin typeface="微软雅黑"/>
              </a:rPr>
              <a:t>「AI 说做完了」不算数，</a:t>
            </a:r>
            <a:r>
              <a:rPr sz="1450" b="1">
                <a:solidFill>
                  <a:srgbClr val="E3A93C"/>
                </a:solidFill>
                <a:latin typeface="微软雅黑"/>
              </a:rPr>
              <a:t>独立验证 + 专家裁决</a:t>
            </a:r>
            <a:r>
              <a:rPr sz="1450" b="1">
                <a:solidFill>
                  <a:srgbClr val="2B7BD3"/>
                </a:solidFill>
                <a:latin typeface="微软雅黑"/>
              </a:rPr>
              <a:t>才算数。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235440" y="-2377440"/>
            <a:ext cx="5852160" cy="5852160"/>
          </a:xfrm>
          <a:prstGeom prst="ellipse">
            <a:avLst/>
          </a:prstGeom>
          <a:solidFill>
            <a:srgbClr val="12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4023360" cy="4023360"/>
          </a:xfrm>
          <a:prstGeom prst="ellipse">
            <a:avLst/>
          </a:prstGeom>
          <a:noFill/>
          <a:ln w="15240">
            <a:solidFill>
              <a:srgbClr val="1B4A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07040" y="4480560"/>
            <a:ext cx="2926080" cy="2926080"/>
          </a:xfrm>
          <a:prstGeom prst="ellipse">
            <a:avLst/>
          </a:prstGeom>
          <a:noFill/>
          <a:ln w="12700">
            <a:solidFill>
              <a:srgbClr val="1B4A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4572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0" b="1">
                <a:solidFill>
                  <a:srgbClr val="1D416B"/>
                </a:solidFill>
                <a:latin typeface="微软雅黑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30632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微软雅黑"/>
              </a:rPr>
              <a:t>实战历程：从零到上线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" y="3913632"/>
            <a:ext cx="594360" cy="44450"/>
          </a:xfrm>
          <a:prstGeom prst="rect">
            <a:avLst/>
          </a:prstGeom>
          <a:solidFill>
            <a:srgbClr val="E3A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" y="4114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8FC2EE"/>
                </a:solidFill>
                <a:latin typeface="微软雅黑"/>
              </a:rPr>
              <a:t>8 周 · 7 个阶段 · 62 次提交 · 一次真实的完整交付</a:t>
            </a:r>
          </a:p>
        </p:txBody>
      </p:sp>
      <p:sp>
        <p:nvSpPr>
          <p:cNvPr id="10" name="Oval 9"/>
          <p:cNvSpPr/>
          <p:nvPr/>
        </p:nvSpPr>
        <p:spPr>
          <a:xfrm>
            <a:off x="630936" y="5577840"/>
            <a:ext cx="128016" cy="128016"/>
          </a:xfrm>
          <a:prstGeom prst="ellipse">
            <a:avLst/>
          </a:prstGeom>
          <a:solidFill>
            <a:srgbClr val="2A4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9456" y="57607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E7793"/>
                </a:solidFill>
                <a:latin typeface="微软雅黑"/>
              </a:rPr>
              <a:t>背景与挑战</a:t>
            </a:r>
          </a:p>
        </p:txBody>
      </p:sp>
      <p:sp>
        <p:nvSpPr>
          <p:cNvPr id="12" name="Oval 11"/>
          <p:cNvSpPr/>
          <p:nvPr/>
        </p:nvSpPr>
        <p:spPr>
          <a:xfrm>
            <a:off x="2112264" y="5577840"/>
            <a:ext cx="128016" cy="128016"/>
          </a:xfrm>
          <a:prstGeom prst="ellipse">
            <a:avLst/>
          </a:prstGeom>
          <a:solidFill>
            <a:srgbClr val="2A4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00784" y="57607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E7793"/>
                </a:solidFill>
                <a:latin typeface="微软雅黑"/>
              </a:rPr>
              <a:t>方法论</a:t>
            </a:r>
          </a:p>
        </p:txBody>
      </p:sp>
      <p:sp>
        <p:nvSpPr>
          <p:cNvPr id="14" name="Oval 13"/>
          <p:cNvSpPr/>
          <p:nvPr/>
        </p:nvSpPr>
        <p:spPr>
          <a:xfrm>
            <a:off x="3593592" y="5577840"/>
            <a:ext cx="128016" cy="128016"/>
          </a:xfrm>
          <a:prstGeom prst="ellipse">
            <a:avLst/>
          </a:prstGeom>
          <a:solidFill>
            <a:srgbClr val="E3A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82112" y="57607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E3A93C"/>
                </a:solidFill>
                <a:latin typeface="微软雅黑"/>
              </a:rPr>
              <a:t>实战历程</a:t>
            </a:r>
          </a:p>
        </p:txBody>
      </p:sp>
      <p:sp>
        <p:nvSpPr>
          <p:cNvPr id="16" name="Oval 15"/>
          <p:cNvSpPr/>
          <p:nvPr/>
        </p:nvSpPr>
        <p:spPr>
          <a:xfrm>
            <a:off x="5074920" y="5577840"/>
            <a:ext cx="128016" cy="128016"/>
          </a:xfrm>
          <a:prstGeom prst="ellipse">
            <a:avLst/>
          </a:prstGeom>
          <a:solidFill>
            <a:srgbClr val="2A4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57607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E7793"/>
                </a:solidFill>
                <a:latin typeface="微软雅黑"/>
              </a:rPr>
              <a:t>提示词工程</a:t>
            </a:r>
          </a:p>
        </p:txBody>
      </p:sp>
      <p:sp>
        <p:nvSpPr>
          <p:cNvPr id="18" name="Oval 17"/>
          <p:cNvSpPr/>
          <p:nvPr/>
        </p:nvSpPr>
        <p:spPr>
          <a:xfrm>
            <a:off x="6556248" y="5577840"/>
            <a:ext cx="128016" cy="128016"/>
          </a:xfrm>
          <a:prstGeom prst="ellipse">
            <a:avLst/>
          </a:prstGeom>
          <a:solidFill>
            <a:srgbClr val="2A4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44768" y="57607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E7793"/>
                </a:solidFill>
                <a:latin typeface="微软雅黑"/>
              </a:rPr>
              <a:t>成果与数据</a:t>
            </a:r>
          </a:p>
        </p:txBody>
      </p:sp>
      <p:sp>
        <p:nvSpPr>
          <p:cNvPr id="20" name="Oval 19"/>
          <p:cNvSpPr/>
          <p:nvPr/>
        </p:nvSpPr>
        <p:spPr>
          <a:xfrm>
            <a:off x="8037576" y="5577840"/>
            <a:ext cx="128016" cy="128016"/>
          </a:xfrm>
          <a:prstGeom prst="ellipse">
            <a:avLst/>
          </a:prstGeom>
          <a:solidFill>
            <a:srgbClr val="2A4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26096" y="57607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E7793"/>
                </a:solidFill>
                <a:latin typeface="微软雅黑"/>
              </a:rPr>
              <a:t>能力提升与推广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1057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B7BD3"/>
                </a:solidFill>
                <a:latin typeface="微软雅黑"/>
              </a:rPr>
              <a:t>03 · 实战历程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105783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2239"/>
                </a:solidFill>
                <a:latin typeface="微软雅黑"/>
              </a:rPr>
              <a:t>项目全景：8 周走完传统 6-12 个月的路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502920" cy="38100"/>
          </a:xfrm>
          <a:prstGeom prst="rect">
            <a:avLst/>
          </a:prstGeom>
          <a:solidFill>
            <a:srgbClr val="E3A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78C"/>
                </a:solidFill>
                <a:latin typeface="微软雅黑"/>
              </a:rPr>
              <a:t>AI赋能DBA创新实践 · TDSQL数据库SQL审核工具 v1.0.2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4778C"/>
                </a:solidFill>
                <a:latin typeface="微软雅黑"/>
              </a:rPr>
              <a:t>13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377440"/>
            <a:ext cx="11057839" cy="25400"/>
          </a:xfrm>
          <a:prstGeom prst="rect">
            <a:avLst/>
          </a:prstGeom>
          <a:solidFill>
            <a:srgbClr val="DCE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16736" y="2313432"/>
            <a:ext cx="146304" cy="146304"/>
          </a:xfrm>
          <a:prstGeom prst="ellipse">
            <a:avLst/>
          </a:prstGeom>
          <a:solidFill>
            <a:srgbClr val="2B7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874519"/>
            <a:ext cx="1700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64778C"/>
                </a:solidFill>
                <a:latin typeface="微软雅黑"/>
              </a:rPr>
              <a:t>第1周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2697480"/>
            <a:ext cx="1517904" cy="1965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62229" bIns="62229"/>
          <a:lstStyle/>
          <a:p>
            <a:pPr algn="ctr">
              <a:lnSpc>
                <a:spcPct val="112000"/>
              </a:lnSpc>
              <a:spcBef>
                <a:spcPts val="400"/>
              </a:spcBef>
              <a:spcAft>
                <a:spcPts val="0"/>
              </a:spcAft>
            </a:pPr>
            <a:r>
              <a:rPr sz="1350" b="1">
                <a:solidFill>
                  <a:srgbClr val="0E2239"/>
                </a:solidFill>
                <a:latin typeface="微软雅黑"/>
              </a:rPr>
              <a:t>架构设计</a:t>
            </a:r>
          </a:p>
          <a:p>
            <a:pPr algn="ctr">
              <a:lnSpc>
                <a:spcPct val="112000"/>
              </a:lnSpc>
              <a:spcBef>
                <a:spcPts val="400"/>
              </a:spcBef>
              <a:spcAft>
                <a:spcPts val="0"/>
              </a:spcAft>
            </a:pPr>
            <a:r>
              <a:rPr sz="950" b="0">
                <a:solidFill>
                  <a:srgbClr val="64778C"/>
                </a:solidFill>
                <a:latin typeface="微软雅黑"/>
              </a:rPr>
              <a:t>需求梳理 · 技术选型</a:t>
            </a:r>
          </a:p>
          <a:p>
            <a:pPr algn="ctr">
              <a:lnSpc>
                <a:spcPct val="112000"/>
              </a:lnSpc>
              <a:spcBef>
                <a:spcPts val="400"/>
              </a:spcBef>
              <a:spcAft>
                <a:spcPts val="0"/>
              </a:spcAft>
            </a:pPr>
            <a:r>
              <a:rPr sz="950" b="0">
                <a:solidFill>
                  <a:srgbClr val="64778C"/>
                </a:solidFill>
                <a:latin typeface="微软雅黑"/>
              </a:rPr>
              <a:t>库表/API 设计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4800600"/>
            <a:ext cx="1335024" cy="384048"/>
          </a:xfrm>
          <a:prstGeom prst="roundRect">
            <a:avLst>
              <a:gd name="adj" fmla="val 50000"/>
            </a:avLst>
          </a:prstGeom>
          <a:solidFill>
            <a:srgbClr val="E4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B7BD3"/>
                </a:solidFill>
                <a:latin typeface="微软雅黑"/>
              </a:rPr>
              <a:t>总架构师</a:t>
            </a:r>
          </a:p>
        </p:txBody>
      </p:sp>
      <p:sp>
        <p:nvSpPr>
          <p:cNvPr id="13" name="Oval 12"/>
          <p:cNvSpPr/>
          <p:nvPr/>
        </p:nvSpPr>
        <p:spPr>
          <a:xfrm>
            <a:off x="2912364" y="2313432"/>
            <a:ext cx="146304" cy="146304"/>
          </a:xfrm>
          <a:prstGeom prst="ellipse">
            <a:avLst/>
          </a:prstGeom>
          <a:solidFill>
            <a:srgbClr val="E3A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25980" y="1874519"/>
            <a:ext cx="1700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64778C"/>
                </a:solidFill>
                <a:latin typeface="微软雅黑"/>
              </a:rPr>
              <a:t>第2-3周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17420" y="2697480"/>
            <a:ext cx="1517904" cy="1965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62229" bIns="62229"/>
          <a:lstStyle/>
          <a:p>
            <a:pPr algn="ctr">
              <a:lnSpc>
                <a:spcPct val="112000"/>
              </a:lnSpc>
              <a:spcBef>
                <a:spcPts val="400"/>
              </a:spcBef>
              <a:spcAft>
                <a:spcPts val="0"/>
              </a:spcAft>
            </a:pPr>
            <a:r>
              <a:rPr sz="1350" b="1">
                <a:solidFill>
                  <a:srgbClr val="0E2239"/>
                </a:solidFill>
                <a:latin typeface="微软雅黑"/>
              </a:rPr>
              <a:t>核心引擎</a:t>
            </a:r>
          </a:p>
          <a:p>
            <a:pPr algn="ctr">
              <a:lnSpc>
                <a:spcPct val="112000"/>
              </a:lnSpc>
              <a:spcBef>
                <a:spcPts val="400"/>
              </a:spcBef>
              <a:spcAft>
                <a:spcPts val="0"/>
              </a:spcAft>
            </a:pPr>
            <a:r>
              <a:rPr sz="950" b="0">
                <a:solidFill>
                  <a:srgbClr val="64778C"/>
                </a:solidFill>
                <a:latin typeface="微软雅黑"/>
              </a:rPr>
              <a:t>77 条审核规则</a:t>
            </a:r>
          </a:p>
          <a:p>
            <a:pPr algn="ctr">
              <a:lnSpc>
                <a:spcPct val="112000"/>
              </a:lnSpc>
              <a:spcBef>
                <a:spcPts val="400"/>
              </a:spcBef>
              <a:spcAft>
                <a:spcPts val="0"/>
              </a:spcAft>
            </a:pPr>
            <a:r>
              <a:rPr sz="950" b="0">
                <a:solidFill>
                  <a:srgbClr val="64778C"/>
                </a:solidFill>
                <a:latin typeface="微软雅黑"/>
              </a:rPr>
              <a:t>SQL 解析器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308860" y="4800600"/>
            <a:ext cx="1335024" cy="384048"/>
          </a:xfrm>
          <a:prstGeom prst="roundRect">
            <a:avLst>
              <a:gd name="adj" fmla="val 50000"/>
            </a:avLst>
          </a:prstGeom>
          <a:solidFill>
            <a:srgbClr val="E4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B7BD3"/>
                </a:solidFill>
                <a:latin typeface="微软雅黑"/>
              </a:rPr>
              <a:t>规则设计者</a:t>
            </a:r>
          </a:p>
        </p:txBody>
      </p:sp>
      <p:sp>
        <p:nvSpPr>
          <p:cNvPr id="17" name="Oval 16"/>
          <p:cNvSpPr/>
          <p:nvPr/>
        </p:nvSpPr>
        <p:spPr>
          <a:xfrm>
            <a:off x="4507992" y="2313432"/>
            <a:ext cx="146304" cy="146304"/>
          </a:xfrm>
          <a:prstGeom prst="ellipse">
            <a:avLst/>
          </a:prstGeom>
          <a:solidFill>
            <a:srgbClr val="2B7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21608" y="1874519"/>
            <a:ext cx="1700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64778C"/>
                </a:solidFill>
                <a:latin typeface="微软雅黑"/>
              </a:rPr>
              <a:t>第4周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13048" y="2697480"/>
            <a:ext cx="1517904" cy="1965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62229" bIns="62229"/>
          <a:lstStyle/>
          <a:p>
            <a:pPr algn="ctr">
              <a:lnSpc>
                <a:spcPct val="112000"/>
              </a:lnSpc>
              <a:spcBef>
                <a:spcPts val="400"/>
              </a:spcBef>
              <a:spcAft>
                <a:spcPts val="0"/>
              </a:spcAft>
            </a:pPr>
            <a:r>
              <a:rPr sz="1350" b="1">
                <a:solidFill>
                  <a:srgbClr val="0E2239"/>
                </a:solidFill>
                <a:latin typeface="微软雅黑"/>
              </a:rPr>
              <a:t>前端 V3.0</a:t>
            </a:r>
          </a:p>
          <a:p>
            <a:pPr algn="ctr">
              <a:lnSpc>
                <a:spcPct val="112000"/>
              </a:lnSpc>
              <a:spcBef>
                <a:spcPts val="400"/>
              </a:spcBef>
              <a:spcAft>
                <a:spcPts val="0"/>
              </a:spcAft>
            </a:pPr>
            <a:r>
              <a:rPr sz="950" b="0">
                <a:solidFill>
                  <a:srgbClr val="64778C"/>
                </a:solidFill>
                <a:latin typeface="微软雅黑"/>
              </a:rPr>
              <a:t>19 页面重构</a:t>
            </a:r>
          </a:p>
          <a:p>
            <a:pPr algn="ctr">
              <a:lnSpc>
                <a:spcPct val="112000"/>
              </a:lnSpc>
              <a:spcBef>
                <a:spcPts val="400"/>
              </a:spcBef>
              <a:spcAft>
                <a:spcPts val="0"/>
              </a:spcAft>
            </a:pPr>
            <a:r>
              <a:rPr sz="950" b="0">
                <a:solidFill>
                  <a:srgbClr val="64778C"/>
                </a:solidFill>
                <a:latin typeface="微软雅黑"/>
              </a:rPr>
              <a:t>设计 Token 体系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04488" y="4800600"/>
            <a:ext cx="1335024" cy="384048"/>
          </a:xfrm>
          <a:prstGeom prst="roundRect">
            <a:avLst>
              <a:gd name="adj" fmla="val 50000"/>
            </a:avLst>
          </a:prstGeom>
          <a:solidFill>
            <a:srgbClr val="E4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B7BD3"/>
                </a:solidFill>
                <a:latin typeface="微软雅黑"/>
              </a:rPr>
              <a:t>产品设计师</a:t>
            </a:r>
          </a:p>
        </p:txBody>
      </p:sp>
      <p:sp>
        <p:nvSpPr>
          <p:cNvPr id="21" name="Oval 20"/>
          <p:cNvSpPr/>
          <p:nvPr/>
        </p:nvSpPr>
        <p:spPr>
          <a:xfrm>
            <a:off x="6103620" y="2313432"/>
            <a:ext cx="146304" cy="146304"/>
          </a:xfrm>
          <a:prstGeom prst="ellipse">
            <a:avLst/>
          </a:prstGeom>
          <a:solidFill>
            <a:srgbClr val="E3A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17236" y="1874519"/>
            <a:ext cx="1700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64778C"/>
                </a:solidFill>
                <a:latin typeface="微软雅黑"/>
              </a:rPr>
              <a:t>第5周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08676" y="2697480"/>
            <a:ext cx="1517904" cy="1965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62229" bIns="62229"/>
          <a:lstStyle/>
          <a:p>
            <a:pPr algn="ctr">
              <a:lnSpc>
                <a:spcPct val="112000"/>
              </a:lnSpc>
              <a:spcBef>
                <a:spcPts val="400"/>
              </a:spcBef>
              <a:spcAft>
                <a:spcPts val="0"/>
              </a:spcAft>
            </a:pPr>
            <a:r>
              <a:rPr sz="1350" b="1">
                <a:solidFill>
                  <a:srgbClr val="0E2239"/>
                </a:solidFill>
                <a:latin typeface="微软雅黑"/>
              </a:rPr>
              <a:t>功能增强</a:t>
            </a:r>
          </a:p>
          <a:p>
            <a:pPr algn="ctr">
              <a:lnSpc>
                <a:spcPct val="112000"/>
              </a:lnSpc>
              <a:spcBef>
                <a:spcPts val="400"/>
              </a:spcBef>
              <a:spcAft>
                <a:spcPts val="0"/>
              </a:spcAft>
            </a:pPr>
            <a:r>
              <a:rPr sz="950" b="0">
                <a:solidFill>
                  <a:srgbClr val="64778C"/>
                </a:solidFill>
                <a:latin typeface="微软雅黑"/>
              </a:rPr>
              <a:t>角色权限矩阵</a:t>
            </a:r>
          </a:p>
          <a:p>
            <a:pPr algn="ctr">
              <a:lnSpc>
                <a:spcPct val="112000"/>
              </a:lnSpc>
              <a:spcBef>
                <a:spcPts val="400"/>
              </a:spcBef>
              <a:spcAft>
                <a:spcPts val="0"/>
              </a:spcAft>
            </a:pPr>
            <a:r>
              <a:rPr sz="950" b="0">
                <a:solidFill>
                  <a:srgbClr val="64778C"/>
                </a:solidFill>
                <a:latin typeface="微软雅黑"/>
              </a:rPr>
              <a:t>系统配置等 7 项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500116" y="4800600"/>
            <a:ext cx="1335024" cy="384048"/>
          </a:xfrm>
          <a:prstGeom prst="roundRect">
            <a:avLst>
              <a:gd name="adj" fmla="val 50000"/>
            </a:avLst>
          </a:prstGeom>
          <a:solidFill>
            <a:srgbClr val="E4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B7BD3"/>
                </a:solidFill>
                <a:latin typeface="微软雅黑"/>
              </a:rPr>
              <a:t>需求定义者</a:t>
            </a:r>
          </a:p>
        </p:txBody>
      </p:sp>
      <p:sp>
        <p:nvSpPr>
          <p:cNvPr id="25" name="Oval 24"/>
          <p:cNvSpPr/>
          <p:nvPr/>
        </p:nvSpPr>
        <p:spPr>
          <a:xfrm>
            <a:off x="7699248" y="2313432"/>
            <a:ext cx="146304" cy="146304"/>
          </a:xfrm>
          <a:prstGeom prst="ellipse">
            <a:avLst/>
          </a:prstGeom>
          <a:solidFill>
            <a:srgbClr val="2B7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12864" y="1874519"/>
            <a:ext cx="1700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64778C"/>
                </a:solidFill>
                <a:latin typeface="微软雅黑"/>
              </a:rPr>
              <a:t>第6周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004304" y="2697480"/>
            <a:ext cx="1517904" cy="1965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62229" bIns="62229"/>
          <a:lstStyle/>
          <a:p>
            <a:pPr algn="ctr">
              <a:lnSpc>
                <a:spcPct val="112000"/>
              </a:lnSpc>
              <a:spcBef>
                <a:spcPts val="400"/>
              </a:spcBef>
              <a:spcAft>
                <a:spcPts val="0"/>
              </a:spcAft>
            </a:pPr>
            <a:r>
              <a:rPr sz="1350" b="1">
                <a:solidFill>
                  <a:srgbClr val="0E2239"/>
                </a:solidFill>
                <a:latin typeface="微软雅黑"/>
              </a:rPr>
              <a:t>Oracle 规则</a:t>
            </a:r>
          </a:p>
          <a:p>
            <a:pPr algn="ctr">
              <a:lnSpc>
                <a:spcPct val="112000"/>
              </a:lnSpc>
              <a:spcBef>
                <a:spcPts val="400"/>
              </a:spcBef>
              <a:spcAft>
                <a:spcPts val="0"/>
              </a:spcAft>
            </a:pPr>
            <a:r>
              <a:rPr sz="950" b="0">
                <a:solidFill>
                  <a:srgbClr val="64778C"/>
                </a:solidFill>
                <a:latin typeface="微软雅黑"/>
              </a:rPr>
              <a:t>42 条迁移规则</a:t>
            </a:r>
          </a:p>
          <a:p>
            <a:pPr algn="ctr">
              <a:lnSpc>
                <a:spcPct val="112000"/>
              </a:lnSpc>
              <a:spcBef>
                <a:spcPts val="400"/>
              </a:spcBef>
              <a:spcAft>
                <a:spcPts val="0"/>
              </a:spcAft>
            </a:pPr>
            <a:r>
              <a:rPr sz="950" b="0">
                <a:solidFill>
                  <a:srgbClr val="64778C"/>
                </a:solidFill>
                <a:latin typeface="微软雅黑"/>
              </a:rPr>
              <a:t>R078-R119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095744" y="4800600"/>
            <a:ext cx="1335024" cy="384048"/>
          </a:xfrm>
          <a:prstGeom prst="roundRect">
            <a:avLst>
              <a:gd name="adj" fmla="val 50000"/>
            </a:avLst>
          </a:prstGeom>
          <a:solidFill>
            <a:srgbClr val="E4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B7BD3"/>
                </a:solidFill>
                <a:latin typeface="微软雅黑"/>
              </a:rPr>
              <a:t>规范制定者</a:t>
            </a:r>
          </a:p>
        </p:txBody>
      </p:sp>
      <p:sp>
        <p:nvSpPr>
          <p:cNvPr id="29" name="Oval 28"/>
          <p:cNvSpPr/>
          <p:nvPr/>
        </p:nvSpPr>
        <p:spPr>
          <a:xfrm>
            <a:off x="9294876" y="2313432"/>
            <a:ext cx="146304" cy="146304"/>
          </a:xfrm>
          <a:prstGeom prst="ellipse">
            <a:avLst/>
          </a:prstGeom>
          <a:solidFill>
            <a:srgbClr val="E3A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08492" y="1874519"/>
            <a:ext cx="1700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64778C"/>
                </a:solidFill>
                <a:latin typeface="微软雅黑"/>
              </a:rPr>
              <a:t>第7周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599932" y="2697480"/>
            <a:ext cx="1517904" cy="1965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62229" bIns="62229"/>
          <a:lstStyle/>
          <a:p>
            <a:pPr algn="ctr">
              <a:lnSpc>
                <a:spcPct val="112000"/>
              </a:lnSpc>
              <a:spcBef>
                <a:spcPts val="400"/>
              </a:spcBef>
              <a:spcAft>
                <a:spcPts val="0"/>
              </a:spcAft>
            </a:pPr>
            <a:r>
              <a:rPr sz="1350" b="1">
                <a:solidFill>
                  <a:srgbClr val="0E2239"/>
                </a:solidFill>
                <a:latin typeface="微软雅黑"/>
              </a:rPr>
              <a:t>质检验收</a:t>
            </a:r>
          </a:p>
          <a:p>
            <a:pPr algn="ctr">
              <a:lnSpc>
                <a:spcPct val="112000"/>
              </a:lnSpc>
              <a:spcBef>
                <a:spcPts val="400"/>
              </a:spcBef>
              <a:spcAft>
                <a:spcPts val="0"/>
              </a:spcAft>
            </a:pPr>
            <a:r>
              <a:rPr sz="950" b="0">
                <a:solidFill>
                  <a:srgbClr val="64778C"/>
                </a:solidFill>
                <a:latin typeface="微软雅黑"/>
              </a:rPr>
              <a:t>880 用例回归</a:t>
            </a:r>
          </a:p>
          <a:p>
            <a:pPr algn="ctr">
              <a:lnSpc>
                <a:spcPct val="112000"/>
              </a:lnSpc>
              <a:spcBef>
                <a:spcPts val="400"/>
              </a:spcBef>
              <a:spcAft>
                <a:spcPts val="0"/>
              </a:spcAft>
            </a:pPr>
            <a:r>
              <a:rPr sz="950" b="0">
                <a:solidFill>
                  <a:srgbClr val="64778C"/>
                </a:solidFill>
                <a:latin typeface="微软雅黑"/>
              </a:rPr>
              <a:t>0 失败准出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91372" y="4800600"/>
            <a:ext cx="1335024" cy="384048"/>
          </a:xfrm>
          <a:prstGeom prst="roundRect">
            <a:avLst>
              <a:gd name="adj" fmla="val 50000"/>
            </a:avLst>
          </a:prstGeom>
          <a:solidFill>
            <a:srgbClr val="E4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B7BD3"/>
                </a:solidFill>
                <a:latin typeface="微软雅黑"/>
              </a:rPr>
              <a:t>质量把关者</a:t>
            </a:r>
          </a:p>
        </p:txBody>
      </p:sp>
      <p:sp>
        <p:nvSpPr>
          <p:cNvPr id="33" name="Oval 32"/>
          <p:cNvSpPr/>
          <p:nvPr/>
        </p:nvSpPr>
        <p:spPr>
          <a:xfrm>
            <a:off x="10890504" y="2313432"/>
            <a:ext cx="146304" cy="146304"/>
          </a:xfrm>
          <a:prstGeom prst="ellipse">
            <a:avLst/>
          </a:prstGeom>
          <a:solidFill>
            <a:srgbClr val="2B7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04120" y="1874519"/>
            <a:ext cx="1700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64778C"/>
                </a:solidFill>
                <a:latin typeface="微软雅黑"/>
              </a:rPr>
              <a:t>第8周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195560" y="2697480"/>
            <a:ext cx="1517904" cy="1965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62229" bIns="62229"/>
          <a:lstStyle/>
          <a:p>
            <a:pPr algn="ctr">
              <a:lnSpc>
                <a:spcPct val="112000"/>
              </a:lnSpc>
              <a:spcBef>
                <a:spcPts val="400"/>
              </a:spcBef>
              <a:spcAft>
                <a:spcPts val="0"/>
              </a:spcAft>
            </a:pPr>
            <a:r>
              <a:rPr sz="1350" b="1">
                <a:solidFill>
                  <a:srgbClr val="0E2239"/>
                </a:solidFill>
                <a:latin typeface="微软雅黑"/>
              </a:rPr>
              <a:t>上线准备</a:t>
            </a:r>
          </a:p>
          <a:p>
            <a:pPr algn="ctr">
              <a:lnSpc>
                <a:spcPct val="112000"/>
              </a:lnSpc>
              <a:spcBef>
                <a:spcPts val="400"/>
              </a:spcBef>
              <a:spcAft>
                <a:spcPts val="0"/>
              </a:spcAft>
            </a:pPr>
            <a:r>
              <a:rPr sz="950" b="0">
                <a:solidFill>
                  <a:srgbClr val="64778C"/>
                </a:solidFill>
                <a:latin typeface="微软雅黑"/>
              </a:rPr>
              <a:t>一键部署包</a:t>
            </a:r>
          </a:p>
          <a:p>
            <a:pPr algn="ctr">
              <a:lnSpc>
                <a:spcPct val="112000"/>
              </a:lnSpc>
              <a:spcBef>
                <a:spcPts val="400"/>
              </a:spcBef>
              <a:spcAft>
                <a:spcPts val="0"/>
              </a:spcAft>
            </a:pPr>
            <a:r>
              <a:rPr sz="950" b="0">
                <a:solidFill>
                  <a:srgbClr val="64778C"/>
                </a:solidFill>
                <a:latin typeface="微软雅黑"/>
              </a:rPr>
              <a:t>v1.0.2 定版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287000" y="4800600"/>
            <a:ext cx="1335024" cy="384048"/>
          </a:xfrm>
          <a:prstGeom prst="roundRect">
            <a:avLst>
              <a:gd name="adj" fmla="val 50000"/>
            </a:avLst>
          </a:prstGeom>
          <a:solidFill>
            <a:srgbClr val="E4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B7BD3"/>
                </a:solidFill>
                <a:latin typeface="微软雅黑"/>
              </a:rPr>
              <a:t>运维专家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5486400"/>
            <a:ext cx="110578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</a:pPr>
            <a:r>
              <a:rPr sz="1350" b="1">
                <a:solidFill>
                  <a:srgbClr val="0E2239"/>
                </a:solidFill>
                <a:latin typeface="微软雅黑"/>
              </a:rPr>
              <a:t>每个阶段，我扮演不同的专家角色；</a:t>
            </a:r>
            <a:r>
              <a:rPr sz="1350" b="0">
                <a:solidFill>
                  <a:srgbClr val="64778C"/>
                </a:solidFill>
                <a:latin typeface="微软雅黑"/>
              </a:rPr>
              <a:t>AI 团队则始终保持三角色并行 —— 这是一个人的「多线程」工作方式。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1057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B7BD3"/>
                </a:solidFill>
                <a:latin typeface="微软雅黑"/>
              </a:rPr>
              <a:t>03 · 实战历程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105783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2239"/>
                </a:solidFill>
                <a:latin typeface="微软雅黑"/>
              </a:rPr>
              <a:t>工程全景数据（源自 Git 仓库真实统计）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502920" cy="38100"/>
          </a:xfrm>
          <a:prstGeom prst="rect">
            <a:avLst/>
          </a:prstGeom>
          <a:solidFill>
            <a:srgbClr val="E3A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78C"/>
                </a:solidFill>
                <a:latin typeface="微软雅黑"/>
              </a:rPr>
              <a:t>AI赋能DBA创新实践 · TDSQL数据库SQL审核工具 v1.0.2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4778C"/>
                </a:solidFill>
                <a:latin typeface="微软雅黑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45920"/>
            <a:ext cx="2706624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6679" bIns="106679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B7BD3"/>
                </a:solidFill>
                <a:latin typeface="微软雅黑"/>
              </a:rPr>
              <a:t>62</a:t>
            </a:r>
          </a:p>
          <a:p>
            <a:pPr algn="ctr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</a:pPr>
            <a:r>
              <a:rPr sz="1350" b="1">
                <a:solidFill>
                  <a:srgbClr val="0E2239"/>
                </a:solidFill>
                <a:latin typeface="微软雅黑"/>
              </a:rPr>
              <a:t>次代码提交</a:t>
            </a:r>
          </a:p>
          <a:p>
            <a:pPr algn="ctr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</a:pPr>
            <a:r>
              <a:rPr sz="1050" b="0">
                <a:solidFill>
                  <a:srgbClr val="64778C"/>
                </a:solidFill>
                <a:latin typeface="微软雅黑"/>
              </a:rPr>
              <a:t>全部由 AI 编写并提交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74136" y="1645920"/>
            <a:ext cx="2706624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6679" bIns="106679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B7BD3"/>
                </a:solidFill>
                <a:latin typeface="微软雅黑"/>
              </a:rPr>
              <a:t>2.98 万</a:t>
            </a:r>
          </a:p>
          <a:p>
            <a:pPr algn="ctr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</a:pPr>
            <a:r>
              <a:rPr sz="1350" b="1">
                <a:solidFill>
                  <a:srgbClr val="0E2239"/>
                </a:solidFill>
                <a:latin typeface="微软雅黑"/>
              </a:rPr>
              <a:t>行工程代码</a:t>
            </a:r>
          </a:p>
          <a:p>
            <a:pPr algn="ctr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</a:pPr>
            <a:r>
              <a:rPr sz="1050" b="0">
                <a:solidFill>
                  <a:srgbClr val="64778C"/>
                </a:solidFill>
                <a:latin typeface="微软雅黑"/>
              </a:rPr>
              <a:t>后端 1.65 万 + 测试 1.18 万 + 前端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1645920"/>
            <a:ext cx="2706624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6679" bIns="106679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B7BD3"/>
                </a:solidFill>
                <a:latin typeface="微软雅黑"/>
              </a:rPr>
              <a:t>26 份</a:t>
            </a:r>
          </a:p>
          <a:p>
            <a:pPr algn="ctr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</a:pPr>
            <a:r>
              <a:rPr sz="1350" b="1">
                <a:solidFill>
                  <a:srgbClr val="0E2239"/>
                </a:solidFill>
                <a:latin typeface="微软雅黑"/>
              </a:rPr>
              <a:t>项目文档 1.25 万行</a:t>
            </a:r>
          </a:p>
          <a:p>
            <a:pPr algn="ctr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</a:pPr>
            <a:r>
              <a:rPr sz="1050" b="0">
                <a:solidFill>
                  <a:srgbClr val="64778C"/>
                </a:solidFill>
                <a:latin typeface="微软雅黑"/>
              </a:rPr>
              <a:t>设计/测试/部署/运维全套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88552" y="1645920"/>
            <a:ext cx="2706624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6679" bIns="106679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B7BD3"/>
                </a:solidFill>
                <a:latin typeface="微软雅黑"/>
              </a:rPr>
              <a:t>880 项</a:t>
            </a:r>
          </a:p>
          <a:p>
            <a:pPr algn="ctr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</a:pPr>
            <a:r>
              <a:rPr sz="1350" b="1">
                <a:solidFill>
                  <a:srgbClr val="0E2239"/>
                </a:solidFill>
                <a:latin typeface="微软雅黑"/>
              </a:rPr>
              <a:t>自动化测试用例</a:t>
            </a:r>
          </a:p>
          <a:p>
            <a:pPr algn="ctr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</a:pPr>
            <a:r>
              <a:rPr sz="1050" b="0">
                <a:solidFill>
                  <a:srgbClr val="64778C"/>
                </a:solidFill>
                <a:latin typeface="微软雅黑"/>
              </a:rPr>
              <a:t>上线前全量回归 0 失败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977639"/>
            <a:ext cx="11057839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4059935"/>
            <a:ext cx="42062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E2239"/>
                </a:solidFill>
                <a:latin typeface="微软雅黑"/>
              </a:rPr>
              <a:t>119 条审核规则 · 9 大分类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30368" y="4059935"/>
            <a:ext cx="6309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4778C"/>
                </a:solidFill>
                <a:latin typeface="微软雅黑"/>
              </a:rPr>
              <a:t>含 42 条 Oracle 迁移兼容规则，覆盖原厂规范 52 个规范点 100% 无遗漏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782311"/>
            <a:ext cx="11057839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4864607"/>
            <a:ext cx="42062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E2239"/>
                </a:solidFill>
                <a:latin typeface="微软雅黑"/>
              </a:rPr>
              <a:t>14 个后端模块 · 19 个前端页面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30368" y="4864607"/>
            <a:ext cx="6309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4778C"/>
                </a:solidFill>
                <a:latin typeface="微软雅黑"/>
              </a:rPr>
              <a:t>认证 RBAC / 多实例注册 / 规则集 / 门禁 / 慢SQL / 体检 / 监控 / 巡检…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586983"/>
            <a:ext cx="11057839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5669279"/>
            <a:ext cx="42062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E3A93C"/>
                </a:solidFill>
                <a:latin typeface="微软雅黑"/>
              </a:rPr>
              <a:t>我本人手写代码：0 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30368" y="5669279"/>
            <a:ext cx="6309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4778C"/>
                </a:solidFill>
                <a:latin typeface="微软雅黑"/>
              </a:rPr>
              <a:t>我贡献的是：设计思想、规则体系、每一轮的质量裁决与验收标准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1057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B7BD3"/>
                </a:solidFill>
                <a:latin typeface="微软雅黑"/>
              </a:rPr>
              <a:t>03 · 实战历程 · 典型案例一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105783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2239"/>
                </a:solidFill>
                <a:latin typeface="微软雅黑"/>
              </a:rPr>
              <a:t>Oracle 迁移规则的诞生：一份 729 行的原厂文档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502920" cy="38100"/>
          </a:xfrm>
          <a:prstGeom prst="rect">
            <a:avLst/>
          </a:prstGeom>
          <a:solidFill>
            <a:srgbClr val="E3A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78C"/>
                </a:solidFill>
                <a:latin typeface="微软雅黑"/>
              </a:rPr>
              <a:t>AI赋能DBA创新实践 · TDSQL数据库SQL审核工具 v1.0.2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4778C"/>
                </a:solidFill>
                <a:latin typeface="微软雅黑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00200"/>
            <a:ext cx="585216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142240" bIns="142240"/>
          <a:lstStyle/>
          <a:p>
            <a:pPr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</a:pPr>
            <a:r>
              <a:rPr sz="1500" b="1">
                <a:solidFill>
                  <a:srgbClr val="2B7BD3"/>
                </a:solidFill>
                <a:latin typeface="微软雅黑"/>
              </a:rPr>
              <a:t>背景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300" b="0">
                <a:solidFill>
                  <a:srgbClr val="1C2B3A"/>
                </a:solidFill>
                <a:latin typeface="微软雅黑"/>
              </a:rPr>
              <a:t>原厂交付《Oracle迁移TDSQL改造适配方案》V1.5.1（729 行 .doc），涉及：</a:t>
            </a:r>
          </a:p>
          <a:p>
            <a:pPr algn="l">
              <a:lnSpc>
                <a:spcPct val="130000"/>
              </a:lnSpc>
              <a:spcBef>
                <a:spcPts val="900"/>
              </a:spcBef>
              <a:spcAft>
                <a:spcPts val="0"/>
              </a:spcAft>
            </a:pPr>
            <a:r>
              <a:rPr sz="1250" b="0">
                <a:solidFill>
                  <a:srgbClr val="1C2B3A"/>
                </a:solidFill>
                <a:latin typeface="微软雅黑"/>
              </a:rPr>
              <a:t>●  to_char / nvl / decode 等函数不支持，需替换改写</a:t>
            </a:r>
          </a:p>
          <a:p>
            <a:pPr algn="l">
              <a:lnSpc>
                <a:spcPct val="130000"/>
              </a:lnSpc>
              <a:spcBef>
                <a:spcPts val="900"/>
              </a:spcBef>
              <a:spcAft>
                <a:spcPts val="0"/>
              </a:spcAft>
            </a:pPr>
            <a:r>
              <a:rPr sz="1250" b="0">
                <a:solidFill>
                  <a:srgbClr val="1C2B3A"/>
                </a:solidFill>
                <a:latin typeface="微软雅黑"/>
              </a:rPr>
              <a:t>●  rownum / MERGE INTO / WITH AS 等语法不兼容</a:t>
            </a:r>
          </a:p>
          <a:p>
            <a:pPr algn="l">
              <a:lnSpc>
                <a:spcPct val="130000"/>
              </a:lnSpc>
              <a:spcBef>
                <a:spcPts val="900"/>
              </a:spcBef>
              <a:spcAft>
                <a:spcPts val="0"/>
              </a:spcAft>
            </a:pPr>
            <a:r>
              <a:rPr sz="1250" b="0">
                <a:solidFill>
                  <a:srgbClr val="1C2B3A"/>
                </a:solidFill>
                <a:latin typeface="微软雅黑"/>
              </a:rPr>
              <a:t>●  分布式场景：窗口函数、游标、临时表限制</a:t>
            </a:r>
          </a:p>
          <a:p>
            <a:pPr algn="l">
              <a:lnSpc>
                <a:spcPct val="130000"/>
              </a:lnSpc>
              <a:spcBef>
                <a:spcPts val="900"/>
              </a:spcBef>
              <a:spcAft>
                <a:spcPts val="0"/>
              </a:spcAft>
            </a:pPr>
            <a:r>
              <a:rPr sz="1250" b="0">
                <a:solidFill>
                  <a:srgbClr val="1C2B3A"/>
                </a:solidFill>
                <a:latin typeface="微软雅黑"/>
              </a:rPr>
              <a:t>●  分片键六条军规（类型/唯一索引/更新限制…）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600200"/>
            <a:ext cx="5852160" cy="38100"/>
          </a:xfrm>
          <a:prstGeom prst="rect">
            <a:avLst/>
          </a:prstGeom>
          <a:solidFill>
            <a:srgbClr val="2B7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693408" y="1600200"/>
            <a:ext cx="4937760" cy="3566160"/>
          </a:xfrm>
          <a:prstGeom prst="roundRect">
            <a:avLst>
              <a:gd name="adj" fmla="val 6000"/>
            </a:avLst>
          </a:prstGeom>
          <a:solidFill>
            <a:srgbClr val="FB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142240" bIns="14224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CE544E"/>
                </a:solidFill>
                <a:latin typeface="微软雅黑"/>
              </a:rPr>
              <a:t>如果靠人工</a:t>
            </a:r>
          </a:p>
          <a:p>
            <a:pPr algn="ctr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</a:pPr>
            <a:r>
              <a:rPr sz="1400" b="0">
                <a:solidFill>
                  <a:srgbClr val="1C2B3A"/>
                </a:solidFill>
                <a:latin typeface="微软雅黑"/>
              </a:rPr>
              <a:t>逐条记忆 + 人工排查</a:t>
            </a:r>
          </a:p>
          <a:p>
            <a:pPr algn="ctr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</a:pPr>
            <a:r>
              <a:rPr sz="2000" b="1">
                <a:solidFill>
                  <a:srgbClr val="CE544E"/>
                </a:solidFill>
                <a:latin typeface="微软雅黑"/>
              </a:rPr>
              <a:t>一个 DBA 团队需要数月</a:t>
            </a:r>
          </a:p>
          <a:p>
            <a:pPr algn="ctr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</a:pPr>
            <a:r>
              <a:rPr sz="1300" b="0">
                <a:solidFill>
                  <a:srgbClr val="64778C"/>
                </a:solidFill>
                <a:latin typeface="微软雅黑"/>
              </a:rPr>
              <a:t>且必然存在遗漏风险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5440680"/>
            <a:ext cx="11057839" cy="777240"/>
          </a:xfrm>
          <a:prstGeom prst="roundRect">
            <a:avLst>
              <a:gd name="adj" fmla="val 10000"/>
            </a:avLst>
          </a:prstGeom>
          <a:solidFill>
            <a:srgbClr val="FBF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88900" bIns="8890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E3A93C"/>
                </a:solidFill>
                <a:latin typeface="微软雅黑"/>
              </a:rPr>
              <a:t>我的目标只有一个：</a:t>
            </a:r>
            <a:r>
              <a:rPr sz="1450" b="1">
                <a:solidFill>
                  <a:srgbClr val="0E2239"/>
                </a:solidFill>
                <a:latin typeface="微软雅黑"/>
              </a:rPr>
              <a:t>把原厂文档的每一个规范点，无遗漏地变成审核工具里可执行的规则。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1057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B7BD3"/>
                </a:solidFill>
                <a:latin typeface="微软雅黑"/>
              </a:rPr>
              <a:t>03 · 实战历程 · 典型案例一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105783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2239"/>
                </a:solidFill>
                <a:latin typeface="微软雅黑"/>
              </a:rPr>
              <a:t>六步走完：从原厂文档到 42 条可执行规则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502920" cy="38100"/>
          </a:xfrm>
          <a:prstGeom prst="rect">
            <a:avLst/>
          </a:prstGeom>
          <a:solidFill>
            <a:srgbClr val="E3A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78C"/>
                </a:solidFill>
                <a:latin typeface="微软雅黑"/>
              </a:rPr>
              <a:t>AI赋能DBA创新实践 · TDSQL数据库SQL审核工具 v1.0.2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4778C"/>
                </a:solidFill>
                <a:latin typeface="微软雅黑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27632"/>
            <a:ext cx="3602736" cy="13716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13232" y="1773936"/>
            <a:ext cx="329184" cy="329184"/>
          </a:xfrm>
          <a:prstGeom prst="ellipse">
            <a:avLst/>
          </a:prstGeom>
          <a:solidFill>
            <a:srgbClr val="2B7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" y="1719072"/>
            <a:ext cx="28712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E2239"/>
                </a:solidFill>
                <a:latin typeface="微软雅黑"/>
              </a:rPr>
              <a:t>我下达指令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103120"/>
            <a:ext cx="3236976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4778C"/>
                </a:solidFill>
                <a:latin typeface="微软雅黑"/>
              </a:rPr>
              <a:t>把 729 行文档交给设计智能体：「每一个规范点无遗漏映射到规则体系，标注映射/新增」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2544" y="1627632"/>
            <a:ext cx="3602736" cy="13716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498848" y="1773936"/>
            <a:ext cx="329184" cy="329184"/>
          </a:xfrm>
          <a:prstGeom prst="ellipse">
            <a:avLst/>
          </a:prstGeom>
          <a:solidFill>
            <a:srgbClr val="2B7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1719072"/>
            <a:ext cx="28712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E2239"/>
                </a:solidFill>
                <a:latin typeface="微软雅黑"/>
              </a:rPr>
              <a:t>AI 出设计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5424" y="2103120"/>
            <a:ext cx="3236976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4778C"/>
                </a:solidFill>
                <a:latin typeface="微软雅黑"/>
              </a:rPr>
              <a:t>设计智能体产出 648 行设计说明书：52 点追溯矩阵 + 42 条规则逐条规格 + 测试设计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627632"/>
            <a:ext cx="3602736" cy="13716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84464" y="1773936"/>
            <a:ext cx="329184" cy="329184"/>
          </a:xfrm>
          <a:prstGeom prst="ellipse">
            <a:avLst/>
          </a:prstGeom>
          <a:solidFill>
            <a:srgbClr val="2B7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23376" y="1719072"/>
            <a:ext cx="28712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E2239"/>
                </a:solidFill>
                <a:latin typeface="微软雅黑"/>
              </a:rPr>
              <a:t>我再委派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103120"/>
            <a:ext cx="3236976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4778C"/>
                </a:solidFill>
                <a:latin typeface="微软雅黑"/>
              </a:rPr>
              <a:t>把设计说明书交给编码智能体：「严格按每一个规格编码，不得遗漏任何一条」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3218688"/>
            <a:ext cx="3602736" cy="13716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3232" y="3364992"/>
            <a:ext cx="329184" cy="329184"/>
          </a:xfrm>
          <a:prstGeom prst="ellipse">
            <a:avLst/>
          </a:prstGeom>
          <a:solidFill>
            <a:srgbClr val="E3A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2144" y="3310128"/>
            <a:ext cx="28712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E2239"/>
                </a:solidFill>
                <a:latin typeface="微软雅黑"/>
              </a:rPr>
              <a:t>AI 编码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3694176"/>
            <a:ext cx="3236976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4778C"/>
                </a:solidFill>
                <a:latin typeface="微软雅黑"/>
              </a:rPr>
              <a:t>oracle_compat.py 978 行、42 个规则类、解析器增强、前端分类展示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52544" y="3218688"/>
            <a:ext cx="3602736" cy="13716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498848" y="3364992"/>
            <a:ext cx="329184" cy="329184"/>
          </a:xfrm>
          <a:prstGeom prst="ellipse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0" y="3310128"/>
            <a:ext cx="28712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E2239"/>
                </a:solidFill>
                <a:latin typeface="微软雅黑"/>
              </a:rPr>
              <a:t>独立揭短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35424" y="3694176"/>
            <a:ext cx="3236976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4778C"/>
                </a:solidFill>
                <a:latin typeface="微软雅黑"/>
              </a:rPr>
              <a:t>测试+质检发现 3 个真缺陷：UNSIGNED 误报、R054 死代码、断言未更新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38160" y="3218688"/>
            <a:ext cx="3602736" cy="13716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284464" y="3364992"/>
            <a:ext cx="329184" cy="329184"/>
          </a:xfrm>
          <a:prstGeom prst="ellipse">
            <a:avLst/>
          </a:prstGeom>
          <a:solidFill>
            <a:srgbClr val="E3A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23376" y="3310128"/>
            <a:ext cx="28712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E2239"/>
                </a:solidFill>
                <a:latin typeface="微软雅黑"/>
              </a:rPr>
              <a:t>我裁决闭环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3694176"/>
            <a:ext cx="3236976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4778C"/>
                </a:solidFill>
                <a:latin typeface="微软雅黑"/>
              </a:rPr>
              <a:t>逐条确认根因 → 指挥修复 → 184 项复验全过 → 880 回归 0 失败，准出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4983480"/>
            <a:ext cx="11057839" cy="1143000"/>
          </a:xfrm>
          <a:prstGeom prst="roundRect">
            <a:avLst>
              <a:gd name="adj" fmla="val 10000"/>
            </a:avLst>
          </a:prstGeom>
          <a:solidFill>
            <a:srgbClr val="0E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24459" bIns="124459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3A93C"/>
                </a:solidFill>
                <a:latin typeface="微软雅黑"/>
              </a:rPr>
              <a:t>关键洞察</a:t>
            </a:r>
          </a:p>
          <a:p>
            <a:pPr algn="ctr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如果我不理解 TDSQL 的技术细节和原厂文档的每一个规范点，AI 不可能自动完成这些工作。</a:t>
            </a:r>
          </a:p>
          <a:p>
            <a:pPr algn="ctr">
              <a:lnSpc>
                <a:spcPct val="112000"/>
              </a:lnSpc>
              <a:spcBef>
                <a:spcPts val="300"/>
              </a:spcBef>
              <a:spcAft>
                <a:spcPts val="0"/>
              </a:spcAft>
            </a:pPr>
            <a:r>
              <a:rPr sz="1450" b="1">
                <a:solidFill>
                  <a:srgbClr val="E3A93C"/>
                </a:solidFill>
                <a:latin typeface="微软雅黑"/>
              </a:rPr>
              <a:t>是我的专家判断力，确保了规则的完整性与准确性。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1057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B7BD3"/>
                </a:solidFill>
                <a:latin typeface="微软雅黑"/>
              </a:rPr>
              <a:t>03 · 实战历程 · 典型案例一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105783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2239"/>
                </a:solidFill>
                <a:latin typeface="微软雅黑"/>
              </a:rPr>
              <a:t>成果：数月的工作量，一周交付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502920" cy="38100"/>
          </a:xfrm>
          <a:prstGeom prst="rect">
            <a:avLst/>
          </a:prstGeom>
          <a:solidFill>
            <a:srgbClr val="E3A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78C"/>
                </a:solidFill>
                <a:latin typeface="微软雅黑"/>
              </a:rPr>
              <a:t>AI赋能DBA创新实践 · TDSQL数据库SQL审核工具 v1.0.2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4778C"/>
                </a:solidFill>
                <a:latin typeface="微软雅黑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783080"/>
            <a:ext cx="2706624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6679" bIns="106679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B7BD3"/>
                </a:solidFill>
                <a:latin typeface="微软雅黑"/>
              </a:rPr>
              <a:t>42 条</a:t>
            </a:r>
          </a:p>
          <a:p>
            <a:pPr algn="ctr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</a:pPr>
            <a:r>
              <a:rPr sz="1350" b="1">
                <a:solidFill>
                  <a:srgbClr val="0E2239"/>
                </a:solidFill>
                <a:latin typeface="微软雅黑"/>
              </a:rPr>
              <a:t>新增审核规则</a:t>
            </a:r>
          </a:p>
          <a:p>
            <a:pPr algn="ctr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</a:pPr>
            <a:r>
              <a:rPr sz="1050" b="0">
                <a:solidFill>
                  <a:srgbClr val="64778C"/>
                </a:solidFill>
                <a:latin typeface="微软雅黑"/>
              </a:rPr>
              <a:t>R078 – R119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74136" y="1783080"/>
            <a:ext cx="2706624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6679" bIns="106679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B7BD3"/>
                </a:solidFill>
                <a:latin typeface="微软雅黑"/>
              </a:rPr>
              <a:t>52 / 52</a:t>
            </a:r>
          </a:p>
          <a:p>
            <a:pPr algn="ctr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</a:pPr>
            <a:r>
              <a:rPr sz="1350" b="1">
                <a:solidFill>
                  <a:srgbClr val="0E2239"/>
                </a:solidFill>
                <a:latin typeface="微软雅黑"/>
              </a:rPr>
              <a:t>原厂规范点覆盖</a:t>
            </a:r>
          </a:p>
          <a:p>
            <a:pPr algn="ctr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</a:pPr>
            <a:r>
              <a:rPr sz="1050" b="0">
                <a:solidFill>
                  <a:srgbClr val="64778C"/>
                </a:solidFill>
                <a:latin typeface="微软雅黑"/>
              </a:rPr>
              <a:t>100% 无遗漏追溯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1783080"/>
            <a:ext cx="2706624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6679" bIns="106679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B7BD3"/>
                </a:solidFill>
                <a:latin typeface="微软雅黑"/>
              </a:rPr>
              <a:t>184 项</a:t>
            </a:r>
          </a:p>
          <a:p>
            <a:pPr algn="ctr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</a:pPr>
            <a:r>
              <a:rPr sz="1350" b="1">
                <a:solidFill>
                  <a:srgbClr val="0E2239"/>
                </a:solidFill>
                <a:latin typeface="微软雅黑"/>
              </a:rPr>
              <a:t>规则级验收检查</a:t>
            </a:r>
          </a:p>
          <a:p>
            <a:pPr algn="ctr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</a:pPr>
            <a:r>
              <a:rPr sz="1050" b="0">
                <a:solidFill>
                  <a:srgbClr val="64778C"/>
                </a:solidFill>
                <a:latin typeface="微软雅黑"/>
              </a:rPr>
              <a:t>全部通过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88552" y="1783080"/>
            <a:ext cx="2706624" cy="2148840"/>
          </a:xfrm>
          <a:prstGeom prst="roundRect">
            <a:avLst>
              <a:gd name="adj" fmla="val 8000"/>
            </a:avLst>
          </a:prstGeom>
          <a:solidFill>
            <a:srgbClr val="0E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6679" bIns="106679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E3A93C"/>
                </a:solidFill>
                <a:latin typeface="微软雅黑"/>
              </a:rPr>
              <a:t>≈1 周</a:t>
            </a:r>
          </a:p>
          <a:p>
            <a:pPr algn="ctr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全流程耗时</a:t>
            </a:r>
          </a:p>
          <a:p>
            <a:pPr algn="ctr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</a:pPr>
            <a:r>
              <a:rPr sz="1050" b="0">
                <a:solidFill>
                  <a:srgbClr val="8FC2EE"/>
                </a:solidFill>
                <a:latin typeface="微软雅黑"/>
              </a:rPr>
              <a:t>传统方式需数月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4343400"/>
            <a:ext cx="11057839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142240" bIns="142240"/>
          <a:lstStyle/>
          <a:p>
            <a:pPr algn="l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</a:pPr>
            <a:r>
              <a:rPr sz="1350" b="1">
                <a:solidFill>
                  <a:srgbClr val="0E2239"/>
                </a:solidFill>
                <a:latin typeface="微软雅黑"/>
              </a:rPr>
              <a:t>上线后的每一次 SQL 审核，这 42 条规则都在自动工作：</a:t>
            </a:r>
          </a:p>
          <a:p>
            <a:pPr algn="l">
              <a:lnSpc>
                <a:spcPct val="140000"/>
              </a:lnSpc>
              <a:spcBef>
                <a:spcPts val="800"/>
              </a:spcBef>
              <a:spcAft>
                <a:spcPts val="0"/>
              </a:spcAft>
            </a:pPr>
            <a:r>
              <a:rPr sz="1350" b="0">
                <a:solidFill>
                  <a:srgbClr val="1C2B3A"/>
                </a:solidFill>
                <a:latin typeface="微软雅黑"/>
              </a:rPr>
              <a:t>开发再提交 </a:t>
            </a:r>
            <a:r>
              <a:rPr sz="1350" b="1">
                <a:solidFill>
                  <a:srgbClr val="CE544E"/>
                </a:solidFill>
                <a:latin typeface="微软雅黑"/>
              </a:rPr>
              <a:t>to_char / nvl / rownum / merge into</a:t>
            </a:r>
            <a:r>
              <a:rPr sz="1350" b="0">
                <a:solidFill>
                  <a:srgbClr val="1C2B3A"/>
                </a:solidFill>
                <a:latin typeface="微软雅黑"/>
              </a:rPr>
              <a:t> 等 Oracle 写法，审核工具当场拦截，并给出原厂文档对应的 TDSQL 改写方案。</a:t>
            </a:r>
          </a:p>
          <a:p>
            <a:pPr algn="l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</a:pPr>
            <a:r>
              <a:rPr sz="1300" b="1">
                <a:solidFill>
                  <a:srgbClr val="E3A93C"/>
                </a:solidFill>
                <a:latin typeface="微软雅黑"/>
              </a:rPr>
              <a:t>—— 原厂规范从「纸面文档」变成了「每一次提交都在执行的自动化防线」。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1057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B7BD3"/>
                </a:solidFill>
                <a:latin typeface="微软雅黑"/>
              </a:rPr>
              <a:t>03 · 实战历程 · 典型案例二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105783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2239"/>
                </a:solidFill>
                <a:latin typeface="微软雅黑"/>
              </a:rPr>
              <a:t>质检验收闭环：AI 给 AI 挑刺，我做裁决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502920" cy="38100"/>
          </a:xfrm>
          <a:prstGeom prst="rect">
            <a:avLst/>
          </a:prstGeom>
          <a:solidFill>
            <a:srgbClr val="E3A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78C"/>
                </a:solidFill>
                <a:latin typeface="微软雅黑"/>
              </a:rPr>
              <a:t>AI赋能DBA创新实践 · TDSQL数据库SQL审核工具 v1.0.2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4778C"/>
                </a:solidFill>
                <a:latin typeface="微软雅黑"/>
              </a:rP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54480"/>
            <a:ext cx="5212080" cy="1828800"/>
          </a:xfrm>
          <a:prstGeom prst="roundRect">
            <a:avLst>
              <a:gd name="adj" fmla="val 8000"/>
            </a:avLst>
          </a:prstGeom>
          <a:solidFill>
            <a:srgbClr val="FB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24459" bIns="124459"/>
          <a:lstStyle/>
          <a:p>
            <a:pPr algn="l">
              <a:lnSpc>
                <a:spcPct val="112000"/>
              </a:lnSpc>
              <a:spcBef>
                <a:spcPts val="400"/>
              </a:spcBef>
              <a:spcAft>
                <a:spcPts val="0"/>
              </a:spcAft>
            </a:pPr>
            <a:r>
              <a:rPr sz="1250" b="1">
                <a:solidFill>
                  <a:srgbClr val="CE544E"/>
                </a:solidFill>
                <a:latin typeface="微软雅黑"/>
              </a:rPr>
              <a:t>质检智能体的验收结论（原文）</a:t>
            </a:r>
          </a:p>
          <a:p>
            <a:pPr algn="l">
              <a:lnSpc>
                <a:spcPct val="145000"/>
              </a:lnSpc>
              <a:spcBef>
                <a:spcPts val="800"/>
              </a:spcBef>
              <a:spcAft>
                <a:spcPts val="0"/>
              </a:spcAft>
            </a:pPr>
            <a:r>
              <a:rPr sz="1300" b="0">
                <a:solidFill>
                  <a:srgbClr val="1C2B3A"/>
                </a:solidFill>
                <a:latin typeface="微软雅黑"/>
              </a:rPr>
              <a:t>「引擎本体是几轮交付里质量最高的……但仍不能准出：1 个军规是死代码、1 个高频误报、测试工作完全没做。」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53328" y="1554480"/>
            <a:ext cx="557784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24459" bIns="124459"/>
          <a:lstStyle/>
          <a:p>
            <a:pPr algn="l">
              <a:lnSpc>
                <a:spcPct val="112000"/>
              </a:lnSpc>
              <a:spcBef>
                <a:spcPts val="400"/>
              </a:spcBef>
              <a:spcAft>
                <a:spcPts val="0"/>
              </a:spcAft>
            </a:pPr>
            <a:r>
              <a:rPr sz="1250" b="1">
                <a:solidFill>
                  <a:srgbClr val="2B7BD3"/>
                </a:solidFill>
                <a:latin typeface="微软雅黑"/>
              </a:rPr>
              <a:t>我的处理（专家裁决）</a:t>
            </a:r>
          </a:p>
          <a:p>
            <a:pPr algn="l">
              <a:lnSpc>
                <a:spcPct val="125000"/>
              </a:lnSpc>
              <a:spcBef>
                <a:spcPts val="700"/>
              </a:spcBef>
              <a:spcAft>
                <a:spcPts val="0"/>
              </a:spcAft>
            </a:pPr>
            <a:r>
              <a:rPr sz="1200" b="0">
                <a:solidFill>
                  <a:srgbClr val="1C2B3A"/>
                </a:solidFill>
                <a:latin typeface="微软雅黑"/>
              </a:rPr>
              <a:t>●  逐条审核 4 个缺陷，确认根因分析准确</a:t>
            </a:r>
          </a:p>
          <a:p>
            <a:pPr algn="l">
              <a:lnSpc>
                <a:spcPct val="125000"/>
              </a:lnSpc>
              <a:spcBef>
                <a:spcPts val="700"/>
              </a:spcBef>
              <a:spcAft>
                <a:spcPts val="0"/>
              </a:spcAft>
            </a:pPr>
            <a:r>
              <a:rPr sz="1200" b="0">
                <a:solidFill>
                  <a:srgbClr val="1C2B3A"/>
                </a:solidFill>
                <a:latin typeface="微软雅黑"/>
              </a:rPr>
              <a:t>●  按优先级下达整改指令给编码智能体</a:t>
            </a:r>
          </a:p>
          <a:p>
            <a:pPr algn="l">
              <a:lnSpc>
                <a:spcPct val="125000"/>
              </a:lnSpc>
              <a:spcBef>
                <a:spcPts val="700"/>
              </a:spcBef>
              <a:spcAft>
                <a:spcPts val="0"/>
              </a:spcAft>
            </a:pPr>
            <a:r>
              <a:rPr sz="1200" b="0">
                <a:solidFill>
                  <a:srgbClr val="1C2B3A"/>
                </a:solidFill>
                <a:latin typeface="微软雅黑"/>
              </a:rPr>
              <a:t>●  要求复验口径：4 条自测 SQL + 全量回归 0 失败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657600"/>
            <a:ext cx="2706624" cy="960120"/>
          </a:xfrm>
          <a:prstGeom prst="roundRect">
            <a:avLst>
              <a:gd name="adj" fmla="val 10000"/>
            </a:avLst>
          </a:prstGeom>
          <a:solidFill>
            <a:srgbClr val="E4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88900" bIns="8890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E9E6B"/>
                </a:solidFill>
                <a:latin typeface="微软雅黑"/>
              </a:rPr>
              <a:t>✓ R117 误报</a:t>
            </a:r>
          </a:p>
          <a:p>
            <a:pPr algn="ctr">
              <a:lnSpc>
                <a:spcPct val="112000"/>
              </a:lnSpc>
              <a:spcBef>
                <a:spcPts val="300"/>
              </a:spcBef>
              <a:spcAft>
                <a:spcPts val="0"/>
              </a:spcAft>
            </a:pPr>
            <a:r>
              <a:rPr sz="1050" b="0">
                <a:solidFill>
                  <a:srgbClr val="1C2B3A"/>
                </a:solidFill>
                <a:latin typeface="微软雅黑"/>
              </a:rPr>
              <a:t>5 行代码修复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74136" y="3657600"/>
            <a:ext cx="2706624" cy="960120"/>
          </a:xfrm>
          <a:prstGeom prst="roundRect">
            <a:avLst>
              <a:gd name="adj" fmla="val 10000"/>
            </a:avLst>
          </a:prstGeom>
          <a:solidFill>
            <a:srgbClr val="E4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88900" bIns="8890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E9E6B"/>
                </a:solidFill>
                <a:latin typeface="微软雅黑"/>
              </a:rPr>
              <a:t>✓ R054 死代码</a:t>
            </a:r>
          </a:p>
          <a:p>
            <a:pPr algn="ctr">
              <a:lnSpc>
                <a:spcPct val="112000"/>
              </a:lnSpc>
              <a:spcBef>
                <a:spcPts val="300"/>
              </a:spcBef>
              <a:spcAft>
                <a:spcPts val="0"/>
              </a:spcAft>
            </a:pPr>
            <a:r>
              <a:rPr sz="1050" b="0">
                <a:solidFill>
                  <a:srgbClr val="1C2B3A"/>
                </a:solidFill>
                <a:latin typeface="微软雅黑"/>
              </a:rPr>
              <a:t>解析器+规则双层修复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3657600"/>
            <a:ext cx="2706624" cy="960120"/>
          </a:xfrm>
          <a:prstGeom prst="roundRect">
            <a:avLst>
              <a:gd name="adj" fmla="val 10000"/>
            </a:avLst>
          </a:prstGeom>
          <a:solidFill>
            <a:srgbClr val="E4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88900" bIns="8890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E9E6B"/>
                </a:solidFill>
                <a:latin typeface="微软雅黑"/>
              </a:rPr>
              <a:t>✓ 测试未做</a:t>
            </a:r>
          </a:p>
          <a:p>
            <a:pPr algn="ctr">
              <a:lnSpc>
                <a:spcPct val="112000"/>
              </a:lnSpc>
              <a:spcBef>
                <a:spcPts val="300"/>
              </a:spcBef>
              <a:spcAft>
                <a:spcPts val="0"/>
              </a:spcAft>
            </a:pPr>
            <a:r>
              <a:rPr sz="1050" b="0">
                <a:solidFill>
                  <a:srgbClr val="1C2B3A"/>
                </a:solidFill>
                <a:latin typeface="微软雅黑"/>
              </a:rPr>
              <a:t>103 条新单测补齐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88552" y="3657600"/>
            <a:ext cx="2706624" cy="960120"/>
          </a:xfrm>
          <a:prstGeom prst="roundRect">
            <a:avLst>
              <a:gd name="adj" fmla="val 10000"/>
            </a:avLst>
          </a:prstGeom>
          <a:solidFill>
            <a:srgbClr val="E4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88900" bIns="8890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E9E6B"/>
                </a:solidFill>
                <a:latin typeface="微软雅黑"/>
              </a:rPr>
              <a:t>✓ 文档口径</a:t>
            </a:r>
          </a:p>
          <a:p>
            <a:pPr algn="ctr">
              <a:lnSpc>
                <a:spcPct val="112000"/>
              </a:lnSpc>
              <a:spcBef>
                <a:spcPts val="300"/>
              </a:spcBef>
              <a:spcAft>
                <a:spcPts val="0"/>
              </a:spcAft>
            </a:pPr>
            <a:r>
              <a:rPr sz="1050" b="0">
                <a:solidFill>
                  <a:srgbClr val="1C2B3A"/>
                </a:solidFill>
                <a:latin typeface="微软雅黑"/>
              </a:rPr>
              <a:t>6 处更新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937760"/>
            <a:ext cx="11057839" cy="1188720"/>
          </a:xfrm>
          <a:prstGeom prst="roundRect">
            <a:avLst>
              <a:gd name="adj" fmla="val 10000"/>
            </a:avLst>
          </a:prstGeom>
          <a:solidFill>
            <a:srgbClr val="0E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24459" bIns="124459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8FC2EE"/>
                </a:solidFill>
                <a:latin typeface="微软雅黑"/>
              </a:rPr>
              <a:t>复验结果：</a:t>
            </a:r>
            <a:r>
              <a:rPr sz="1700" b="1">
                <a:solidFill>
                  <a:srgbClr val="E3A93C"/>
                </a:solidFill>
                <a:latin typeface="微软雅黑"/>
              </a:rPr>
              <a:t>880 passed · 0 failed</a:t>
            </a:r>
            <a:r>
              <a:rPr sz="1700" b="1">
                <a:solidFill>
                  <a:srgbClr val="8FC2EE"/>
                </a:solidFill>
                <a:latin typeface="微软雅黑"/>
              </a:rPr>
              <a:t>，准出上线。</a:t>
            </a:r>
          </a:p>
          <a:p>
            <a:pPr algn="ctr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微软雅黑"/>
              </a:rPr>
              <a:t>制衡的核心：编码智能体说「写对了」不算数 —— 必须过独立验证，再由我做最终裁决。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1057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B7BD3"/>
                </a:solidFill>
                <a:latin typeface="微软雅黑"/>
              </a:rPr>
              <a:t>03 · 实战历程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105783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2239"/>
                </a:solidFill>
                <a:latin typeface="微软雅黑"/>
              </a:rPr>
              <a:t>「无数次交互」的真实样貌：前端 V3.0 的四轮攻坚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502920" cy="38100"/>
          </a:xfrm>
          <a:prstGeom prst="rect">
            <a:avLst/>
          </a:prstGeom>
          <a:solidFill>
            <a:srgbClr val="E3A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78C"/>
                </a:solidFill>
                <a:latin typeface="微软雅黑"/>
              </a:rPr>
              <a:t>AI赋能DBA创新实践 · TDSQL数据库SQL审核工具 v1.0.2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4778C"/>
                </a:solidFill>
                <a:latin typeface="微软雅黑"/>
              </a:rP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72768"/>
            <a:ext cx="11057839" cy="98755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847088"/>
            <a:ext cx="960120" cy="438912"/>
          </a:xfrm>
          <a:prstGeom prst="roundRect">
            <a:avLst>
              <a:gd name="adj" fmla="val 50000"/>
            </a:avLst>
          </a:prstGeom>
          <a:solidFill>
            <a:srgbClr val="CE5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第 1 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92808" y="1645920"/>
            <a:ext cx="576072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B3A"/>
                </a:solidFill>
                <a:latin typeface="微软雅黑"/>
              </a:rPr>
              <a:t>验收发现 19 个页面中 11 个是「空壳」——提交说明与实际严重不符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36408" y="1645920"/>
            <a:ext cx="3749039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B7BD3"/>
                </a:solidFill>
                <a:latin typeface="微软雅黑"/>
              </a:rPr>
              <a:t>我发整改单：逐页列出问题 + 后端接口清单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706624"/>
            <a:ext cx="11057839" cy="98755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2980944"/>
            <a:ext cx="960120" cy="438912"/>
          </a:xfrm>
          <a:prstGeom prst="roundRect">
            <a:avLst>
              <a:gd name="adj" fmla="val 50000"/>
            </a:avLst>
          </a:prstGeom>
          <a:solidFill>
            <a:srgbClr val="E3A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第 2 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92808" y="2779776"/>
            <a:ext cx="576072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B3A"/>
                </a:solidFill>
                <a:latin typeface="微软雅黑"/>
              </a:rPr>
              <a:t>页面填上了，但表格全空。质检定位根因：响应数据「信封」未拆包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36408" y="2779776"/>
            <a:ext cx="3749039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B7BD3"/>
                </a:solidFill>
                <a:latin typeface="微软雅黑"/>
              </a:rPr>
              <a:t>我要求「傻瓜式」整改文档：逐行给出错误代码 → 正确代码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840480"/>
            <a:ext cx="11057839" cy="98755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1520" y="4114800"/>
            <a:ext cx="960120" cy="438912"/>
          </a:xfrm>
          <a:prstGeom prst="roundRect">
            <a:avLst>
              <a:gd name="adj" fmla="val 50000"/>
            </a:avLst>
          </a:prstGeom>
          <a:solidFill>
            <a:srgbClr val="2B7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第 3 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92808" y="3913632"/>
            <a:ext cx="576072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B3A"/>
                </a:solidFill>
                <a:latin typeface="微软雅黑"/>
              </a:rPr>
              <a:t>12 处解包全部修复，仅剩 2 个写接口参数格式错误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36408" y="3913632"/>
            <a:ext cx="3749039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B7BD3"/>
                </a:solidFill>
                <a:latin typeface="微软雅黑"/>
              </a:rPr>
              <a:t>我给出照抄级修复代码，并要求「亲手点一遍再交付」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974336"/>
            <a:ext cx="11057839" cy="98755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31520" y="5248656"/>
            <a:ext cx="960120" cy="438912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第 4 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92808" y="5047488"/>
            <a:ext cx="576072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B3A"/>
                </a:solidFill>
                <a:latin typeface="微软雅黑"/>
              </a:rPr>
              <a:t>全部修复验证通过，RBAC 顺手校正 —— 验收通过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36408" y="5047488"/>
            <a:ext cx="3749039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E9E6B"/>
                </a:solidFill>
                <a:latin typeface="微软雅黑"/>
              </a:rPr>
              <a:t>四轮不是失败，是方法论在工作：每一轮都可度量、可收敛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6144768"/>
            <a:ext cx="110578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64778C"/>
                </a:solidFill>
                <a:latin typeface="微软雅黑"/>
              </a:rPr>
              <a:t>整个项目中，这样的「验收 → 整改 → 复验」循环发生了十余次 —— 交互越充分，AI 的输出越接近专家标准。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235440" y="-2377440"/>
            <a:ext cx="5852160" cy="5852160"/>
          </a:xfrm>
          <a:prstGeom prst="ellipse">
            <a:avLst/>
          </a:prstGeom>
          <a:solidFill>
            <a:srgbClr val="12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4023360" cy="4023360"/>
          </a:xfrm>
          <a:prstGeom prst="ellipse">
            <a:avLst/>
          </a:prstGeom>
          <a:noFill/>
          <a:ln w="15240">
            <a:solidFill>
              <a:srgbClr val="1B4A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07040" y="4480560"/>
            <a:ext cx="2926080" cy="2926080"/>
          </a:xfrm>
          <a:prstGeom prst="ellipse">
            <a:avLst/>
          </a:prstGeom>
          <a:noFill/>
          <a:ln w="12700">
            <a:solidFill>
              <a:srgbClr val="1B4A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4572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0" b="1">
                <a:solidFill>
                  <a:srgbClr val="1D416B"/>
                </a:solidFill>
                <a:latin typeface="微软雅黑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30632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微软雅黑"/>
              </a:rPr>
              <a:t>提示词工程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" y="3913632"/>
            <a:ext cx="594360" cy="44450"/>
          </a:xfrm>
          <a:prstGeom prst="rect">
            <a:avLst/>
          </a:prstGeom>
          <a:solidFill>
            <a:srgbClr val="E3A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" y="4114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8FC2EE"/>
                </a:solidFill>
                <a:latin typeface="微软雅黑"/>
              </a:rPr>
              <a:t>让 AI 完全理解人的意图 —— 六条铁律与四个实录</a:t>
            </a:r>
          </a:p>
        </p:txBody>
      </p:sp>
      <p:sp>
        <p:nvSpPr>
          <p:cNvPr id="10" name="Oval 9"/>
          <p:cNvSpPr/>
          <p:nvPr/>
        </p:nvSpPr>
        <p:spPr>
          <a:xfrm>
            <a:off x="630936" y="5577840"/>
            <a:ext cx="128016" cy="128016"/>
          </a:xfrm>
          <a:prstGeom prst="ellipse">
            <a:avLst/>
          </a:prstGeom>
          <a:solidFill>
            <a:srgbClr val="2A4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9456" y="57607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E7793"/>
                </a:solidFill>
                <a:latin typeface="微软雅黑"/>
              </a:rPr>
              <a:t>背景与挑战</a:t>
            </a:r>
          </a:p>
        </p:txBody>
      </p:sp>
      <p:sp>
        <p:nvSpPr>
          <p:cNvPr id="12" name="Oval 11"/>
          <p:cNvSpPr/>
          <p:nvPr/>
        </p:nvSpPr>
        <p:spPr>
          <a:xfrm>
            <a:off x="2112264" y="5577840"/>
            <a:ext cx="128016" cy="128016"/>
          </a:xfrm>
          <a:prstGeom prst="ellipse">
            <a:avLst/>
          </a:prstGeom>
          <a:solidFill>
            <a:srgbClr val="2A4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00784" y="57607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E7793"/>
                </a:solidFill>
                <a:latin typeface="微软雅黑"/>
              </a:rPr>
              <a:t>方法论</a:t>
            </a:r>
          </a:p>
        </p:txBody>
      </p:sp>
      <p:sp>
        <p:nvSpPr>
          <p:cNvPr id="14" name="Oval 13"/>
          <p:cNvSpPr/>
          <p:nvPr/>
        </p:nvSpPr>
        <p:spPr>
          <a:xfrm>
            <a:off x="3593592" y="5577840"/>
            <a:ext cx="128016" cy="128016"/>
          </a:xfrm>
          <a:prstGeom prst="ellipse">
            <a:avLst/>
          </a:prstGeom>
          <a:solidFill>
            <a:srgbClr val="2A4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82112" y="57607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E7793"/>
                </a:solidFill>
                <a:latin typeface="微软雅黑"/>
              </a:rPr>
              <a:t>实战历程</a:t>
            </a:r>
          </a:p>
        </p:txBody>
      </p:sp>
      <p:sp>
        <p:nvSpPr>
          <p:cNvPr id="16" name="Oval 15"/>
          <p:cNvSpPr/>
          <p:nvPr/>
        </p:nvSpPr>
        <p:spPr>
          <a:xfrm>
            <a:off x="5074920" y="5577840"/>
            <a:ext cx="128016" cy="128016"/>
          </a:xfrm>
          <a:prstGeom prst="ellipse">
            <a:avLst/>
          </a:prstGeom>
          <a:solidFill>
            <a:srgbClr val="E3A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57607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E3A93C"/>
                </a:solidFill>
                <a:latin typeface="微软雅黑"/>
              </a:rPr>
              <a:t>提示词工程</a:t>
            </a:r>
          </a:p>
        </p:txBody>
      </p:sp>
      <p:sp>
        <p:nvSpPr>
          <p:cNvPr id="18" name="Oval 17"/>
          <p:cNvSpPr/>
          <p:nvPr/>
        </p:nvSpPr>
        <p:spPr>
          <a:xfrm>
            <a:off x="6556248" y="5577840"/>
            <a:ext cx="128016" cy="128016"/>
          </a:xfrm>
          <a:prstGeom prst="ellipse">
            <a:avLst/>
          </a:prstGeom>
          <a:solidFill>
            <a:srgbClr val="2A4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44768" y="57607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E7793"/>
                </a:solidFill>
                <a:latin typeface="微软雅黑"/>
              </a:rPr>
              <a:t>成果与数据</a:t>
            </a:r>
          </a:p>
        </p:txBody>
      </p:sp>
      <p:sp>
        <p:nvSpPr>
          <p:cNvPr id="20" name="Oval 19"/>
          <p:cNvSpPr/>
          <p:nvPr/>
        </p:nvSpPr>
        <p:spPr>
          <a:xfrm>
            <a:off x="8037576" y="5577840"/>
            <a:ext cx="128016" cy="128016"/>
          </a:xfrm>
          <a:prstGeom prst="ellipse">
            <a:avLst/>
          </a:prstGeom>
          <a:solidFill>
            <a:srgbClr val="2A4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26096" y="57607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E7793"/>
                </a:solidFill>
                <a:latin typeface="微软雅黑"/>
              </a:rPr>
              <a:t>能力提升与推广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1057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B7BD3"/>
                </a:solidFill>
                <a:latin typeface="微软雅黑"/>
              </a:rPr>
              <a:t>04 · 提示词工程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105783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2239"/>
                </a:solidFill>
                <a:latin typeface="微软雅黑"/>
              </a:rPr>
              <a:t>与 AI 高效协作的六条铁律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502920" cy="38100"/>
          </a:xfrm>
          <a:prstGeom prst="rect">
            <a:avLst/>
          </a:prstGeom>
          <a:solidFill>
            <a:srgbClr val="E3A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78C"/>
                </a:solidFill>
                <a:latin typeface="微软雅黑"/>
              </a:rPr>
              <a:t>AI赋能DBA创新实践 · TDSQL数据库SQL审核工具 v1.0.2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4778C"/>
                </a:solidFill>
                <a:latin typeface="微软雅黑"/>
              </a:rPr>
              <a:t>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27632"/>
            <a:ext cx="3602736" cy="138988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6679" bIns="106679"/>
          <a:lstStyle/>
          <a:p>
            <a:pPr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</a:pPr>
            <a:r>
              <a:rPr sz="1200" b="1">
                <a:solidFill>
                  <a:srgbClr val="2B7BD3"/>
                </a:solidFill>
                <a:latin typeface="微软雅黑"/>
              </a:rPr>
              <a:t>铁律 1  </a:t>
            </a:r>
            <a:r>
              <a:rPr sz="1500" b="1">
                <a:solidFill>
                  <a:srgbClr val="0E2239"/>
                </a:solidFill>
                <a:latin typeface="微软雅黑"/>
              </a:rPr>
              <a:t>专家先行</a:t>
            </a:r>
          </a:p>
          <a:p>
            <a:pPr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1C2B3A"/>
                </a:solidFill>
                <a:latin typeface="微软雅黑"/>
              </a:rPr>
              <a:t>先想清楚再让 AI 做，不让 AI 替你做决策</a:t>
            </a:r>
          </a:p>
          <a:p>
            <a:pPr algn="l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</a:pPr>
            <a:r>
              <a:rPr sz="1000" b="0">
                <a:solidFill>
                  <a:srgbClr val="CE544E"/>
                </a:solidFill>
                <a:latin typeface="微软雅黑"/>
              </a:rPr>
              <a:t>反例：「帮我设计一个系统」→ 太模糊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627632"/>
            <a:ext cx="3602736" cy="31750"/>
          </a:xfrm>
          <a:prstGeom prst="rect">
            <a:avLst/>
          </a:prstGeom>
          <a:solidFill>
            <a:srgbClr val="2B7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52544" y="1627632"/>
            <a:ext cx="3602736" cy="138988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6679" bIns="106679"/>
          <a:lstStyle/>
          <a:p>
            <a:pPr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</a:pPr>
            <a:r>
              <a:rPr sz="1200" b="1">
                <a:solidFill>
                  <a:srgbClr val="2B7BD3"/>
                </a:solidFill>
                <a:latin typeface="微软雅黑"/>
              </a:rPr>
              <a:t>铁律 2  </a:t>
            </a:r>
            <a:r>
              <a:rPr sz="1500" b="1">
                <a:solidFill>
                  <a:srgbClr val="0E2239"/>
                </a:solidFill>
                <a:latin typeface="微软雅黑"/>
              </a:rPr>
              <a:t>设计先行</a:t>
            </a:r>
          </a:p>
          <a:p>
            <a:pPr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1C2B3A"/>
                </a:solidFill>
                <a:latin typeface="微软雅黑"/>
              </a:rPr>
              <a:t>先出设计说明书，再让编码智能体实现</a:t>
            </a:r>
          </a:p>
          <a:p>
            <a:pPr algn="l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</a:pPr>
            <a:r>
              <a:rPr sz="1000" b="0">
                <a:solidFill>
                  <a:srgbClr val="CE544E"/>
                </a:solidFill>
                <a:latin typeface="微软雅黑"/>
              </a:rPr>
              <a:t>反例：「直接写代码」→ 方向偏差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52544" y="1627632"/>
            <a:ext cx="3602736" cy="31750"/>
          </a:xfrm>
          <a:prstGeom prst="rect">
            <a:avLst/>
          </a:prstGeom>
          <a:solidFill>
            <a:srgbClr val="2B7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138160" y="1627632"/>
            <a:ext cx="3602736" cy="138988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6679" bIns="106679"/>
          <a:lstStyle/>
          <a:p>
            <a:pPr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</a:pPr>
            <a:r>
              <a:rPr sz="1200" b="1">
                <a:solidFill>
                  <a:srgbClr val="2B7BD3"/>
                </a:solidFill>
                <a:latin typeface="微软雅黑"/>
              </a:rPr>
              <a:t>铁律 3  </a:t>
            </a:r>
            <a:r>
              <a:rPr sz="1500" b="1">
                <a:solidFill>
                  <a:srgbClr val="0E2239"/>
                </a:solidFill>
                <a:latin typeface="微软雅黑"/>
              </a:rPr>
              <a:t>精确约束</a:t>
            </a:r>
          </a:p>
          <a:p>
            <a:pPr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1C2B3A"/>
                </a:solidFill>
                <a:latin typeface="微软雅黑"/>
              </a:rPr>
              <a:t>给出明确的验收标准与边界条件</a:t>
            </a:r>
          </a:p>
          <a:p>
            <a:pPr algn="l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</a:pPr>
            <a:r>
              <a:rPr sz="1000" b="0">
                <a:solidFill>
                  <a:srgbClr val="CE544E"/>
                </a:solidFill>
                <a:latin typeface="微软雅黑"/>
              </a:rPr>
              <a:t>反例：「优化一下性能」→ 无标准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627632"/>
            <a:ext cx="3602736" cy="31750"/>
          </a:xfrm>
          <a:prstGeom prst="rect">
            <a:avLst/>
          </a:prstGeom>
          <a:solidFill>
            <a:srgbClr val="2B7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66928" y="3255264"/>
            <a:ext cx="3602736" cy="138988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6679" bIns="106679"/>
          <a:lstStyle/>
          <a:p>
            <a:pPr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</a:pPr>
            <a:r>
              <a:rPr sz="1200" b="1">
                <a:solidFill>
                  <a:srgbClr val="2B7BD3"/>
                </a:solidFill>
                <a:latin typeface="微软雅黑"/>
              </a:rPr>
              <a:t>铁律 4  </a:t>
            </a:r>
            <a:r>
              <a:rPr sz="1500" b="1">
                <a:solidFill>
                  <a:srgbClr val="0E2239"/>
                </a:solidFill>
                <a:latin typeface="微软雅黑"/>
              </a:rPr>
              <a:t>闭环验证</a:t>
            </a:r>
          </a:p>
          <a:p>
            <a:pPr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1C2B3A"/>
                </a:solidFill>
                <a:latin typeface="微软雅黑"/>
              </a:rPr>
              <a:t>每一轮交付必须经过独立测试验证</a:t>
            </a:r>
          </a:p>
          <a:p>
            <a:pPr algn="l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</a:pPr>
            <a:r>
              <a:rPr sz="1000" b="0">
                <a:solidFill>
                  <a:srgbClr val="CE544E"/>
                </a:solidFill>
                <a:latin typeface="微软雅黑"/>
              </a:rPr>
              <a:t>反例：「写完就提交」→ 质量失控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255264"/>
            <a:ext cx="3602736" cy="31750"/>
          </a:xfrm>
          <a:prstGeom prst="rect">
            <a:avLst/>
          </a:prstGeom>
          <a:solidFill>
            <a:srgbClr val="2B7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52544" y="3255264"/>
            <a:ext cx="3602736" cy="138988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6679" bIns="106679"/>
          <a:lstStyle/>
          <a:p>
            <a:pPr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</a:pPr>
            <a:r>
              <a:rPr sz="1200" b="1">
                <a:solidFill>
                  <a:srgbClr val="2B7BD3"/>
                </a:solidFill>
                <a:latin typeface="微软雅黑"/>
              </a:rPr>
              <a:t>铁律 5  </a:t>
            </a:r>
            <a:r>
              <a:rPr sz="1500" b="1">
                <a:solidFill>
                  <a:srgbClr val="0E2239"/>
                </a:solidFill>
                <a:latin typeface="微软雅黑"/>
              </a:rPr>
              <a:t>迭代改进</a:t>
            </a:r>
          </a:p>
          <a:p>
            <a:pPr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1C2B3A"/>
                </a:solidFill>
                <a:latin typeface="微软雅黑"/>
              </a:rPr>
              <a:t>接受 AI 不完美，持续推动收敛</a:t>
            </a:r>
          </a:p>
          <a:p>
            <a:pPr algn="l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</a:pPr>
            <a:r>
              <a:rPr sz="1000" b="0">
                <a:solidFill>
                  <a:srgbClr val="CE544E"/>
                </a:solidFill>
                <a:latin typeface="微软雅黑"/>
              </a:rPr>
              <a:t>反例：「一次就要完美」→ 不现实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52544" y="3255264"/>
            <a:ext cx="3602736" cy="31750"/>
          </a:xfrm>
          <a:prstGeom prst="rect">
            <a:avLst/>
          </a:prstGeom>
          <a:solidFill>
            <a:srgbClr val="2B7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38160" y="3255264"/>
            <a:ext cx="3602736" cy="138988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6679" bIns="106679"/>
          <a:lstStyle/>
          <a:p>
            <a:pPr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</a:pPr>
            <a:r>
              <a:rPr sz="1200" b="1">
                <a:solidFill>
                  <a:srgbClr val="2B7BD3"/>
                </a:solidFill>
                <a:latin typeface="微软雅黑"/>
              </a:rPr>
              <a:t>铁律 6  </a:t>
            </a:r>
            <a:r>
              <a:rPr sz="1500" b="1">
                <a:solidFill>
                  <a:srgbClr val="0E2239"/>
                </a:solidFill>
                <a:latin typeface="微软雅黑"/>
              </a:rPr>
              <a:t>角色分工</a:t>
            </a:r>
          </a:p>
          <a:p>
            <a:pPr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1C2B3A"/>
                </a:solidFill>
                <a:latin typeface="微软雅黑"/>
              </a:rPr>
              <a:t>设计/编码/测试各司其职，不混岗</a:t>
            </a:r>
          </a:p>
          <a:p>
            <a:pPr algn="l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</a:pPr>
            <a:r>
              <a:rPr sz="1000" b="0">
                <a:solidFill>
                  <a:srgbClr val="CE544E"/>
                </a:solidFill>
                <a:latin typeface="微软雅黑"/>
              </a:rPr>
              <a:t>反例：「让编码的做测试」→ 无制衡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3255264"/>
            <a:ext cx="3602736" cy="31750"/>
          </a:xfrm>
          <a:prstGeom prst="rect">
            <a:avLst/>
          </a:prstGeom>
          <a:solidFill>
            <a:srgbClr val="2B7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66928" y="5166360"/>
            <a:ext cx="11057839" cy="914400"/>
          </a:xfrm>
          <a:prstGeom prst="roundRect">
            <a:avLst>
              <a:gd name="adj" fmla="val 10000"/>
            </a:avLst>
          </a:prstGeom>
          <a:solidFill>
            <a:srgbClr val="E4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88900" bIns="8890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2B7BD3"/>
                </a:solidFill>
                <a:latin typeface="微软雅黑"/>
              </a:rPr>
              <a:t>一句话总结：</a:t>
            </a:r>
            <a:r>
              <a:rPr sz="1350" b="0">
                <a:solidFill>
                  <a:srgbClr val="0E2239"/>
                </a:solidFill>
                <a:latin typeface="微软雅黑"/>
              </a:rPr>
              <a:t>把 AI 当成能力极强但需要明确指令的新员工 —— 你给的目标越清晰、验收越严格，它的产出越接近专家水准。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1057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B7BD3"/>
                </a:solidFill>
                <a:latin typeface="微软雅黑"/>
              </a:rPr>
              <a:t>04 · 提示词工程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105783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2239"/>
                </a:solidFill>
                <a:latin typeface="微软雅黑"/>
              </a:rPr>
              <a:t>提示词实录（一）：任务委派 与 缺陷修复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502920" cy="38100"/>
          </a:xfrm>
          <a:prstGeom prst="rect">
            <a:avLst/>
          </a:prstGeom>
          <a:solidFill>
            <a:srgbClr val="E3A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78C"/>
                </a:solidFill>
                <a:latin typeface="微软雅黑"/>
              </a:rPr>
              <a:t>AI赋能DBA创新实践 · TDSQL数据库SQL审核工具 v1.0.2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4778C"/>
                </a:solidFill>
                <a:latin typeface="微软雅黑"/>
              </a:rPr>
              <a:t>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72768"/>
            <a:ext cx="5440680" cy="42976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9808" y="1737360"/>
            <a:ext cx="2011680" cy="411480"/>
          </a:xfrm>
          <a:prstGeom prst="roundRect">
            <a:avLst>
              <a:gd name="adj" fmla="val 50000"/>
            </a:avLst>
          </a:prstGeom>
          <a:solidFill>
            <a:srgbClr val="2B7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微软雅黑"/>
              </a:rPr>
              <a:t>模式一 · 任务委派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2286000"/>
            <a:ext cx="5074920" cy="2697480"/>
          </a:xfrm>
          <a:prstGeom prst="roundRect">
            <a:avLst>
              <a:gd name="adj" fmla="val 5000"/>
            </a:avLst>
          </a:prstGeom>
          <a:solidFill>
            <a:srgbClr val="F0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9700" rIns="139700" tIns="97789" bIns="97789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E4258"/>
                </a:solidFill>
                <a:latin typeface="微软雅黑"/>
              </a:rPr>
              <a:t>“你从 GitHub 更新一下最新内容，然后把设计说明书的</a:t>
            </a:r>
          </a:p>
          <a:p>
            <a:pPr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2E4258"/>
                </a:solidFill>
                <a:latin typeface="微软雅黑"/>
              </a:rPr>
              <a:t>内容严格按照要求进行编码开发。设计说明书位置在</a:t>
            </a:r>
          </a:p>
          <a:p>
            <a:pPr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2E4258"/>
                </a:solidFill>
                <a:latin typeface="微软雅黑"/>
              </a:rPr>
              <a:t>docs/xxx.md，你自己取一下。</a:t>
            </a:r>
          </a:p>
          <a:p>
            <a:pPr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2E4258"/>
                </a:solidFill>
                <a:latin typeface="微软雅黑"/>
              </a:rPr>
              <a:t/>
            </a:r>
          </a:p>
          <a:p>
            <a:pPr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2E4258"/>
                </a:solidFill>
                <a:latin typeface="微软雅黑"/>
              </a:rPr>
              <a:t>完成后自行开展一轮冒烟测试，冒烟测试通过后向我</a:t>
            </a:r>
          </a:p>
          <a:p>
            <a:pPr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2E4258"/>
                </a:solidFill>
                <a:latin typeface="微软雅黑"/>
              </a:rPr>
              <a:t>汇报，我会让测试智能体进行 SIT 和 UAT 测试。”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5065776"/>
            <a:ext cx="5074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B7BD3"/>
                </a:solidFill>
                <a:latin typeface="微软雅黑"/>
              </a:rPr>
              <a:t>要点：</a:t>
            </a:r>
            <a:r>
              <a:rPr sz="1050" b="0">
                <a:solidFill>
                  <a:srgbClr val="64778C"/>
                </a:solidFill>
                <a:latin typeface="微软雅黑"/>
              </a:rPr>
              <a:t>明确输入（设计说明书）、明确流程（编码→冒烟→汇报）、明确后续（测试智能体接手）。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0488" y="1572768"/>
            <a:ext cx="5440680" cy="42976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73368" y="1737360"/>
            <a:ext cx="2011680" cy="411480"/>
          </a:xfrm>
          <a:prstGeom prst="roundRect">
            <a:avLst>
              <a:gd name="adj" fmla="val 50000"/>
            </a:avLst>
          </a:prstGeom>
          <a:solidFill>
            <a:srgbClr val="E3A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微软雅黑"/>
              </a:rPr>
              <a:t>模式二 · 缺陷修复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73368" y="2286000"/>
            <a:ext cx="5074920" cy="2697480"/>
          </a:xfrm>
          <a:prstGeom prst="roundRect">
            <a:avLst>
              <a:gd name="adj" fmla="val 5000"/>
            </a:avLst>
          </a:prstGeom>
          <a:solidFill>
            <a:srgbClr val="F0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9700" rIns="139700" tIns="97789" bIns="97789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E4258"/>
                </a:solidFill>
                <a:latin typeface="微软雅黑"/>
              </a:rPr>
              <a:t>“这是测试智能体的测试报告，你照着修复。</a:t>
            </a:r>
          </a:p>
          <a:p>
            <a:pPr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2E4258"/>
                </a:solidFill>
                <a:latin typeface="微软雅黑"/>
              </a:rPr>
              <a:t>改好后我让测试智能体复测。”</a:t>
            </a:r>
          </a:p>
          <a:p>
            <a:pPr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2E4258"/>
                </a:solidFill>
                <a:latin typeface="微软雅黑"/>
              </a:rPr>
              <a:t/>
            </a:r>
          </a:p>
          <a:p>
            <a:pPr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2E4258"/>
                </a:solidFill>
                <a:latin typeface="微软雅黑"/>
              </a:rPr>
              <a:t/>
            </a:r>
          </a:p>
          <a:p>
            <a:pPr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2E4258"/>
                </a:solidFill>
                <a:latin typeface="微软雅黑"/>
              </a:rPr>
              <a:t>（把测试报告原样传递，不做二次转译）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5065776"/>
            <a:ext cx="5074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3A93C"/>
                </a:solidFill>
                <a:latin typeface="微软雅黑"/>
              </a:rPr>
              <a:t>要点：</a:t>
            </a:r>
            <a:r>
              <a:rPr sz="1050" b="0">
                <a:solidFill>
                  <a:srgbClr val="64778C"/>
                </a:solidFill>
                <a:latin typeface="微软雅黑"/>
              </a:rPr>
              <a:t>直接传递测试报告让 AI 自行分析修复，不过度指导；「复测」预告形成压力闭环。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1057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B7BD3"/>
                </a:solidFill>
                <a:latin typeface="微软雅黑"/>
              </a:rPr>
              <a:t>04 · 提示词工程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105783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2239"/>
                </a:solidFill>
                <a:latin typeface="微软雅黑"/>
              </a:rPr>
              <a:t>提示词实录（二）：质检驱动 与 需求定义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502920" cy="38100"/>
          </a:xfrm>
          <a:prstGeom prst="rect">
            <a:avLst/>
          </a:prstGeom>
          <a:solidFill>
            <a:srgbClr val="E3A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78C"/>
                </a:solidFill>
                <a:latin typeface="微软雅黑"/>
              </a:rPr>
              <a:t>AI赋能DBA创新实践 · TDSQL数据库SQL审核工具 v1.0.2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4778C"/>
                </a:solidFill>
                <a:latin typeface="微软雅黑"/>
              </a:rPr>
              <a:t>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72768"/>
            <a:ext cx="5440680" cy="42976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9808" y="1737360"/>
            <a:ext cx="2011680" cy="411480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微软雅黑"/>
              </a:rPr>
              <a:t>模式三 · 质检驱动整改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2286000"/>
            <a:ext cx="5074920" cy="2697480"/>
          </a:xfrm>
          <a:prstGeom prst="roundRect">
            <a:avLst>
              <a:gd name="adj" fmla="val 5000"/>
            </a:avLst>
          </a:prstGeom>
          <a:solidFill>
            <a:srgbClr val="F0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9700" rIns="139700" tIns="97789" bIns="97789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E4258"/>
                </a:solidFill>
                <a:latin typeface="微软雅黑"/>
              </a:rPr>
              <a:t>“我让设计智能体开展了一轮质检验收，结论是</a:t>
            </a:r>
          </a:p>
          <a:p>
            <a:pPr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2E4258"/>
                </a:solidFill>
                <a:latin typeface="微软雅黑"/>
              </a:rPr>
              <a:t>不予准出，质检意见在 docs/xxx.md，你拿下来</a:t>
            </a:r>
          </a:p>
          <a:p>
            <a:pPr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2E4258"/>
                </a:solidFill>
                <a:latin typeface="微软雅黑"/>
              </a:rPr>
              <a:t>照着改一下。”</a:t>
            </a:r>
          </a:p>
          <a:p>
            <a:pPr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2E4258"/>
                </a:solidFill>
                <a:latin typeface="微软雅黑"/>
              </a:rPr>
              <a:t/>
            </a:r>
          </a:p>
          <a:p>
            <a:pPr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2E4258"/>
                </a:solidFill>
                <a:latin typeface="微软雅黑"/>
              </a:rPr>
              <a:t>（质检报告里每个缺陷带：根因定位 + 精确到</a:t>
            </a:r>
          </a:p>
          <a:p>
            <a:pPr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2E4258"/>
                </a:solidFill>
                <a:latin typeface="微软雅黑"/>
              </a:rPr>
              <a:t>行号的修复指引 + 修完的自测 SQL）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5065776"/>
            <a:ext cx="5074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E9E6B"/>
                </a:solidFill>
                <a:latin typeface="微软雅黑"/>
              </a:rPr>
              <a:t>要点：</a:t>
            </a:r>
            <a:r>
              <a:rPr sz="1050" b="0">
                <a:solidFill>
                  <a:srgbClr val="64778C"/>
                </a:solidFill>
                <a:latin typeface="微软雅黑"/>
              </a:rPr>
              <a:t>引入独立质检角色，用质检报告驱动修复；整改单越「傻瓜式」，修复越精准。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0488" y="1572768"/>
            <a:ext cx="5440680" cy="42976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73368" y="1737360"/>
            <a:ext cx="2011680" cy="411480"/>
          </a:xfrm>
          <a:prstGeom prst="roundRect">
            <a:avLst>
              <a:gd name="adj" fmla="val 50000"/>
            </a:avLst>
          </a:prstGeom>
          <a:solidFill>
            <a:srgbClr val="2B7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微软雅黑"/>
              </a:rPr>
              <a:t>模式四 · 需求定义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73368" y="2286000"/>
            <a:ext cx="5074920" cy="2697480"/>
          </a:xfrm>
          <a:prstGeom prst="roundRect">
            <a:avLst>
              <a:gd name="adj" fmla="val 5000"/>
            </a:avLst>
          </a:prstGeom>
          <a:solidFill>
            <a:srgbClr val="F0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9700" rIns="139700" tIns="97789" bIns="97789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E4258"/>
                </a:solidFill>
                <a:latin typeface="微软雅黑"/>
              </a:rPr>
              <a:t>“原厂今天给过来一份文档《Oracle迁移TDSQL改造</a:t>
            </a:r>
          </a:p>
          <a:p>
            <a:pPr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2E4258"/>
                </a:solidFill>
                <a:latin typeface="微软雅黑"/>
              </a:rPr>
              <a:t>适配方案》，给出了一些 TDSQL 使用规范，比如</a:t>
            </a:r>
          </a:p>
          <a:p>
            <a:pPr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2E4258"/>
                </a:solidFill>
                <a:latin typeface="微软雅黑"/>
              </a:rPr>
              <a:t>to_char 函数不支持需要替换改写等。这些内容对</a:t>
            </a:r>
          </a:p>
          <a:p>
            <a:pPr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2E4258"/>
                </a:solidFill>
                <a:latin typeface="微软雅黑"/>
              </a:rPr>
              <a:t>使用 TDSQL 的业务系统至关重要，现在急需把文档</a:t>
            </a:r>
          </a:p>
          <a:p>
            <a:pPr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2E4258"/>
                </a:solidFill>
                <a:latin typeface="微软雅黑"/>
              </a:rPr>
              <a:t>内容全部无遗漏地添加到审核规则库中。”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5065776"/>
            <a:ext cx="5074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B7BD3"/>
                </a:solidFill>
                <a:latin typeface="微软雅黑"/>
              </a:rPr>
              <a:t>要点：</a:t>
            </a:r>
            <a:r>
              <a:rPr sz="1050" b="0">
                <a:solidFill>
                  <a:srgbClr val="64778C"/>
                </a:solidFill>
                <a:latin typeface="微软雅黑"/>
              </a:rPr>
              <a:t>说清业务背景、紧迫程度、核心要求（无遗漏）——让 AI 理解「什么最重要」。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1057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B7BD3"/>
                </a:solidFill>
                <a:latin typeface="微软雅黑"/>
              </a:rPr>
              <a:t>04 · 提示词工程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105783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2239"/>
                </a:solidFill>
                <a:latin typeface="微软雅黑"/>
              </a:rPr>
              <a:t>踩过的坑：五大陷阱与正确做法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502920" cy="38100"/>
          </a:xfrm>
          <a:prstGeom prst="rect">
            <a:avLst/>
          </a:prstGeom>
          <a:solidFill>
            <a:srgbClr val="E3A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78C"/>
                </a:solidFill>
                <a:latin typeface="微软雅黑"/>
              </a:rPr>
              <a:t>AI赋能DBA创新实践 · TDSQL数据库SQL审核工具 v1.0.2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4778C"/>
                </a:solidFill>
                <a:latin typeface="微软雅黑"/>
              </a:rPr>
              <a:t>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72768"/>
            <a:ext cx="11057839" cy="475488"/>
          </a:xfrm>
          <a:prstGeom prst="roundRect">
            <a:avLst>
              <a:gd name="adj" fmla="val 8000"/>
            </a:avLst>
          </a:prstGeom>
          <a:solidFill>
            <a:srgbClr val="0E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1627632"/>
            <a:ext cx="32918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陷阱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8848" y="1627632"/>
            <a:ext cx="3108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后果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73568" y="1627632"/>
            <a:ext cx="3566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正确做法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157984"/>
            <a:ext cx="11057839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2231136"/>
            <a:ext cx="34747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E544E"/>
                </a:solidFill>
                <a:latin typeface="微软雅黑"/>
              </a:rPr>
              <a:t>⚠ 让 AI 自己做架构决策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8" y="2231136"/>
            <a:ext cx="3200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4778C"/>
                </a:solidFill>
                <a:latin typeface="微软雅黑"/>
              </a:rPr>
              <a:t>架构混乱、前后矛盾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73568" y="2231136"/>
            <a:ext cx="36576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E9E6B"/>
                </a:solidFill>
                <a:latin typeface="微软雅黑"/>
              </a:rPr>
              <a:t>✓ 专家定义架构，AI 实现细节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999232"/>
            <a:ext cx="11057839" cy="713232"/>
          </a:xfrm>
          <a:prstGeom prst="roundRect">
            <a:avLst>
              <a:gd name="adj" fmla="val 6000"/>
            </a:avLst>
          </a:prstGeom>
          <a:solidFill>
            <a:srgbClr val="EFF4FA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3072384"/>
            <a:ext cx="34747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E544E"/>
                </a:solidFill>
                <a:latin typeface="微软雅黑"/>
              </a:rPr>
              <a:t>⚠ 一次提太多需求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8848" y="3072384"/>
            <a:ext cx="3200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4778C"/>
                </a:solidFill>
                <a:latin typeface="微软雅黑"/>
              </a:rPr>
              <a:t>理解偏差、遗漏需求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73568" y="3072384"/>
            <a:ext cx="36576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E9E6B"/>
                </a:solidFill>
                <a:latin typeface="微软雅黑"/>
              </a:rPr>
              <a:t>✓ 分阶段迭代，每阶段聚焦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3840480"/>
            <a:ext cx="11057839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3913632"/>
            <a:ext cx="34747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E544E"/>
                </a:solidFill>
                <a:latin typeface="微软雅黑"/>
              </a:rPr>
              <a:t>⚠ 不看 AI 输出就继续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8848" y="3913632"/>
            <a:ext cx="3200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4778C"/>
                </a:solidFill>
                <a:latin typeface="微软雅黑"/>
              </a:rPr>
              <a:t>错误累积、返工成本高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73568" y="3913632"/>
            <a:ext cx="36576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E9E6B"/>
                </a:solidFill>
                <a:latin typeface="微软雅黑"/>
              </a:rPr>
              <a:t>✓ 每轮审核后再下达下一轮指令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681728"/>
            <a:ext cx="11057839" cy="713232"/>
          </a:xfrm>
          <a:prstGeom prst="roundRect">
            <a:avLst>
              <a:gd name="adj" fmla="val 6000"/>
            </a:avLst>
          </a:prstGeom>
          <a:solidFill>
            <a:srgbClr val="EFF4FA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" y="4754880"/>
            <a:ext cx="34747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E544E"/>
                </a:solidFill>
                <a:latin typeface="微软雅黑"/>
              </a:rPr>
              <a:t>⚠ 忽略独立测试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98848" y="4754880"/>
            <a:ext cx="3200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4778C"/>
                </a:solidFill>
                <a:latin typeface="微软雅黑"/>
              </a:rPr>
              <a:t>上线后才发现缺陷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73568" y="4754880"/>
            <a:ext cx="36576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E9E6B"/>
                </a:solidFill>
                <a:latin typeface="微软雅黑"/>
              </a:rPr>
              <a:t>✓ 三角色制衡，测试先行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22976"/>
            <a:ext cx="11057839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" y="5596128"/>
            <a:ext cx="34747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E544E"/>
                </a:solidFill>
                <a:latin typeface="微软雅黑"/>
              </a:rPr>
              <a:t>⚠ 硬用编程术语沟通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98848" y="5596128"/>
            <a:ext cx="3200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4778C"/>
                </a:solidFill>
                <a:latin typeface="微软雅黑"/>
              </a:rPr>
              <a:t>词不达意、来回返工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73568" y="5596128"/>
            <a:ext cx="36576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E9E6B"/>
                </a:solidFill>
                <a:latin typeface="微软雅黑"/>
              </a:rPr>
              <a:t>✓ 用业务语言描述需求即可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235440" y="-2377440"/>
            <a:ext cx="5852160" cy="5852160"/>
          </a:xfrm>
          <a:prstGeom prst="ellipse">
            <a:avLst/>
          </a:prstGeom>
          <a:solidFill>
            <a:srgbClr val="12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4023360" cy="4023360"/>
          </a:xfrm>
          <a:prstGeom prst="ellipse">
            <a:avLst/>
          </a:prstGeom>
          <a:noFill/>
          <a:ln w="15240">
            <a:solidFill>
              <a:srgbClr val="1B4A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07040" y="4480560"/>
            <a:ext cx="2926080" cy="2926080"/>
          </a:xfrm>
          <a:prstGeom prst="ellipse">
            <a:avLst/>
          </a:prstGeom>
          <a:noFill/>
          <a:ln w="12700">
            <a:solidFill>
              <a:srgbClr val="1B4A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4572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0" b="1">
                <a:solidFill>
                  <a:srgbClr val="1D416B"/>
                </a:solidFill>
                <a:latin typeface="微软雅黑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30632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微软雅黑"/>
              </a:rPr>
              <a:t>成果与数据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" y="3913632"/>
            <a:ext cx="594360" cy="44450"/>
          </a:xfrm>
          <a:prstGeom prst="rect">
            <a:avLst/>
          </a:prstGeom>
          <a:solidFill>
            <a:srgbClr val="E3A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" y="4114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8FC2EE"/>
                </a:solidFill>
                <a:latin typeface="微软雅黑"/>
              </a:rPr>
              <a:t>一款可上线的企业级产品，和一笔算得清的账</a:t>
            </a:r>
          </a:p>
        </p:txBody>
      </p:sp>
      <p:sp>
        <p:nvSpPr>
          <p:cNvPr id="10" name="Oval 9"/>
          <p:cNvSpPr/>
          <p:nvPr/>
        </p:nvSpPr>
        <p:spPr>
          <a:xfrm>
            <a:off x="630936" y="5577840"/>
            <a:ext cx="128016" cy="128016"/>
          </a:xfrm>
          <a:prstGeom prst="ellipse">
            <a:avLst/>
          </a:prstGeom>
          <a:solidFill>
            <a:srgbClr val="2A4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9456" y="57607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E7793"/>
                </a:solidFill>
                <a:latin typeface="微软雅黑"/>
              </a:rPr>
              <a:t>背景与挑战</a:t>
            </a:r>
          </a:p>
        </p:txBody>
      </p:sp>
      <p:sp>
        <p:nvSpPr>
          <p:cNvPr id="12" name="Oval 11"/>
          <p:cNvSpPr/>
          <p:nvPr/>
        </p:nvSpPr>
        <p:spPr>
          <a:xfrm>
            <a:off x="2112264" y="5577840"/>
            <a:ext cx="128016" cy="128016"/>
          </a:xfrm>
          <a:prstGeom prst="ellipse">
            <a:avLst/>
          </a:prstGeom>
          <a:solidFill>
            <a:srgbClr val="2A4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00784" y="57607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E7793"/>
                </a:solidFill>
                <a:latin typeface="微软雅黑"/>
              </a:rPr>
              <a:t>方法论</a:t>
            </a:r>
          </a:p>
        </p:txBody>
      </p:sp>
      <p:sp>
        <p:nvSpPr>
          <p:cNvPr id="14" name="Oval 13"/>
          <p:cNvSpPr/>
          <p:nvPr/>
        </p:nvSpPr>
        <p:spPr>
          <a:xfrm>
            <a:off x="3593592" y="5577840"/>
            <a:ext cx="128016" cy="128016"/>
          </a:xfrm>
          <a:prstGeom prst="ellipse">
            <a:avLst/>
          </a:prstGeom>
          <a:solidFill>
            <a:srgbClr val="2A4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82112" y="57607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E7793"/>
                </a:solidFill>
                <a:latin typeface="微软雅黑"/>
              </a:rPr>
              <a:t>实战历程</a:t>
            </a:r>
          </a:p>
        </p:txBody>
      </p:sp>
      <p:sp>
        <p:nvSpPr>
          <p:cNvPr id="16" name="Oval 15"/>
          <p:cNvSpPr/>
          <p:nvPr/>
        </p:nvSpPr>
        <p:spPr>
          <a:xfrm>
            <a:off x="5074920" y="5577840"/>
            <a:ext cx="128016" cy="128016"/>
          </a:xfrm>
          <a:prstGeom prst="ellipse">
            <a:avLst/>
          </a:prstGeom>
          <a:solidFill>
            <a:srgbClr val="2A4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57607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E7793"/>
                </a:solidFill>
                <a:latin typeface="微软雅黑"/>
              </a:rPr>
              <a:t>提示词工程</a:t>
            </a:r>
          </a:p>
        </p:txBody>
      </p:sp>
      <p:sp>
        <p:nvSpPr>
          <p:cNvPr id="18" name="Oval 17"/>
          <p:cNvSpPr/>
          <p:nvPr/>
        </p:nvSpPr>
        <p:spPr>
          <a:xfrm>
            <a:off x="6556248" y="5577840"/>
            <a:ext cx="128016" cy="128016"/>
          </a:xfrm>
          <a:prstGeom prst="ellipse">
            <a:avLst/>
          </a:prstGeom>
          <a:solidFill>
            <a:srgbClr val="E3A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44768" y="57607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E3A93C"/>
                </a:solidFill>
                <a:latin typeface="微软雅黑"/>
              </a:rPr>
              <a:t>成果与数据</a:t>
            </a:r>
          </a:p>
        </p:txBody>
      </p:sp>
      <p:sp>
        <p:nvSpPr>
          <p:cNvPr id="20" name="Oval 19"/>
          <p:cNvSpPr/>
          <p:nvPr/>
        </p:nvSpPr>
        <p:spPr>
          <a:xfrm>
            <a:off x="8037576" y="5577840"/>
            <a:ext cx="128016" cy="128016"/>
          </a:xfrm>
          <a:prstGeom prst="ellipse">
            <a:avLst/>
          </a:prstGeom>
          <a:solidFill>
            <a:srgbClr val="2A4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26096" y="57607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E7793"/>
                </a:solidFill>
                <a:latin typeface="微软雅黑"/>
              </a:rPr>
              <a:t>能力提升与推广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1057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B7BD3"/>
                </a:solidFill>
                <a:latin typeface="微软雅黑"/>
              </a:rPr>
              <a:t>05 · 成果与数据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105783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2239"/>
                </a:solidFill>
                <a:latin typeface="微软雅黑"/>
              </a:rPr>
              <a:t>交付成果：TDSQL数据库SQL审核工具 v1.0.2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502920" cy="38100"/>
          </a:xfrm>
          <a:prstGeom prst="rect">
            <a:avLst/>
          </a:prstGeom>
          <a:solidFill>
            <a:srgbClr val="E3A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78C"/>
                </a:solidFill>
                <a:latin typeface="微软雅黑"/>
              </a:rPr>
              <a:t>AI赋能DBA创新实践 · TDSQL数据库SQL审核工具 v1.0.2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4778C"/>
                </a:solidFill>
                <a:latin typeface="微软雅黑"/>
              </a:rPr>
              <a:t>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27632"/>
            <a:ext cx="2121408" cy="512064"/>
          </a:xfrm>
          <a:prstGeom prst="roundRect">
            <a:avLst>
              <a:gd name="adj" fmla="val 50000"/>
            </a:avLst>
          </a:prstGeom>
          <a:solidFill>
            <a:srgbClr val="E4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4E82"/>
                </a:solidFill>
                <a:latin typeface="微软雅黑"/>
              </a:rPr>
              <a:t>SQL 即时审核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98064" y="1627632"/>
            <a:ext cx="2121408" cy="512064"/>
          </a:xfrm>
          <a:prstGeom prst="roundRect">
            <a:avLst>
              <a:gd name="adj" fmla="val 50000"/>
            </a:avLst>
          </a:prstGeom>
          <a:solidFill>
            <a:srgbClr val="E4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4E82"/>
                </a:solidFill>
                <a:latin typeface="微软雅黑"/>
              </a:rPr>
              <a:t>文件批量审核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1627632"/>
            <a:ext cx="2121408" cy="512064"/>
          </a:xfrm>
          <a:prstGeom prst="roundRect">
            <a:avLst>
              <a:gd name="adj" fmla="val 50000"/>
            </a:avLst>
          </a:prstGeom>
          <a:solidFill>
            <a:srgbClr val="E4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4E82"/>
                </a:solidFill>
                <a:latin typeface="微软雅黑"/>
              </a:rPr>
              <a:t>GitLab 集成审核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0336" y="1627632"/>
            <a:ext cx="2121408" cy="512064"/>
          </a:xfrm>
          <a:prstGeom prst="roundRect">
            <a:avLst>
              <a:gd name="adj" fmla="val 50000"/>
            </a:avLst>
          </a:prstGeom>
          <a:solidFill>
            <a:srgbClr val="E4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4E82"/>
                </a:solidFill>
                <a:latin typeface="微软雅黑"/>
              </a:rPr>
              <a:t>慢SQL扫描分析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91472" y="1627632"/>
            <a:ext cx="2121408" cy="512064"/>
          </a:xfrm>
          <a:prstGeom prst="roundRect">
            <a:avLst>
              <a:gd name="adj" fmla="val 50000"/>
            </a:avLst>
          </a:prstGeom>
          <a:solidFill>
            <a:srgbClr val="E4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4E82"/>
                </a:solidFill>
                <a:latin typeface="微软雅黑"/>
              </a:rPr>
              <a:t>EXPLAIN 诊断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2286000"/>
            <a:ext cx="2121408" cy="512064"/>
          </a:xfrm>
          <a:prstGeom prst="roundRect">
            <a:avLst>
              <a:gd name="adj" fmla="val 50000"/>
            </a:avLst>
          </a:prstGeom>
          <a:solidFill>
            <a:srgbClr val="E4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4E82"/>
                </a:solidFill>
                <a:latin typeface="微软雅黑"/>
              </a:rPr>
              <a:t>数据库体检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98064" y="2286000"/>
            <a:ext cx="2121408" cy="512064"/>
          </a:xfrm>
          <a:prstGeom prst="roundRect">
            <a:avLst>
              <a:gd name="adj" fmla="val 50000"/>
            </a:avLst>
          </a:prstGeom>
          <a:solidFill>
            <a:srgbClr val="E4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4E82"/>
                </a:solidFill>
                <a:latin typeface="微软雅黑"/>
              </a:rPr>
              <a:t>大表治理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2286000"/>
            <a:ext cx="2121408" cy="512064"/>
          </a:xfrm>
          <a:prstGeom prst="roundRect">
            <a:avLst>
              <a:gd name="adj" fmla="val 50000"/>
            </a:avLst>
          </a:prstGeom>
          <a:solidFill>
            <a:srgbClr val="E4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4E82"/>
                </a:solidFill>
                <a:latin typeface="微软雅黑"/>
              </a:rPr>
              <a:t>质量门禁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60336" y="2286000"/>
            <a:ext cx="2121408" cy="512064"/>
          </a:xfrm>
          <a:prstGeom prst="roundRect">
            <a:avLst>
              <a:gd name="adj" fmla="val 50000"/>
            </a:avLst>
          </a:prstGeom>
          <a:solidFill>
            <a:srgbClr val="E4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4E82"/>
                </a:solidFill>
                <a:latin typeface="微软雅黑"/>
              </a:rPr>
              <a:t>规则集多租户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91472" y="2286000"/>
            <a:ext cx="2121408" cy="512064"/>
          </a:xfrm>
          <a:prstGeom prst="roundRect">
            <a:avLst>
              <a:gd name="adj" fmla="val 50000"/>
            </a:avLst>
          </a:prstGeom>
          <a:solidFill>
            <a:srgbClr val="E4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4E82"/>
                </a:solidFill>
                <a:latin typeface="微软雅黑"/>
              </a:rPr>
              <a:t>角色权限 RBAC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2944368"/>
            <a:ext cx="2121408" cy="512064"/>
          </a:xfrm>
          <a:prstGeom prst="roundRect">
            <a:avLst>
              <a:gd name="adj" fmla="val 50000"/>
            </a:avLst>
          </a:prstGeom>
          <a:solidFill>
            <a:srgbClr val="E4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4E82"/>
                </a:solidFill>
                <a:latin typeface="微软雅黑"/>
              </a:rPr>
              <a:t>监控告警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98064" y="2944368"/>
            <a:ext cx="2121408" cy="512064"/>
          </a:xfrm>
          <a:prstGeom prst="roundRect">
            <a:avLst>
              <a:gd name="adj" fmla="val 50000"/>
            </a:avLst>
          </a:prstGeom>
          <a:solidFill>
            <a:srgbClr val="E4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4E82"/>
                </a:solidFill>
                <a:latin typeface="微软雅黑"/>
              </a:rPr>
              <a:t>操作审计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0" y="2944368"/>
            <a:ext cx="2121408" cy="512064"/>
          </a:xfrm>
          <a:prstGeom prst="roundRect">
            <a:avLst>
              <a:gd name="adj" fmla="val 50000"/>
            </a:avLst>
          </a:prstGeom>
          <a:solidFill>
            <a:srgbClr val="E4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4E82"/>
                </a:solidFill>
                <a:latin typeface="微软雅黑"/>
              </a:rPr>
              <a:t>数据保留策略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60336" y="2944368"/>
            <a:ext cx="2121408" cy="512064"/>
          </a:xfrm>
          <a:prstGeom prst="roundRect">
            <a:avLst>
              <a:gd name="adj" fmla="val 50000"/>
            </a:avLst>
          </a:prstGeom>
          <a:solidFill>
            <a:srgbClr val="E4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4E82"/>
                </a:solidFill>
                <a:latin typeface="微软雅黑"/>
              </a:rPr>
              <a:t>Prometheus 指标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91472" y="2944368"/>
            <a:ext cx="2121408" cy="512064"/>
          </a:xfrm>
          <a:prstGeom prst="roundRect">
            <a:avLst>
              <a:gd name="adj" fmla="val 50000"/>
            </a:avLst>
          </a:prstGeom>
          <a:solidFill>
            <a:srgbClr val="E4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4E82"/>
                </a:solidFill>
                <a:latin typeface="微软雅黑"/>
              </a:rPr>
              <a:t>一键部署回滚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3840480"/>
            <a:ext cx="11057839" cy="685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31520" y="3977640"/>
            <a:ext cx="914400" cy="411480"/>
          </a:xfrm>
          <a:prstGeom prst="roundRect">
            <a:avLst>
              <a:gd name="adj" fmla="val 50000"/>
            </a:avLst>
          </a:prstGeom>
          <a:solidFill>
            <a:srgbClr val="0E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3A93C"/>
                </a:solidFill>
                <a:latin typeface="微软雅黑"/>
              </a:rPr>
              <a:t>规则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92808" y="3913632"/>
            <a:ext cx="9692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C2B3A"/>
                </a:solidFill>
                <a:latin typeface="微软雅黑"/>
              </a:rPr>
              <a:t>119 条审核规则 · 9 大分类，含 42 条 Oracle 迁移兼容规则（覆盖原厂 52 点 100%）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4681728"/>
            <a:ext cx="11057839" cy="685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31520" y="4818888"/>
            <a:ext cx="914400" cy="411480"/>
          </a:xfrm>
          <a:prstGeom prst="roundRect">
            <a:avLst>
              <a:gd name="adj" fmla="val 50000"/>
            </a:avLst>
          </a:prstGeom>
          <a:solidFill>
            <a:srgbClr val="0E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3A93C"/>
                </a:solidFill>
                <a:latin typeface="微软雅黑"/>
              </a:rPr>
              <a:t>质量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92808" y="4754880"/>
            <a:ext cx="9692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C2B3A"/>
                </a:solidFill>
                <a:latin typeface="微软雅黑"/>
              </a:rPr>
              <a:t>880 项全量回归 0 失败 · 184 项规则验收全通过 · 多轮 SIT/UAT + 独立质检准出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5522976"/>
            <a:ext cx="11057839" cy="685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" y="5660136"/>
            <a:ext cx="914400" cy="411480"/>
          </a:xfrm>
          <a:prstGeom prst="roundRect">
            <a:avLst>
              <a:gd name="adj" fmla="val 50000"/>
            </a:avLst>
          </a:prstGeom>
          <a:solidFill>
            <a:srgbClr val="0E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3A93C"/>
                </a:solidFill>
                <a:latin typeface="微软雅黑"/>
              </a:rPr>
              <a:t>交付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92808" y="5596128"/>
            <a:ext cx="9692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C2B3A"/>
                </a:solidFill>
                <a:latin typeface="微软雅黑"/>
              </a:rPr>
              <a:t>麒麟 V10 SP3 一键部署包（离线安装/预检/冒烟/回滚）+ 13 份 v1.0.2 文档体系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1057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B7BD3"/>
                </a:solidFill>
                <a:latin typeface="微软雅黑"/>
              </a:rPr>
              <a:t>05 · 成果与数据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105783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2239"/>
                </a:solidFill>
                <a:latin typeface="微软雅黑"/>
              </a:rPr>
              <a:t>效率对比：同样的活，时间轴完全不同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502920" cy="38100"/>
          </a:xfrm>
          <a:prstGeom prst="rect">
            <a:avLst/>
          </a:prstGeom>
          <a:solidFill>
            <a:srgbClr val="E3A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78C"/>
                </a:solidFill>
                <a:latin typeface="微软雅黑"/>
              </a:rPr>
              <a:t>AI赋能DBA创新实践 · TDSQL数据库SQL审核工具 v1.0.2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4778C"/>
                </a:solidFill>
                <a:latin typeface="微软雅黑"/>
              </a:rP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84448" y="15544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64778C"/>
                </a:solidFill>
                <a:latin typeface="微软雅黑"/>
              </a:rPr>
              <a:t>■ </a:t>
            </a:r>
            <a:r>
              <a:rPr sz="1100" b="0">
                <a:solidFill>
                  <a:srgbClr val="64778C"/>
                </a:solidFill>
                <a:latin typeface="微软雅黑"/>
              </a:rPr>
              <a:t>传统方式    </a:t>
            </a:r>
            <a:r>
              <a:rPr sz="1100" b="1">
                <a:solidFill>
                  <a:srgbClr val="2B7BD3"/>
                </a:solidFill>
                <a:latin typeface="微软雅黑"/>
              </a:rPr>
              <a:t>■ </a:t>
            </a:r>
            <a:r>
              <a:rPr sz="1100" b="0">
                <a:solidFill>
                  <a:srgbClr val="2B7BD3"/>
                </a:solidFill>
                <a:latin typeface="微软雅黑"/>
              </a:rPr>
              <a:t>AI 协作方式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947672"/>
            <a:ext cx="2834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E2239"/>
                </a:solidFill>
                <a:latin typeface="微软雅黑"/>
              </a:rPr>
              <a:t>架构设计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84448" y="1901952"/>
            <a:ext cx="6035040" cy="274320"/>
          </a:xfrm>
          <a:prstGeom prst="roundRect">
            <a:avLst>
              <a:gd name="adj" fmla="val 50000"/>
            </a:avLst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10928" y="1874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78C"/>
                </a:solidFill>
                <a:latin typeface="微软雅黑"/>
              </a:rPr>
              <a:t>2–3 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84448" y="2231136"/>
            <a:ext cx="844905" cy="274320"/>
          </a:xfrm>
          <a:prstGeom prst="roundRect">
            <a:avLst>
              <a:gd name="adj" fmla="val 50000"/>
            </a:avLst>
          </a:prstGeom>
          <a:solidFill>
            <a:srgbClr val="2B7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0793" y="220370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B7BD3"/>
                </a:solidFill>
                <a:latin typeface="微软雅黑"/>
              </a:rPr>
              <a:t>3 天 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2660904"/>
            <a:ext cx="2834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E2239"/>
                </a:solidFill>
                <a:latin typeface="微软雅黑"/>
              </a:rPr>
              <a:t>规则引擎开发（119条）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84448" y="2615184"/>
            <a:ext cx="6035040" cy="274320"/>
          </a:xfrm>
          <a:prstGeom prst="roundRect">
            <a:avLst>
              <a:gd name="adj" fmla="val 50000"/>
            </a:avLst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10928" y="25877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78C"/>
                </a:solidFill>
                <a:latin typeface="微软雅黑"/>
              </a:rPr>
              <a:t>2–3 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84448" y="2944368"/>
            <a:ext cx="1025956" cy="274320"/>
          </a:xfrm>
          <a:prstGeom prst="roundRect">
            <a:avLst>
              <a:gd name="adj" fmla="val 50000"/>
            </a:avLst>
          </a:prstGeom>
          <a:solidFill>
            <a:srgbClr val="2B7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01844" y="291693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B7BD3"/>
                </a:solidFill>
                <a:latin typeface="微软雅黑"/>
              </a:rPr>
              <a:t>2 周 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3374136"/>
            <a:ext cx="2834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E2239"/>
                </a:solidFill>
                <a:latin typeface="微软雅黑"/>
              </a:rPr>
              <a:t>Oracle 迁移规则（42条）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84448" y="3328416"/>
            <a:ext cx="6035040" cy="274320"/>
          </a:xfrm>
          <a:prstGeom prst="roundRect">
            <a:avLst>
              <a:gd name="adj" fmla="val 50000"/>
            </a:avLst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10928" y="330098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78C"/>
                </a:solidFill>
                <a:latin typeface="微软雅黑"/>
              </a:rPr>
              <a:t>1–2 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84448" y="3657600"/>
            <a:ext cx="784555" cy="274320"/>
          </a:xfrm>
          <a:prstGeom prst="roundRect">
            <a:avLst>
              <a:gd name="adj" fmla="val 50000"/>
            </a:avLst>
          </a:prstGeom>
          <a:solidFill>
            <a:srgbClr val="2B7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60443" y="363016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B7BD3"/>
                </a:solidFill>
                <a:latin typeface="微软雅黑"/>
              </a:rPr>
              <a:t>1 周 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4087368"/>
            <a:ext cx="2834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E2239"/>
                </a:solidFill>
                <a:latin typeface="微软雅黑"/>
              </a:rPr>
              <a:t>前端 19 页面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584448" y="4041648"/>
            <a:ext cx="6035040" cy="274320"/>
          </a:xfrm>
          <a:prstGeom prst="roundRect">
            <a:avLst>
              <a:gd name="adj" fmla="val 50000"/>
            </a:avLst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10928" y="401421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78C"/>
                </a:solidFill>
                <a:latin typeface="微软雅黑"/>
              </a:rPr>
              <a:t>1–2 月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584448" y="4370832"/>
            <a:ext cx="784555" cy="274320"/>
          </a:xfrm>
          <a:prstGeom prst="roundRect">
            <a:avLst>
              <a:gd name="adj" fmla="val 50000"/>
            </a:avLst>
          </a:prstGeom>
          <a:solidFill>
            <a:srgbClr val="2B7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60443" y="43434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B7BD3"/>
                </a:solidFill>
                <a:latin typeface="微软雅黑"/>
              </a:rPr>
              <a:t>1 周 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4800600"/>
            <a:ext cx="2834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E2239"/>
                </a:solidFill>
                <a:latin typeface="微软雅黑"/>
              </a:rPr>
              <a:t>全量测试（880 用例）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584448" y="4754880"/>
            <a:ext cx="6035040" cy="274320"/>
          </a:xfrm>
          <a:prstGeom prst="roundRect">
            <a:avLst>
              <a:gd name="adj" fmla="val 50000"/>
            </a:avLst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10928" y="472744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78C"/>
                </a:solidFill>
                <a:latin typeface="微软雅黑"/>
              </a:rPr>
              <a:t>2–4 周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584448" y="5084064"/>
            <a:ext cx="411480" cy="274320"/>
          </a:xfrm>
          <a:prstGeom prst="roundRect">
            <a:avLst>
              <a:gd name="adj" fmla="val 50000"/>
            </a:avLst>
          </a:prstGeom>
          <a:solidFill>
            <a:srgbClr val="2B7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087368" y="505663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B7BD3"/>
                </a:solidFill>
                <a:latin typeface="微软雅黑"/>
              </a:rPr>
              <a:t>自动执行  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928" y="5559552"/>
            <a:ext cx="11057839" cy="777240"/>
          </a:xfrm>
          <a:prstGeom prst="roundRect">
            <a:avLst>
              <a:gd name="adj" fmla="val 10000"/>
            </a:avLst>
          </a:prstGeom>
          <a:solidFill>
            <a:srgbClr val="0E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88900" bIns="8890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总周期：传统方式 6–12 个月   →   AI 协作 </a:t>
            </a:r>
            <a:r>
              <a:rPr sz="2200" b="1">
                <a:solidFill>
                  <a:srgbClr val="E3A93C"/>
                </a:solidFill>
                <a:latin typeface="微软雅黑"/>
              </a:rPr>
              <a:t>8 周</a:t>
            </a:r>
            <a:r>
              <a:rPr sz="1600" b="1">
                <a:solidFill>
                  <a:srgbClr val="FFFFFF"/>
                </a:solidFill>
                <a:latin typeface="微软雅黑"/>
              </a:rPr>
              <a:t>（整体提速 3–6 倍）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1057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B7BD3"/>
                </a:solidFill>
                <a:latin typeface="微软雅黑"/>
              </a:rPr>
              <a:t>05 · 成果与数据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105783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2239"/>
                </a:solidFill>
                <a:latin typeface="微软雅黑"/>
              </a:rPr>
              <a:t>成本对比：一笔算得清的账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502920" cy="38100"/>
          </a:xfrm>
          <a:prstGeom prst="rect">
            <a:avLst/>
          </a:prstGeom>
          <a:solidFill>
            <a:srgbClr val="E3A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78C"/>
                </a:solidFill>
                <a:latin typeface="微软雅黑"/>
              </a:rPr>
              <a:t>AI赋能DBA创新实践 · TDSQL数据库SQL审核工具 v1.0.2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4778C"/>
                </a:solidFill>
                <a:latin typeface="微软雅黑"/>
              </a:rPr>
              <a:t>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91640"/>
            <a:ext cx="2706624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6679" bIns="106679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0E2239"/>
                </a:solidFill>
                <a:latin typeface="微软雅黑"/>
              </a:rPr>
              <a:t>采购商业产品</a:t>
            </a:r>
          </a:p>
          <a:p>
            <a:pPr algn="ctr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</a:pPr>
            <a:r>
              <a:rPr sz="1700" b="1">
                <a:solidFill>
                  <a:srgbClr val="CE544E"/>
                </a:solidFill>
                <a:latin typeface="微软雅黑"/>
              </a:rPr>
              <a:t>30–80 万 / 年</a:t>
            </a:r>
          </a:p>
          <a:p>
            <a:pPr algn="ctr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</a:pPr>
            <a:r>
              <a:rPr sz="1150" b="0">
                <a:solidFill>
                  <a:srgbClr val="64778C"/>
                </a:solidFill>
                <a:latin typeface="微软雅黑"/>
              </a:rPr>
              <a:t>3–6 月选型适配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74136" y="1691640"/>
            <a:ext cx="2706624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6679" bIns="106679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0E2239"/>
                </a:solidFill>
                <a:latin typeface="微软雅黑"/>
              </a:rPr>
              <a:t>外包开发</a:t>
            </a:r>
          </a:p>
          <a:p>
            <a:pPr algn="ctr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</a:pPr>
            <a:r>
              <a:rPr sz="1700" b="1">
                <a:solidFill>
                  <a:srgbClr val="CE544E"/>
                </a:solidFill>
                <a:latin typeface="微软雅黑"/>
              </a:rPr>
              <a:t>50–150 万</a:t>
            </a:r>
          </a:p>
          <a:p>
            <a:pPr algn="ctr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</a:pPr>
            <a:r>
              <a:rPr sz="1150" b="0">
                <a:solidFill>
                  <a:srgbClr val="64778C"/>
                </a:solidFill>
                <a:latin typeface="微软雅黑"/>
              </a:rPr>
              <a:t>6–12 月交付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1691640"/>
            <a:ext cx="2706624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6679" bIns="106679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0E2239"/>
                </a:solidFill>
                <a:latin typeface="微软雅黑"/>
              </a:rPr>
              <a:t>自建团队（3–5人）</a:t>
            </a:r>
          </a:p>
          <a:p>
            <a:pPr algn="ctr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</a:pPr>
            <a:r>
              <a:rPr sz="1700" b="1">
                <a:solidFill>
                  <a:srgbClr val="CE544E"/>
                </a:solidFill>
                <a:latin typeface="微软雅黑"/>
              </a:rPr>
              <a:t>100–200 万 / 年</a:t>
            </a:r>
          </a:p>
          <a:p>
            <a:pPr algn="ctr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</a:pPr>
            <a:r>
              <a:rPr sz="1150" b="0">
                <a:solidFill>
                  <a:srgbClr val="64778C"/>
                </a:solidFill>
                <a:latin typeface="微软雅黑"/>
              </a:rPr>
              <a:t>6–12 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88552" y="1691640"/>
            <a:ext cx="2706624" cy="2286000"/>
          </a:xfrm>
          <a:prstGeom prst="roundRect">
            <a:avLst>
              <a:gd name="adj" fmla="val 8000"/>
            </a:avLst>
          </a:prstGeom>
          <a:solidFill>
            <a:srgbClr val="0E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6679" bIns="106679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E3A93C"/>
                </a:solidFill>
                <a:latin typeface="微软雅黑"/>
              </a:rPr>
              <a:t>我 + AI 工具</a:t>
            </a:r>
          </a:p>
          <a:p>
            <a:pPr algn="ctr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微软雅黑"/>
              </a:rPr>
              <a:t>0 额外人力成本</a:t>
            </a:r>
          </a:p>
          <a:p>
            <a:pPr algn="ctr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</a:pPr>
            <a:r>
              <a:rPr sz="1150" b="0">
                <a:solidFill>
                  <a:srgbClr val="8FC2EE"/>
                </a:solidFill>
                <a:latin typeface="微软雅黑"/>
              </a:rPr>
              <a:t>8 周交付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88552" y="1691640"/>
            <a:ext cx="2706624" cy="44450"/>
          </a:xfrm>
          <a:prstGeom prst="rect">
            <a:avLst/>
          </a:prstGeom>
          <a:solidFill>
            <a:srgbClr val="E3A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66928" y="4480560"/>
            <a:ext cx="11057839" cy="1371600"/>
          </a:xfrm>
          <a:prstGeom prst="roundRect">
            <a:avLst>
              <a:gd name="adj" fmla="val 10000"/>
            </a:avLst>
          </a:prstGeom>
          <a:solidFill>
            <a:srgbClr val="FBF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142240" bIns="14224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E2239"/>
                </a:solidFill>
                <a:latin typeface="微软雅黑"/>
              </a:rPr>
              <a:t>直接效益（最保守口径）：节省 </a:t>
            </a:r>
            <a:r>
              <a:rPr sz="2600" b="1">
                <a:solidFill>
                  <a:srgbClr val="E3A93C"/>
                </a:solidFill>
                <a:latin typeface="微软雅黑"/>
              </a:rPr>
              <a:t>≥ 50 万元</a:t>
            </a:r>
            <a:r>
              <a:rPr sz="1600" b="1">
                <a:solidFill>
                  <a:srgbClr val="0E2239"/>
                </a:solidFill>
                <a:latin typeface="微软雅黑"/>
              </a:rPr>
              <a:t> 开发成本 + </a:t>
            </a:r>
            <a:r>
              <a:rPr sz="2600" b="1">
                <a:solidFill>
                  <a:srgbClr val="E3A93C"/>
                </a:solidFill>
                <a:latin typeface="微软雅黑"/>
              </a:rPr>
              <a:t>6 个月</a:t>
            </a:r>
            <a:r>
              <a:rPr sz="1600" b="1">
                <a:solidFill>
                  <a:srgbClr val="0E2239"/>
                </a:solidFill>
                <a:latin typeface="微软雅黑"/>
              </a:rPr>
              <a:t> 时间成本</a:t>
            </a:r>
          </a:p>
          <a:p>
            <a:pPr algn="ctr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</a:pPr>
            <a:r>
              <a:rPr sz="1250" b="0">
                <a:solidFill>
                  <a:srgbClr val="64778C"/>
                </a:solidFill>
                <a:latin typeface="微软雅黑"/>
              </a:rPr>
              <a:t>长期效益：SQL 缺陷在上线前拦截，生产事故与救火成本持续下降（难以估量但真实存在）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235440" y="-2377440"/>
            <a:ext cx="5852160" cy="5852160"/>
          </a:xfrm>
          <a:prstGeom prst="ellipse">
            <a:avLst/>
          </a:prstGeom>
          <a:solidFill>
            <a:srgbClr val="12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4023360" cy="4023360"/>
          </a:xfrm>
          <a:prstGeom prst="ellipse">
            <a:avLst/>
          </a:prstGeom>
          <a:noFill/>
          <a:ln w="15240">
            <a:solidFill>
              <a:srgbClr val="1B4A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07040" y="4480560"/>
            <a:ext cx="2926080" cy="2926080"/>
          </a:xfrm>
          <a:prstGeom prst="ellipse">
            <a:avLst/>
          </a:prstGeom>
          <a:noFill/>
          <a:ln w="12700">
            <a:solidFill>
              <a:srgbClr val="1B4A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4572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0" b="1">
                <a:solidFill>
                  <a:srgbClr val="1D416B"/>
                </a:solidFill>
                <a:latin typeface="微软雅黑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30632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微软雅黑"/>
              </a:rPr>
              <a:t>能力提升与推广建议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" y="3913632"/>
            <a:ext cx="594360" cy="44450"/>
          </a:xfrm>
          <a:prstGeom prst="rect">
            <a:avLst/>
          </a:prstGeom>
          <a:solidFill>
            <a:srgbClr val="E3A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" y="4114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8FC2EE"/>
                </a:solidFill>
                <a:latin typeface="微软雅黑"/>
              </a:rPr>
              <a:t>AI 放大了专家能力，而不是替代了专家能力</a:t>
            </a:r>
          </a:p>
        </p:txBody>
      </p:sp>
      <p:sp>
        <p:nvSpPr>
          <p:cNvPr id="10" name="Oval 9"/>
          <p:cNvSpPr/>
          <p:nvPr/>
        </p:nvSpPr>
        <p:spPr>
          <a:xfrm>
            <a:off x="630936" y="5577840"/>
            <a:ext cx="128016" cy="128016"/>
          </a:xfrm>
          <a:prstGeom prst="ellipse">
            <a:avLst/>
          </a:prstGeom>
          <a:solidFill>
            <a:srgbClr val="2A4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9456" y="57607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E7793"/>
                </a:solidFill>
                <a:latin typeface="微软雅黑"/>
              </a:rPr>
              <a:t>背景与挑战</a:t>
            </a:r>
          </a:p>
        </p:txBody>
      </p:sp>
      <p:sp>
        <p:nvSpPr>
          <p:cNvPr id="12" name="Oval 11"/>
          <p:cNvSpPr/>
          <p:nvPr/>
        </p:nvSpPr>
        <p:spPr>
          <a:xfrm>
            <a:off x="2112264" y="5577840"/>
            <a:ext cx="128016" cy="128016"/>
          </a:xfrm>
          <a:prstGeom prst="ellipse">
            <a:avLst/>
          </a:prstGeom>
          <a:solidFill>
            <a:srgbClr val="2A4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00784" y="57607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E7793"/>
                </a:solidFill>
                <a:latin typeface="微软雅黑"/>
              </a:rPr>
              <a:t>方法论</a:t>
            </a:r>
          </a:p>
        </p:txBody>
      </p:sp>
      <p:sp>
        <p:nvSpPr>
          <p:cNvPr id="14" name="Oval 13"/>
          <p:cNvSpPr/>
          <p:nvPr/>
        </p:nvSpPr>
        <p:spPr>
          <a:xfrm>
            <a:off x="3593592" y="5577840"/>
            <a:ext cx="128016" cy="128016"/>
          </a:xfrm>
          <a:prstGeom prst="ellipse">
            <a:avLst/>
          </a:prstGeom>
          <a:solidFill>
            <a:srgbClr val="2A4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82112" y="57607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E7793"/>
                </a:solidFill>
                <a:latin typeface="微软雅黑"/>
              </a:rPr>
              <a:t>实战历程</a:t>
            </a:r>
          </a:p>
        </p:txBody>
      </p:sp>
      <p:sp>
        <p:nvSpPr>
          <p:cNvPr id="16" name="Oval 15"/>
          <p:cNvSpPr/>
          <p:nvPr/>
        </p:nvSpPr>
        <p:spPr>
          <a:xfrm>
            <a:off x="5074920" y="5577840"/>
            <a:ext cx="128016" cy="128016"/>
          </a:xfrm>
          <a:prstGeom prst="ellipse">
            <a:avLst/>
          </a:prstGeom>
          <a:solidFill>
            <a:srgbClr val="2A4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57607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E7793"/>
                </a:solidFill>
                <a:latin typeface="微软雅黑"/>
              </a:rPr>
              <a:t>提示词工程</a:t>
            </a:r>
          </a:p>
        </p:txBody>
      </p:sp>
      <p:sp>
        <p:nvSpPr>
          <p:cNvPr id="18" name="Oval 17"/>
          <p:cNvSpPr/>
          <p:nvPr/>
        </p:nvSpPr>
        <p:spPr>
          <a:xfrm>
            <a:off x="6556248" y="5577840"/>
            <a:ext cx="128016" cy="128016"/>
          </a:xfrm>
          <a:prstGeom prst="ellipse">
            <a:avLst/>
          </a:prstGeom>
          <a:solidFill>
            <a:srgbClr val="2A4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44768" y="57607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E7793"/>
                </a:solidFill>
                <a:latin typeface="微软雅黑"/>
              </a:rPr>
              <a:t>成果与数据</a:t>
            </a:r>
          </a:p>
        </p:txBody>
      </p:sp>
      <p:sp>
        <p:nvSpPr>
          <p:cNvPr id="20" name="Oval 19"/>
          <p:cNvSpPr/>
          <p:nvPr/>
        </p:nvSpPr>
        <p:spPr>
          <a:xfrm>
            <a:off x="8037576" y="5577840"/>
            <a:ext cx="128016" cy="128016"/>
          </a:xfrm>
          <a:prstGeom prst="ellipse">
            <a:avLst/>
          </a:prstGeom>
          <a:solidFill>
            <a:srgbClr val="E3A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26096" y="57607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E3A93C"/>
                </a:solidFill>
                <a:latin typeface="微软雅黑"/>
              </a:rPr>
              <a:t>能力提升与推广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1057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B7BD3"/>
                </a:solidFill>
                <a:latin typeface="微软雅黑"/>
              </a:rPr>
              <a:t>06 · 能力提升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105783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2239"/>
                </a:solidFill>
                <a:latin typeface="微软雅黑"/>
              </a:rPr>
              <a:t>AI 如何提升了我：四个维度的能力跃迁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502920" cy="38100"/>
          </a:xfrm>
          <a:prstGeom prst="rect">
            <a:avLst/>
          </a:prstGeom>
          <a:solidFill>
            <a:srgbClr val="E3A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78C"/>
                </a:solidFill>
                <a:latin typeface="微软雅黑"/>
              </a:rPr>
              <a:t>AI赋能DBA创新实践 · TDSQL数据库SQL审核工具 v1.0.2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4778C"/>
                </a:solidFill>
                <a:latin typeface="微软雅黑"/>
              </a:rPr>
              <a:t>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27632"/>
            <a:ext cx="11057839" cy="98755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1700784"/>
            <a:ext cx="329184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E2239"/>
                </a:solidFill>
                <a:latin typeface="微软雅黑"/>
              </a:rPr>
              <a:t>从 DBA 到全栈交付者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07408" y="1700784"/>
            <a:ext cx="292608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4778C"/>
                </a:solidFill>
                <a:latin typeface="微软雅黑"/>
              </a:rPr>
              <a:t>只会 SQL 运维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79208" y="1792224"/>
            <a:ext cx="685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E3A93C"/>
                </a:solidFill>
                <a:latin typeface="微软雅黑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10728" y="1700784"/>
            <a:ext cx="352044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B7BD3"/>
                </a:solidFill>
                <a:latin typeface="微软雅黑"/>
              </a:rPr>
              <a:t>能独立交付完整软件产品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2779776"/>
            <a:ext cx="11057839" cy="98755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2852928"/>
            <a:ext cx="329184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E2239"/>
                </a:solidFill>
                <a:latin typeface="微软雅黑"/>
              </a:rPr>
              <a:t>从执行者到架构师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7408" y="2852928"/>
            <a:ext cx="292608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4778C"/>
                </a:solidFill>
                <a:latin typeface="微软雅黑"/>
              </a:rPr>
              <a:t>执行运维任务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79208" y="2944368"/>
            <a:ext cx="685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E3A93C"/>
                </a:solidFill>
                <a:latin typeface="微软雅黑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0728" y="2852928"/>
            <a:ext cx="352044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B7BD3"/>
                </a:solidFill>
                <a:latin typeface="微软雅黑"/>
              </a:rPr>
              <a:t>设计系统架构、指挥 AI 团队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931920"/>
            <a:ext cx="11057839" cy="98755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4005072"/>
            <a:ext cx="329184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E2239"/>
                </a:solidFill>
                <a:latin typeface="微软雅黑"/>
              </a:rPr>
              <a:t>从个人到团队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07408" y="4005072"/>
            <a:ext cx="292608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4778C"/>
                </a:solidFill>
                <a:latin typeface="微软雅黑"/>
              </a:rPr>
              <a:t>一个人的能力边界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79208" y="4096512"/>
            <a:ext cx="685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E3A93C"/>
                </a:solidFill>
                <a:latin typeface="微软雅黑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10728" y="4005072"/>
            <a:ext cx="352044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B7BD3"/>
                </a:solidFill>
                <a:latin typeface="微软雅黑"/>
              </a:rPr>
              <a:t>一个人 = 一个生产力团队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5084064"/>
            <a:ext cx="11057839" cy="98755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" y="5157216"/>
            <a:ext cx="329184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E2239"/>
                </a:solidFill>
                <a:latin typeface="微软雅黑"/>
              </a:rPr>
              <a:t>从被动到主动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07408" y="5157216"/>
            <a:ext cx="292608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4778C"/>
                </a:solidFill>
                <a:latin typeface="微软雅黑"/>
              </a:rPr>
              <a:t>问题来了再救火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79208" y="5248656"/>
            <a:ext cx="685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E3A93C"/>
                </a:solidFill>
                <a:latin typeface="微软雅黑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10728" y="5157216"/>
            <a:ext cx="352044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B7BD3"/>
                </a:solidFill>
                <a:latin typeface="微软雅黑"/>
              </a:rPr>
              <a:t>主动构建工具预防问题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1057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B7BD3"/>
                </a:solidFill>
                <a:latin typeface="微软雅黑"/>
              </a:rPr>
              <a:t>06 · 能力提升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105783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2239"/>
                </a:solidFill>
                <a:latin typeface="微软雅黑"/>
              </a:rPr>
              <a:t>为什么必须「专家驱动」：五项不可替代的能力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502920" cy="38100"/>
          </a:xfrm>
          <a:prstGeom prst="rect">
            <a:avLst/>
          </a:prstGeom>
          <a:solidFill>
            <a:srgbClr val="E3A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78C"/>
                </a:solidFill>
                <a:latin typeface="微软雅黑"/>
              </a:rPr>
              <a:t>AI赋能DBA创新实践 · TDSQL数据库SQL审核工具 v1.0.2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4778C"/>
                </a:solidFill>
                <a:latin typeface="微软雅黑"/>
              </a:rPr>
              <a:t>31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00200"/>
            <a:ext cx="11057839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68096" y="1773936"/>
            <a:ext cx="365760" cy="365760"/>
          </a:xfrm>
          <a:prstGeom prst="ellipse">
            <a:avLst/>
          </a:prstGeom>
          <a:solidFill>
            <a:srgbClr val="14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44168" y="1673352"/>
            <a:ext cx="31089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0E2239"/>
                </a:solidFill>
                <a:latin typeface="微软雅黑"/>
              </a:rPr>
              <a:t>需求定义能力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1673352"/>
            <a:ext cx="69494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B7BD3"/>
                </a:solidFill>
                <a:latin typeface="微软雅黑"/>
              </a:rPr>
              <a:t>「我知道 DBA 真正需要什么工具」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441448"/>
            <a:ext cx="11057839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68096" y="2615184"/>
            <a:ext cx="365760" cy="365760"/>
          </a:xfrm>
          <a:prstGeom prst="ellipse">
            <a:avLst/>
          </a:prstGeom>
          <a:solidFill>
            <a:srgbClr val="14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44168" y="2514600"/>
            <a:ext cx="31089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0E2239"/>
                </a:solidFill>
                <a:latin typeface="微软雅黑"/>
              </a:rPr>
              <a:t>架构设计能力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2514600"/>
            <a:ext cx="69494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B7BD3"/>
                </a:solidFill>
                <a:latin typeface="微软雅黑"/>
              </a:rPr>
              <a:t>「我能设计出 119 条规则的完整体系」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82696"/>
            <a:ext cx="11057839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68096" y="3456432"/>
            <a:ext cx="365760" cy="365760"/>
          </a:xfrm>
          <a:prstGeom prst="ellipse">
            <a:avLst/>
          </a:prstGeom>
          <a:solidFill>
            <a:srgbClr val="14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44168" y="3355848"/>
            <a:ext cx="31089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0E2239"/>
                </a:solidFill>
                <a:latin typeface="微软雅黑"/>
              </a:rPr>
              <a:t>质量判断能力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0288" y="3355848"/>
            <a:ext cx="69494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B7BD3"/>
                </a:solidFill>
                <a:latin typeface="微软雅黑"/>
              </a:rPr>
              <a:t>「我能判断 AI 的输出是否达到生产级」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123944"/>
            <a:ext cx="11057839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68096" y="4297680"/>
            <a:ext cx="365760" cy="365760"/>
          </a:xfrm>
          <a:prstGeom prst="ellipse">
            <a:avLst/>
          </a:prstGeom>
          <a:solidFill>
            <a:srgbClr val="14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44168" y="4197096"/>
            <a:ext cx="31089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0E2239"/>
                </a:solidFill>
                <a:latin typeface="微软雅黑"/>
              </a:rPr>
              <a:t>业务理解深度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0288" y="4197096"/>
            <a:ext cx="69494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B7BD3"/>
                </a:solidFill>
                <a:latin typeface="微软雅黑"/>
              </a:rPr>
              <a:t>「我理解 Oracle→TDSQL 迁移的每一个技术细节」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965192"/>
            <a:ext cx="11057839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68096" y="5138928"/>
            <a:ext cx="365760" cy="365760"/>
          </a:xfrm>
          <a:prstGeom prst="ellipse">
            <a:avLst/>
          </a:prstGeom>
          <a:solidFill>
            <a:srgbClr val="14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44168" y="5038344"/>
            <a:ext cx="31089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0E2239"/>
                </a:solidFill>
                <a:latin typeface="微软雅黑"/>
              </a:rPr>
              <a:t>优先级决策能力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90288" y="5038344"/>
            <a:ext cx="69494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B7BD3"/>
                </a:solidFill>
                <a:latin typeface="微软雅黑"/>
              </a:rPr>
              <a:t>「我知道什么最重要，什么可以延后」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5943600"/>
            <a:ext cx="110578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E3A93C"/>
                </a:solidFill>
                <a:latin typeface="微软雅黑"/>
              </a:rPr>
              <a:t>这五项能力，AI 一项都替代不了 —— 它们恰恰是每一位领域专家已经具备的。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1057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B7BD3"/>
                </a:solidFill>
                <a:latin typeface="微软雅黑"/>
              </a:rPr>
              <a:t>06 · 推广建议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105783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2239"/>
                </a:solidFill>
                <a:latin typeface="微软雅黑"/>
              </a:rPr>
              <a:t>方法论完全可复制：从一个人的实践到一个部门的能力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502920" cy="38100"/>
          </a:xfrm>
          <a:prstGeom prst="rect">
            <a:avLst/>
          </a:prstGeom>
          <a:solidFill>
            <a:srgbClr val="E3A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78C"/>
                </a:solidFill>
                <a:latin typeface="微软雅黑"/>
              </a:rPr>
              <a:t>AI赋能DBA创新实践 · TDSQL数据库SQL审核工具 v1.0.2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4778C"/>
                </a:solidFill>
                <a:latin typeface="微软雅黑"/>
              </a:rPr>
              <a:t>32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72768"/>
            <a:ext cx="5394960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24459" bIns="124459"/>
          <a:lstStyle/>
          <a:p>
            <a:pPr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</a:pPr>
            <a:r>
              <a:rPr sz="1500" b="1">
                <a:solidFill>
                  <a:srgbClr val="2B7BD3"/>
                </a:solidFill>
                <a:latin typeface="微软雅黑"/>
              </a:rPr>
              <a:t>任何领域专家都可复用</a:t>
            </a:r>
          </a:p>
          <a:p>
            <a:pPr algn="l">
              <a:lnSpc>
                <a:spcPct val="125000"/>
              </a:lnSpc>
              <a:spcBef>
                <a:spcPts val="1100"/>
              </a:spcBef>
              <a:spcAft>
                <a:spcPts val="0"/>
              </a:spcAft>
            </a:pPr>
            <a:r>
              <a:rPr sz="1250" b="1">
                <a:solidFill>
                  <a:srgbClr val="0E2239"/>
                </a:solidFill>
                <a:latin typeface="微软雅黑"/>
              </a:rPr>
              <a:t>DBA：</a:t>
            </a:r>
            <a:r>
              <a:rPr sz="1250" b="0">
                <a:solidFill>
                  <a:srgbClr val="64778C"/>
                </a:solidFill>
                <a:latin typeface="微软雅黑"/>
              </a:rPr>
              <a:t>SQL 审核 / 慢SQL 平台 / 巡检系统</a:t>
            </a:r>
          </a:p>
          <a:p>
            <a:pPr algn="l">
              <a:lnSpc>
                <a:spcPct val="125000"/>
              </a:lnSpc>
              <a:spcBef>
                <a:spcPts val="1100"/>
              </a:spcBef>
              <a:spcAft>
                <a:spcPts val="0"/>
              </a:spcAft>
            </a:pPr>
            <a:r>
              <a:rPr sz="1250" b="1">
                <a:solidFill>
                  <a:srgbClr val="0E2239"/>
                </a:solidFill>
                <a:latin typeface="微软雅黑"/>
              </a:rPr>
              <a:t>网络工程师：</a:t>
            </a:r>
            <a:r>
              <a:rPr sz="1250" b="0">
                <a:solidFill>
                  <a:srgbClr val="64778C"/>
                </a:solidFill>
                <a:latin typeface="微软雅黑"/>
              </a:rPr>
              <a:t>网络监控 / 故障自动诊断</a:t>
            </a:r>
          </a:p>
          <a:p>
            <a:pPr algn="l">
              <a:lnSpc>
                <a:spcPct val="125000"/>
              </a:lnSpc>
              <a:spcBef>
                <a:spcPts val="1100"/>
              </a:spcBef>
              <a:spcAft>
                <a:spcPts val="0"/>
              </a:spcAft>
            </a:pPr>
            <a:r>
              <a:rPr sz="1250" b="1">
                <a:solidFill>
                  <a:srgbClr val="0E2239"/>
                </a:solidFill>
                <a:latin typeface="微软雅黑"/>
              </a:rPr>
              <a:t>安全工程师：</a:t>
            </a:r>
            <a:r>
              <a:rPr sz="1250" b="0">
                <a:solidFill>
                  <a:srgbClr val="64778C"/>
                </a:solidFill>
                <a:latin typeface="微软雅黑"/>
              </a:rPr>
              <a:t>漏洞扫描 / 合规检查平台</a:t>
            </a:r>
          </a:p>
          <a:p>
            <a:pPr algn="l">
              <a:lnSpc>
                <a:spcPct val="125000"/>
              </a:lnSpc>
              <a:spcBef>
                <a:spcPts val="1100"/>
              </a:spcBef>
              <a:spcAft>
                <a:spcPts val="0"/>
              </a:spcAft>
            </a:pPr>
            <a:r>
              <a:rPr sz="1250" b="1">
                <a:solidFill>
                  <a:srgbClr val="0E2239"/>
                </a:solidFill>
                <a:latin typeface="微软雅黑"/>
              </a:rPr>
              <a:t>运维工程师：</a:t>
            </a:r>
            <a:r>
              <a:rPr sz="1250" b="0">
                <a:solidFill>
                  <a:srgbClr val="64778C"/>
                </a:solidFill>
                <a:latin typeface="微软雅黑"/>
              </a:rPr>
              <a:t>CMDB / 自动化运维 / 告警系统</a:t>
            </a:r>
          </a:p>
          <a:p>
            <a:pPr algn="l">
              <a:lnSpc>
                <a:spcPct val="125000"/>
              </a:lnSpc>
              <a:spcBef>
                <a:spcPts val="1100"/>
              </a:spcBef>
              <a:spcAft>
                <a:spcPts val="0"/>
              </a:spcAft>
            </a:pPr>
            <a:r>
              <a:rPr sz="1250" b="1">
                <a:solidFill>
                  <a:srgbClr val="0E2239"/>
                </a:solidFill>
                <a:latin typeface="微软雅黑"/>
              </a:rPr>
              <a:t>业务分析师：</a:t>
            </a:r>
            <a:r>
              <a:rPr sz="1250" b="0">
                <a:solidFill>
                  <a:srgbClr val="64778C"/>
                </a:solidFill>
                <a:latin typeface="微软雅黑"/>
              </a:rPr>
              <a:t>数据分析工具 / 报表平台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572768"/>
            <a:ext cx="5394960" cy="38100"/>
          </a:xfrm>
          <a:prstGeom prst="rect">
            <a:avLst/>
          </a:prstGeom>
          <a:solidFill>
            <a:srgbClr val="2B7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36208" y="1572768"/>
            <a:ext cx="5394960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24459" bIns="124459"/>
          <a:lstStyle/>
          <a:p>
            <a:pPr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</a:pPr>
            <a:r>
              <a:rPr sz="1500" b="1">
                <a:solidFill>
                  <a:srgbClr val="E3A93C"/>
                </a:solidFill>
                <a:latin typeface="微软雅黑"/>
              </a:rPr>
              <a:t>对部门的五点推广建议</a:t>
            </a:r>
          </a:p>
          <a:p>
            <a:pPr algn="l">
              <a:lnSpc>
                <a:spcPct val="125000"/>
              </a:lnSpc>
              <a:spcBef>
                <a:spcPts val="1100"/>
              </a:spcBef>
              <a:spcAft>
                <a:spcPts val="0"/>
              </a:spcAft>
            </a:pPr>
            <a:r>
              <a:rPr sz="1250" b="1">
                <a:solidFill>
                  <a:srgbClr val="0E2239"/>
                </a:solidFill>
                <a:latin typeface="微软雅黑"/>
              </a:rPr>
              <a:t>机制：</a:t>
            </a:r>
            <a:r>
              <a:rPr sz="1250" b="0">
                <a:solidFill>
                  <a:srgbClr val="64778C"/>
                </a:solidFill>
                <a:latin typeface="微软雅黑"/>
              </a:rPr>
              <a:t>建立「AI+专家」项目孵化机制</a:t>
            </a:r>
          </a:p>
          <a:p>
            <a:pPr algn="l">
              <a:lnSpc>
                <a:spcPct val="125000"/>
              </a:lnSpc>
              <a:spcBef>
                <a:spcPts val="1100"/>
              </a:spcBef>
              <a:spcAft>
                <a:spcPts val="0"/>
              </a:spcAft>
            </a:pPr>
            <a:r>
              <a:rPr sz="1250" b="1">
                <a:solidFill>
                  <a:srgbClr val="0E2239"/>
                </a:solidFill>
                <a:latin typeface="微软雅黑"/>
              </a:rPr>
              <a:t>培训：</a:t>
            </a:r>
            <a:r>
              <a:rPr sz="1250" b="0">
                <a:solidFill>
                  <a:srgbClr val="64778C"/>
                </a:solidFill>
                <a:latin typeface="微软雅黑"/>
              </a:rPr>
              <a:t>开展提示词工程培训，推广五步方法论</a:t>
            </a:r>
          </a:p>
          <a:p>
            <a:pPr algn="l">
              <a:lnSpc>
                <a:spcPct val="125000"/>
              </a:lnSpc>
              <a:spcBef>
                <a:spcPts val="1100"/>
              </a:spcBef>
              <a:spcAft>
                <a:spcPts val="0"/>
              </a:spcAft>
            </a:pPr>
            <a:r>
              <a:rPr sz="1250" b="1">
                <a:solidFill>
                  <a:srgbClr val="0E2239"/>
                </a:solidFill>
                <a:latin typeface="微软雅黑"/>
              </a:rPr>
              <a:t>工具：</a:t>
            </a:r>
            <a:r>
              <a:rPr sz="1250" b="0">
                <a:solidFill>
                  <a:srgbClr val="64778C"/>
                </a:solidFill>
                <a:latin typeface="微软雅黑"/>
              </a:rPr>
              <a:t>统一 AI 平台，建立智能体协作规范</a:t>
            </a:r>
          </a:p>
          <a:p>
            <a:pPr algn="l">
              <a:lnSpc>
                <a:spcPct val="125000"/>
              </a:lnSpc>
              <a:spcBef>
                <a:spcPts val="1100"/>
              </a:spcBef>
              <a:spcAft>
                <a:spcPts val="0"/>
              </a:spcAft>
            </a:pPr>
            <a:r>
              <a:rPr sz="1250" b="1">
                <a:solidFill>
                  <a:srgbClr val="0E2239"/>
                </a:solidFill>
                <a:latin typeface="微软雅黑"/>
              </a:rPr>
              <a:t>激励：</a:t>
            </a:r>
            <a:r>
              <a:rPr sz="1250" b="0">
                <a:solidFill>
                  <a:srgbClr val="64778C"/>
                </a:solidFill>
                <a:latin typeface="微软雅黑"/>
              </a:rPr>
              <a:t>AI 协作创新纳入绩效，设创新实践奖</a:t>
            </a:r>
          </a:p>
          <a:p>
            <a:pPr algn="l">
              <a:lnSpc>
                <a:spcPct val="125000"/>
              </a:lnSpc>
              <a:spcBef>
                <a:spcPts val="1100"/>
              </a:spcBef>
              <a:spcAft>
                <a:spcPts val="0"/>
              </a:spcAft>
            </a:pPr>
            <a:r>
              <a:rPr sz="1250" b="1">
                <a:solidFill>
                  <a:srgbClr val="0E2239"/>
                </a:solidFill>
                <a:latin typeface="微软雅黑"/>
              </a:rPr>
              <a:t>知识：</a:t>
            </a:r>
            <a:r>
              <a:rPr sz="1250" b="0">
                <a:solidFill>
                  <a:srgbClr val="64778C"/>
                </a:solidFill>
                <a:latin typeface="微软雅黑"/>
              </a:rPr>
              <a:t>建案例库，沉淀方法论与提示词模板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6208" y="1572768"/>
            <a:ext cx="5394960" cy="38100"/>
          </a:xfrm>
          <a:prstGeom prst="rect">
            <a:avLst/>
          </a:prstGeom>
          <a:solidFill>
            <a:srgbClr val="E3A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235440" y="-2377440"/>
            <a:ext cx="5852160" cy="5852160"/>
          </a:xfrm>
          <a:prstGeom prst="ellipse">
            <a:avLst/>
          </a:prstGeom>
          <a:solidFill>
            <a:srgbClr val="12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4023360" cy="4023360"/>
          </a:xfrm>
          <a:prstGeom prst="ellipse">
            <a:avLst/>
          </a:prstGeom>
          <a:noFill/>
          <a:ln w="15240">
            <a:solidFill>
              <a:srgbClr val="1B4A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07040" y="4480560"/>
            <a:ext cx="2926080" cy="2926080"/>
          </a:xfrm>
          <a:prstGeom prst="ellipse">
            <a:avLst/>
          </a:prstGeom>
          <a:noFill/>
          <a:ln w="12700">
            <a:solidFill>
              <a:srgbClr val="1B4A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234440"/>
            <a:ext cx="110578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3A93C"/>
                </a:solidFill>
                <a:latin typeface="微软雅黑"/>
              </a:rPr>
              <a:t>结 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874519"/>
            <a:ext cx="9966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微软雅黑"/>
              </a:rPr>
              <a:t>这不是一个程序员的故事，</a:t>
            </a:r>
          </a:p>
          <a:p>
            <a:pPr algn="ctr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微软雅黑"/>
              </a:rPr>
              <a:t>而是一个 DBA 用专家智慧指挥 AI 团队的故事。</a:t>
            </a:r>
          </a:p>
          <a:p>
            <a:pPr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</a:pPr>
            <a:r>
              <a:rPr sz="1350" b="0">
                <a:solidFill>
                  <a:srgbClr val="8FC2EE"/>
                </a:solidFill>
                <a:latin typeface="微软雅黑"/>
              </a:rPr>
              <a:t>我没有写一行代码，但我设计了 119 条规则的完整体系，定义了 42 条迁移规范的技术细节，</a:t>
            </a:r>
          </a:p>
          <a:p>
            <a:pPr algn="ctr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</a:pPr>
            <a:r>
              <a:rPr sz="1350" b="0">
                <a:solidFill>
                  <a:srgbClr val="8FC2EE"/>
                </a:solidFill>
                <a:latin typeface="微软雅黑"/>
              </a:rPr>
              <a:t>审核了每一轮测试报告，并做出了每一次质量裁决。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58568" y="4251960"/>
            <a:ext cx="7680960" cy="914400"/>
          </a:xfrm>
          <a:prstGeom prst="roundRect">
            <a:avLst>
              <a:gd name="adj" fmla="val 12000"/>
            </a:avLst>
          </a:prstGeom>
          <a:solidFill>
            <a:srgbClr val="13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88900" bIns="8890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E3A93C"/>
                </a:solidFill>
                <a:latin typeface="微软雅黑"/>
              </a:rPr>
              <a:t>AI 是放大器 —— 它放大了专家能力，而不是替代了专家能力。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440680"/>
            <a:ext cx="110578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一个人 + AI = 一个生产力团队。这不是未来的愿景，而是今天正在发生的现实。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172200"/>
            <a:ext cx="110578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E7793"/>
                </a:solidFill>
                <a:latin typeface="微软雅黑"/>
              </a:rPr>
              <a:t>—— 感谢聆听 ——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