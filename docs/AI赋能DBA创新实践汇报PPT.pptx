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2377440"/>
            <a:ext cx="5852160" cy="5852160"/>
          </a:xfrm>
          <a:prstGeom prst="ellipse">
            <a:avLst/>
          </a:prstGeom>
          <a:solidFill>
            <a:srgbClr val="12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4023360" cy="4023360"/>
          </a:xfrm>
          <a:prstGeom prst="ellipse">
            <a:avLst/>
          </a:prstGeom>
          <a:noFill/>
          <a:ln w="1524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4480560"/>
            <a:ext cx="2926080" cy="2926080"/>
          </a:xfrm>
          <a:prstGeom prst="ellipse">
            <a:avLst/>
          </a:prstGeom>
          <a:noFill/>
          <a:ln w="1270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1704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3A93C"/>
                </a:solidFill>
                <a:latin typeface="微软雅黑"/>
              </a:rPr>
              <a:t>信息科技部 · AI赋能创新实践汇报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9496" y="1691640"/>
            <a:ext cx="111556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FFFFFF"/>
                </a:solidFill>
                <a:latin typeface="微软雅黑"/>
              </a:rPr>
              <a:t>一个人 + AI = 一个生产力团队</a:t>
            </a:r>
          </a:p>
          <a:p>
            <a:pPr algn="l">
              <a:lnSpc>
                <a:spcPct val="112000"/>
              </a:lnSpc>
              <a:spcBef>
                <a:spcPts val="1400"/>
              </a:spcBef>
              <a:spcAft>
                <a:spcPts val="0"/>
              </a:spcAft>
            </a:pPr>
            <a:r>
              <a:rPr sz="1900" b="0">
                <a:solidFill>
                  <a:srgbClr val="8FC2EE"/>
                </a:solidFill>
                <a:latin typeface="微软雅黑"/>
              </a:rPr>
              <a:t>DBA 专家驱动 AI 协作，从零构建企业级 SQL 审核平台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3703320"/>
            <a:ext cx="731520" cy="4445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39502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汇报人：林桑（DBA）</a:t>
            </a:r>
            <a:r>
              <a:rPr sz="1400" b="0">
                <a:solidFill>
                  <a:srgbClr val="8FC2EE"/>
                </a:solidFill>
                <a:latin typeface="微软雅黑"/>
              </a:rPr>
              <a:t>    项目：TDSQL数据库SQL审核工具 v1.0.2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892040"/>
            <a:ext cx="2395728" cy="1143000"/>
          </a:xfrm>
          <a:prstGeom prst="roundRect">
            <a:avLst>
              <a:gd name="adj" fmla="val 12000"/>
            </a:avLst>
          </a:prstGeom>
          <a:solidFill>
            <a:srgbClr val="13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1120" bIns="7112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E3A93C"/>
                </a:solidFill>
                <a:latin typeface="微软雅黑"/>
              </a:rPr>
              <a:t>8 周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8FC2EE"/>
                </a:solidFill>
                <a:latin typeface="微软雅黑"/>
              </a:rPr>
              <a:t>从零到上线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4892040"/>
            <a:ext cx="2395728" cy="1143000"/>
          </a:xfrm>
          <a:prstGeom prst="roundRect">
            <a:avLst>
              <a:gd name="adj" fmla="val 12000"/>
            </a:avLst>
          </a:prstGeom>
          <a:solidFill>
            <a:srgbClr val="13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1120" bIns="7112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</a:rPr>
              <a:t>119 条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8FC2EE"/>
                </a:solidFill>
                <a:latin typeface="微软雅黑"/>
              </a:rPr>
              <a:t>审核规则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25312" y="4892040"/>
            <a:ext cx="2395728" cy="1143000"/>
          </a:xfrm>
          <a:prstGeom prst="roundRect">
            <a:avLst>
              <a:gd name="adj" fmla="val 12000"/>
            </a:avLst>
          </a:prstGeom>
          <a:solidFill>
            <a:srgbClr val="13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1120" bIns="7112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</a:rPr>
              <a:t>880 项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8FC2EE"/>
                </a:solidFill>
                <a:latin typeface="微软雅黑"/>
              </a:rPr>
              <a:t>自动化测试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04504" y="4892040"/>
            <a:ext cx="2395728" cy="1143000"/>
          </a:xfrm>
          <a:prstGeom prst="roundRect">
            <a:avLst>
              <a:gd name="adj" fmla="val 12000"/>
            </a:avLst>
          </a:prstGeom>
          <a:solidFill>
            <a:srgbClr val="13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1120" bIns="7112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E3A93C"/>
                </a:solidFill>
                <a:latin typeface="微软雅黑"/>
              </a:rPr>
              <a:t>0 行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8FC2EE"/>
                </a:solidFill>
                <a:latin typeface="微软雅黑"/>
              </a:rPr>
              <a:t>本人手写代码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汇报目录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358384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74520"/>
            <a:ext cx="1051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6DAF0"/>
                </a:solidFill>
                <a:latin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8528" y="1801368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2239"/>
                </a:solidFill>
                <a:latin typeface="微软雅黑"/>
              </a:rPr>
              <a:t>背景与挑战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最懂需求的人，不会写代码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600200"/>
            <a:ext cx="5358384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874520"/>
            <a:ext cx="1051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6DAF0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6096" y="1801368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2239"/>
                </a:solidFill>
                <a:latin typeface="微软雅黑"/>
              </a:rPr>
              <a:t>方法论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专家驱动的三角色 AI 协作模型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172968"/>
            <a:ext cx="5358384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447288"/>
            <a:ext cx="1051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6DAF0"/>
                </a:solidFill>
                <a:latin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38528" y="3374136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2239"/>
                </a:solidFill>
                <a:latin typeface="微软雅黑"/>
              </a:rPr>
              <a:t>实战历程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8 周、62 次提交、从零到 v1.0.2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3172968"/>
            <a:ext cx="5358384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3447288"/>
            <a:ext cx="1051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6DAF0"/>
                </a:solidFill>
                <a:latin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6096" y="3374136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2239"/>
                </a:solidFill>
                <a:latin typeface="微软雅黑"/>
              </a:rPr>
              <a:t>提示词工程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让 AI 完全理解人的意图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45736"/>
            <a:ext cx="5358384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020056"/>
            <a:ext cx="1051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6DAF0"/>
                </a:solidFill>
                <a:latin typeface="微软雅黑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38528" y="4946904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2239"/>
                </a:solidFill>
                <a:latin typeface="微软雅黑"/>
              </a:rPr>
              <a:t>成果与数据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效率提升 3-6 倍，节省 50 万+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4496" y="4745736"/>
            <a:ext cx="5358384" cy="13167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8" y="5020056"/>
            <a:ext cx="1051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C6DAF0"/>
                </a:solidFill>
                <a:latin typeface="微软雅黑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26096" y="4946904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2239"/>
                </a:solidFill>
                <a:latin typeface="微软雅黑"/>
              </a:rPr>
              <a:t>能力提升与推广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AI 是放大器，专家是灵魂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2377440"/>
            <a:ext cx="5852160" cy="5852160"/>
          </a:xfrm>
          <a:prstGeom prst="ellipse">
            <a:avLst/>
          </a:prstGeom>
          <a:solidFill>
            <a:srgbClr val="12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4023360" cy="4023360"/>
          </a:xfrm>
          <a:prstGeom prst="ellipse">
            <a:avLst/>
          </a:prstGeom>
          <a:noFill/>
          <a:ln w="1524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4480560"/>
            <a:ext cx="2926080" cy="2926080"/>
          </a:xfrm>
          <a:prstGeom prst="ellipse">
            <a:avLst/>
          </a:prstGeom>
          <a:noFill/>
          <a:ln w="1270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0" b="1">
                <a:solidFill>
                  <a:srgbClr val="1D416B"/>
                </a:solidFill>
                <a:latin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3063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微软雅黑"/>
              </a:rPr>
              <a:t>背景与挑战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" y="3913632"/>
            <a:ext cx="594360" cy="4445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4114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FC2EE"/>
                </a:solidFill>
                <a:latin typeface="微软雅黑"/>
              </a:rPr>
              <a:t>SQL 质量管控之痛，与一个 DBA 的破局思考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5577840"/>
            <a:ext cx="128016" cy="128016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A93C"/>
                </a:solidFill>
                <a:latin typeface="微软雅黑"/>
              </a:rPr>
              <a:t>背景与挑战</a:t>
            </a:r>
          </a:p>
        </p:txBody>
      </p:sp>
      <p:sp>
        <p:nvSpPr>
          <p:cNvPr id="12" name="Oval 11"/>
          <p:cNvSpPr/>
          <p:nvPr/>
        </p:nvSpPr>
        <p:spPr>
          <a:xfrm>
            <a:off x="2112264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00784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方法论</a:t>
            </a:r>
          </a:p>
        </p:txBody>
      </p:sp>
      <p:sp>
        <p:nvSpPr>
          <p:cNvPr id="14" name="Oval 13"/>
          <p:cNvSpPr/>
          <p:nvPr/>
        </p:nvSpPr>
        <p:spPr>
          <a:xfrm>
            <a:off x="3593592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82112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实战历程</a:t>
            </a:r>
          </a:p>
        </p:txBody>
      </p:sp>
      <p:sp>
        <p:nvSpPr>
          <p:cNvPr id="16" name="Oval 15"/>
          <p:cNvSpPr/>
          <p:nvPr/>
        </p:nvSpPr>
        <p:spPr>
          <a:xfrm>
            <a:off x="5074920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提示词工程</a:t>
            </a:r>
          </a:p>
        </p:txBody>
      </p:sp>
      <p:sp>
        <p:nvSpPr>
          <p:cNvPr id="18" name="Oval 17"/>
          <p:cNvSpPr/>
          <p:nvPr/>
        </p:nvSpPr>
        <p:spPr>
          <a:xfrm>
            <a:off x="6556248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成果与数据</a:t>
            </a:r>
          </a:p>
        </p:txBody>
      </p:sp>
      <p:sp>
        <p:nvSpPr>
          <p:cNvPr id="20" name="Oval 19"/>
          <p:cNvSpPr/>
          <p:nvPr/>
        </p:nvSpPr>
        <p:spPr>
          <a:xfrm>
            <a:off x="8037576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609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能力提升与推广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01 · 背景与挑战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日常运维中的三大核心痛点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3529584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750" b="1">
                <a:solidFill>
                  <a:srgbClr val="0E2239"/>
                </a:solidFill>
                <a:latin typeface="微软雅黑"/>
              </a:rPr>
              <a:t>SQL 质量管控缺失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>
                <a:solidFill>
                  <a:srgbClr val="1C2B3A"/>
                </a:solidFill>
                <a:latin typeface="微软雅黑"/>
              </a:rPr>
              <a:t>开发提交的 SQL 未经审核直接上线，生产事故频发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554480"/>
            <a:ext cx="3529584" cy="38100"/>
          </a:xfrm>
          <a:prstGeom prst="rect">
            <a:avLst/>
          </a:prstGeom>
          <a:solidFill>
            <a:srgbClr val="CE5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86384" y="4133087"/>
            <a:ext cx="3090672" cy="475488"/>
          </a:xfrm>
          <a:prstGeom prst="roundRect">
            <a:avLst>
              <a:gd name="adj" fmla="val 50000"/>
            </a:avLst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E544E"/>
                </a:solidFill>
                <a:latin typeface="微软雅黑"/>
              </a:rPr>
              <a:t>影响：系统稳定性差 · 运维成本高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4548" y="1554480"/>
            <a:ext cx="3529584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750" b="1">
                <a:solidFill>
                  <a:srgbClr val="0E2239"/>
                </a:solidFill>
                <a:latin typeface="微软雅黑"/>
              </a:rPr>
              <a:t>Oracle 迁移适配难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>
                <a:solidFill>
                  <a:srgbClr val="1C2B3A"/>
                </a:solidFill>
                <a:latin typeface="微软雅黑"/>
              </a:rPr>
              <a:t>业务系统 Oracle → TDSQL，42 类不兼容语法需逐一排查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4548" y="1554480"/>
            <a:ext cx="3529584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04004" y="4133087"/>
            <a:ext cx="3090672" cy="475488"/>
          </a:xfrm>
          <a:prstGeom prst="roundRect">
            <a:avLst>
              <a:gd name="adj" fmla="val 5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3A93C"/>
                </a:solidFill>
                <a:latin typeface="微软雅黑"/>
              </a:rPr>
              <a:t>影响：人工审查效率极低 · 遗漏风险大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02168" y="1554480"/>
            <a:ext cx="3529584" cy="3291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750" b="1">
                <a:solidFill>
                  <a:srgbClr val="0E2239"/>
                </a:solidFill>
                <a:latin typeface="微软雅黑"/>
              </a:rPr>
              <a:t>慢 SQL 治理被动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0">
                <a:solidFill>
                  <a:srgbClr val="1C2B3A"/>
                </a:solidFill>
                <a:latin typeface="微软雅黑"/>
              </a:rPr>
              <a:t>缺乏主动发现与优化建议能力，问题暴露后才能救火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2168" y="1554480"/>
            <a:ext cx="3529584" cy="3810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21624" y="4133087"/>
            <a:ext cx="3090672" cy="475488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B7BD3"/>
                </a:solidFill>
                <a:latin typeface="微软雅黑"/>
              </a:rPr>
              <a:t>影响：用户体验差 · 资源浪费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257800"/>
            <a:ext cx="11057839" cy="914400"/>
          </a:xfrm>
          <a:prstGeom prst="roundRect">
            <a:avLst>
              <a:gd name="adj" fmla="val 12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42240" bIns="14224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64778C"/>
                </a:solidFill>
                <a:latin typeface="微软雅黑"/>
              </a:rPr>
              <a:t>痛点的共同根源：</a:t>
            </a:r>
            <a:r>
              <a:rPr sz="1450" b="1">
                <a:solidFill>
                  <a:srgbClr val="0E2239"/>
                </a:solidFill>
                <a:latin typeface="微软雅黑"/>
              </a:rPr>
              <a:t>SQL 质量问题必须在上线前拦截，而拦截需要一套自动化、懂 TDSQL 的审核工具。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01 · 背景与挑战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三条传统路径，条条走不通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11057839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41248" y="1847088"/>
            <a:ext cx="384048" cy="384048"/>
          </a:xfrm>
          <a:prstGeom prst="ellipse">
            <a:avLst/>
          </a:prstGeom>
          <a:solidFill>
            <a:srgbClr val="CE5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1700784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E2239"/>
                </a:solidFill>
                <a:latin typeface="微软雅黑"/>
              </a:rPr>
              <a:t>采购商业产品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50208" y="1700784"/>
            <a:ext cx="7498079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年费数十万，定制化困难，与行内 TDSQL 环境适配差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88336"/>
            <a:ext cx="11057839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2962656"/>
            <a:ext cx="384048" cy="384048"/>
          </a:xfrm>
          <a:prstGeom prst="ellipse">
            <a:avLst/>
          </a:prstGeom>
          <a:solidFill>
            <a:srgbClr val="CE5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2816352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E2239"/>
                </a:solidFill>
                <a:latin typeface="微软雅黑"/>
              </a:rPr>
              <a:t>外包开发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50208" y="2816352"/>
            <a:ext cx="7498079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沟通成本高、交付周期长，后续维护受制于人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03904"/>
            <a:ext cx="11057839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4078224"/>
            <a:ext cx="384048" cy="384048"/>
          </a:xfrm>
          <a:prstGeom prst="ellipse">
            <a:avLst/>
          </a:prstGeom>
          <a:solidFill>
            <a:srgbClr val="CE5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3931920"/>
            <a:ext cx="23774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E2239"/>
                </a:solidFill>
                <a:latin typeface="微软雅黑"/>
              </a:rPr>
              <a:t>自行开发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3931920"/>
            <a:ext cx="7498079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我是 DBA，数据库运维专家——但编程一窍不通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20640"/>
            <a:ext cx="11057839" cy="1078992"/>
          </a:xfrm>
          <a:prstGeom prst="roundRect">
            <a:avLst>
              <a:gd name="adj" fmla="val 1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60020" bIns="16002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3A93C"/>
                </a:solidFill>
                <a:latin typeface="微软雅黑"/>
              </a:rPr>
              <a:t>核 心 矛 盾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微软雅黑"/>
              </a:rPr>
              <a:t>最懂业务需求的人（DBA）不具备编程能力；有编程能力的人，不理解 DBA 的专业需求。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01 · 背景与挑战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破局思路：一个大胆的假设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3200400" cy="1371600"/>
          </a:xfrm>
          <a:prstGeom prst="roundRect">
            <a:avLst>
              <a:gd name="adj" fmla="val 1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B7BD3"/>
                </a:solidFill>
                <a:latin typeface="微软雅黑"/>
              </a:rPr>
              <a:t>DBA 的专家经验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TDSQL 技术细节 · 运维规范 · 规则体系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77056" y="1965960"/>
            <a:ext cx="640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64778C"/>
                </a:solidFill>
                <a:latin typeface="微软雅黑"/>
              </a:rPr>
              <a:t>+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90288" y="1691640"/>
            <a:ext cx="3200400" cy="1371600"/>
          </a:xfrm>
          <a:prstGeom prst="roundRect">
            <a:avLst>
              <a:gd name="adj" fmla="val 1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E3A93C"/>
                </a:solidFill>
                <a:latin typeface="微软雅黑"/>
              </a:rPr>
              <a:t>AI 的编程能力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代码实现 · 快速迭代 · 多角色协同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0416" y="1965960"/>
            <a:ext cx="640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64778C"/>
                </a:solidFill>
                <a:latin typeface="微软雅黑"/>
              </a:rPr>
              <a:t>=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3648" y="1691640"/>
            <a:ext cx="3291840" cy="1371600"/>
          </a:xfrm>
          <a:prstGeom prst="roundRect">
            <a:avLst>
              <a:gd name="adj" fmla="val 1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3A93C"/>
                </a:solidFill>
                <a:latin typeface="微软雅黑"/>
              </a:rPr>
              <a:t>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9000"/>
            <a:ext cx="11057839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3538728"/>
            <a:ext cx="347472" cy="347472"/>
          </a:xfrm>
          <a:prstGeom prst="ellipse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52728" y="3483864"/>
            <a:ext cx="10058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B3A"/>
                </a:solidFill>
                <a:latin typeface="微软雅黑"/>
              </a:rPr>
              <a:t>我懂 TDSQL 的每一个技术细节和运维规范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60520"/>
            <a:ext cx="11057839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270248"/>
            <a:ext cx="347472" cy="347472"/>
          </a:xfrm>
          <a:prstGeom prst="ellipse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2728" y="4215384"/>
            <a:ext cx="10058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B3A"/>
                </a:solidFill>
                <a:latin typeface="微软雅黑"/>
              </a:rPr>
              <a:t>我能设计出完整的审核规则体系和架构方案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892040"/>
            <a:ext cx="11057839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5001768"/>
            <a:ext cx="347472" cy="347472"/>
          </a:xfrm>
          <a:prstGeom prst="ellipse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2728" y="4946904"/>
            <a:ext cx="10058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B3A"/>
                </a:solidFill>
                <a:latin typeface="微软雅黑"/>
              </a:rPr>
              <a:t>AI 工具可以把我的设计思想转化为可运行的代码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623560"/>
            <a:ext cx="11057839" cy="685800"/>
          </a:xfrm>
          <a:prstGeom prst="roundRect">
            <a:avLst>
              <a:gd name="adj" fmla="val 12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3A93C"/>
                </a:solidFill>
                <a:latin typeface="微软雅黑"/>
              </a:rPr>
              <a:t>大胆假设：</a:t>
            </a:r>
            <a:r>
              <a:rPr sz="1600" b="1">
                <a:solidFill>
                  <a:srgbClr val="0E2239"/>
                </a:solidFill>
                <a:latin typeface="微软雅黑"/>
              </a:rPr>
              <a:t>一个人 + AI 工具 = 一个完整的生产力团队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2377440"/>
            <a:ext cx="5852160" cy="5852160"/>
          </a:xfrm>
          <a:prstGeom prst="ellipse">
            <a:avLst/>
          </a:prstGeom>
          <a:solidFill>
            <a:srgbClr val="12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4023360" cy="4023360"/>
          </a:xfrm>
          <a:prstGeom prst="ellipse">
            <a:avLst/>
          </a:prstGeom>
          <a:noFill/>
          <a:ln w="1524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4480560"/>
            <a:ext cx="2926080" cy="2926080"/>
          </a:xfrm>
          <a:prstGeom prst="ellipse">
            <a:avLst/>
          </a:prstGeom>
          <a:noFill/>
          <a:ln w="1270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0" b="1">
                <a:solidFill>
                  <a:srgbClr val="1D416B"/>
                </a:solidFill>
                <a:latin typeface="微软雅黑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3063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微软雅黑"/>
              </a:rPr>
              <a:t>方法论：专家驱动 AI 协作模型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" y="3913632"/>
            <a:ext cx="594360" cy="4445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4114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FC2EE"/>
                </a:solidFill>
                <a:latin typeface="微软雅黑"/>
              </a:rPr>
              <a:t>把 AI 当团队管理，而不是当工具使用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背景与挑战</a:t>
            </a:r>
          </a:p>
        </p:txBody>
      </p:sp>
      <p:sp>
        <p:nvSpPr>
          <p:cNvPr id="12" name="Oval 11"/>
          <p:cNvSpPr/>
          <p:nvPr/>
        </p:nvSpPr>
        <p:spPr>
          <a:xfrm>
            <a:off x="2112264" y="5577840"/>
            <a:ext cx="128016" cy="128016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00784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A93C"/>
                </a:solidFill>
                <a:latin typeface="微软雅黑"/>
              </a:rPr>
              <a:t>方法论</a:t>
            </a:r>
          </a:p>
        </p:txBody>
      </p:sp>
      <p:sp>
        <p:nvSpPr>
          <p:cNvPr id="14" name="Oval 13"/>
          <p:cNvSpPr/>
          <p:nvPr/>
        </p:nvSpPr>
        <p:spPr>
          <a:xfrm>
            <a:off x="3593592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82112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实战历程</a:t>
            </a:r>
          </a:p>
        </p:txBody>
      </p:sp>
      <p:sp>
        <p:nvSpPr>
          <p:cNvPr id="16" name="Oval 15"/>
          <p:cNvSpPr/>
          <p:nvPr/>
        </p:nvSpPr>
        <p:spPr>
          <a:xfrm>
            <a:off x="5074920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提示词工程</a:t>
            </a:r>
          </a:p>
        </p:txBody>
      </p:sp>
      <p:sp>
        <p:nvSpPr>
          <p:cNvPr id="18" name="Oval 17"/>
          <p:cNvSpPr/>
          <p:nvPr/>
        </p:nvSpPr>
        <p:spPr>
          <a:xfrm>
            <a:off x="6556248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成果与数据</a:t>
            </a:r>
          </a:p>
        </p:txBody>
      </p:sp>
      <p:sp>
        <p:nvSpPr>
          <p:cNvPr id="20" name="Oval 19"/>
          <p:cNvSpPr/>
          <p:nvPr/>
        </p:nvSpPr>
        <p:spPr>
          <a:xfrm>
            <a:off x="8037576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609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能力提升与推广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02 · 方法论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核心理念：专家是「大脑」，AI 是「双手」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42240" bIns="142240"/>
          <a:lstStyle/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1">
                <a:solidFill>
                  <a:srgbClr val="2B7BD3"/>
                </a:solidFill>
                <a:latin typeface="微软雅黑"/>
              </a:rPr>
              <a:t>专家 = 大脑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●  架构设计能力 —— 定方向、定边界、定标准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●  业务理解深度 —— 懂 TDSQL 的每一个细节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●  质量判断标准 —— 什么是「生产级可用」</a:t>
            </a:r>
          </a:p>
          <a:p>
            <a:pPr algn="l">
              <a:lnSpc>
                <a:spcPct val="112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1">
                <a:solidFill>
                  <a:srgbClr val="64778C"/>
                </a:solidFill>
                <a:latin typeface="微软雅黑"/>
              </a:rPr>
              <a:t>提供方向和质量标准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572768"/>
            <a:ext cx="5394960" cy="4445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27064" y="1572768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42240" bIns="142240"/>
          <a:lstStyle/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2000" b="1">
                <a:solidFill>
                  <a:srgbClr val="E3A93C"/>
                </a:solidFill>
                <a:latin typeface="微软雅黑"/>
              </a:rPr>
              <a:t>AI = 双手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●  代码实现能力 —— 万行级工程的落地执行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●  快速迭代能力 —— 小时级完成一轮整改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●  多角色协同能力 —— 设计 / 编码 / 测试并行</a:t>
            </a:r>
          </a:p>
          <a:p>
            <a:pPr algn="l">
              <a:lnSpc>
                <a:spcPct val="112000"/>
              </a:lnSpc>
              <a:spcBef>
                <a:spcPts val="1800"/>
              </a:spcBef>
              <a:spcAft>
                <a:spcPts val="0"/>
              </a:spcAft>
            </a:pPr>
            <a:r>
              <a:rPr sz="1300" b="1">
                <a:solidFill>
                  <a:srgbClr val="64778C"/>
                </a:solidFill>
                <a:latin typeface="微软雅黑"/>
              </a:rPr>
              <a:t>提供执行力和生产效率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7064" y="1572768"/>
            <a:ext cx="5394960" cy="4445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868680"/>
          </a:xfrm>
          <a:prstGeom prst="roundRect">
            <a:avLst>
              <a:gd name="adj" fmla="val 1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微软雅黑"/>
              </a:rPr>
              <a:t>关键洞察：我不是在和 AI「对话」，我是在管理一个 AI 团队 —— 像 Tech Lead 管理开发团队一样。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02 · 方法论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三角色 AI 协作架构：各司其职、相互制衡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41648" y="1481328"/>
            <a:ext cx="4114800" cy="987552"/>
          </a:xfrm>
          <a:prstGeom prst="roundRect">
            <a:avLst>
              <a:gd name="adj" fmla="val 1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3A93C"/>
                </a:solidFill>
                <a:latin typeface="微软雅黑"/>
              </a:rPr>
              <a:t>我（DBA · Tech Lead）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>
                <a:solidFill>
                  <a:srgbClr val="8FC2EE"/>
                </a:solidFill>
                <a:latin typeface="微软雅黑"/>
              </a:rPr>
              <a:t>决策 · 设计思想 · 质量裁决 · 验收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331720.0" y="2468880"/>
            <a:ext cx="3767328.0" cy="411480"/>
          </a:xfrm>
          <a:prstGeom prst="bentConnector3">
            <a:avLst/>
          </a:prstGeom>
          <a:ln w="19050">
            <a:solidFill>
              <a:srgbClr val="DC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66928" y="2880360"/>
            <a:ext cx="352958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ctr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0E2239"/>
                </a:solidFill>
                <a:latin typeface="微软雅黑"/>
              </a:rPr>
              <a:t>设计智能体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1">
                <a:solidFill>
                  <a:srgbClr val="2B7BD3"/>
                </a:solidFill>
                <a:latin typeface="微软雅黑"/>
              </a:rPr>
              <a:t>我的「设计参谋」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需求分析 · 架构设计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设计说明书 · 质检验收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0360"/>
            <a:ext cx="3529584" cy="3810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 flipV="1">
            <a:off x="6099048" y="2468880"/>
            <a:ext cx="50292.0" cy="411480"/>
          </a:xfrm>
          <a:prstGeom prst="bentConnector3">
            <a:avLst/>
          </a:prstGeom>
          <a:ln w="19050">
            <a:solidFill>
              <a:srgbClr val="DC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84548" y="2880360"/>
            <a:ext cx="352958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ctr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0E2239"/>
                </a:solidFill>
                <a:latin typeface="微软雅黑"/>
              </a:rPr>
              <a:t>编码智能体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1">
                <a:solidFill>
                  <a:srgbClr val="E3A93C"/>
                </a:solidFill>
                <a:latin typeface="微软雅黑"/>
              </a:rPr>
              <a:t>我的「程序员」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代码实现 · 缺陷修复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性能优化 · 部署脚本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4548" y="2880360"/>
            <a:ext cx="3529584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6099048" y="2468880"/>
            <a:ext cx="3867912.0" cy="411480"/>
          </a:xfrm>
          <a:prstGeom prst="bentConnector3">
            <a:avLst/>
          </a:prstGeom>
          <a:ln w="19050">
            <a:solidFill>
              <a:srgbClr val="DC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202168" y="2880360"/>
            <a:ext cx="352958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ctr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700" b="1">
                <a:solidFill>
                  <a:srgbClr val="0E2239"/>
                </a:solidFill>
                <a:latin typeface="微软雅黑"/>
              </a:rPr>
              <a:t>测试智能体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1">
                <a:solidFill>
                  <a:srgbClr val="2E9E6B"/>
                </a:solidFill>
                <a:latin typeface="微软雅黑"/>
              </a:rPr>
              <a:t>我的「QA 工程师」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SIT/UAT 测试 · 回归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缺陷发现 · 复测准出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2168" y="2880360"/>
            <a:ext cx="3529584" cy="381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" y="5321808"/>
            <a:ext cx="11057839" cy="914400"/>
          </a:xfrm>
          <a:prstGeom prst="roundRect">
            <a:avLst>
              <a:gd name="adj" fmla="val 1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B7BD3"/>
                </a:solidFill>
                <a:latin typeface="微软雅黑"/>
              </a:rPr>
              <a:t>为什么要三个角色？ </a:t>
            </a:r>
            <a:r>
              <a:rPr sz="1350" b="0">
                <a:solidFill>
                  <a:srgbClr val="0E2239"/>
                </a:solidFill>
                <a:latin typeface="微软雅黑"/>
              </a:rPr>
              <a:t>单一 AI 既当运动员又当裁判必然失控。设计出标准、编码去实现、测试来揭短，我做最终裁决 —— 制衡产生质量。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02 · 方法论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五步交互方法论：数十轮迭代沉淀的固定打法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74519"/>
            <a:ext cx="2084831" cy="228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1120" bIns="711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" b="0">
                <a:solidFill>
                  <a:srgbClr val="64778C"/>
                </a:solidFill>
                <a:latin typeface="微软雅黑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74519"/>
            <a:ext cx="2084831" cy="3810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17319" y="2130552"/>
            <a:ext cx="384048" cy="384048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697480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2239"/>
                </a:solidFill>
                <a:latin typeface="微软雅黑"/>
              </a:rPr>
              <a:t>专家定义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3200400"/>
            <a:ext cx="18653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我输出设计思想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与业务需求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96895" y="26974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B7BD3"/>
                </a:solidFill>
                <a:latin typeface="微软雅黑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07791" y="1874519"/>
            <a:ext cx="2084831" cy="228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1120" bIns="711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" b="0">
                <a:solidFill>
                  <a:srgbClr val="64778C"/>
                </a:solidFill>
                <a:latin typeface="微软雅黑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2907791" y="1874519"/>
            <a:ext cx="2084831" cy="3810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758182" y="2130552"/>
            <a:ext cx="384048" cy="384048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07791" y="2697480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2239"/>
                </a:solidFill>
                <a:latin typeface="微软雅黑"/>
              </a:rPr>
              <a:t>AI 设计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19" y="3200400"/>
            <a:ext cx="18653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设计智能体产出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详细设计说明书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58" y="26974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B7BD3"/>
                </a:solidFill>
                <a:latin typeface="微软雅黑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48654" y="1874519"/>
            <a:ext cx="2084831" cy="228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1120" bIns="711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" b="0">
                <a:solidFill>
                  <a:srgbClr val="64778C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248654" y="1874519"/>
            <a:ext cx="2084831" cy="3810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099045" y="2130552"/>
            <a:ext cx="384048" cy="384048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8654" y="2697480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2239"/>
                </a:solidFill>
                <a:latin typeface="微软雅黑"/>
              </a:rPr>
              <a:t>AI 实现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58382" y="3200400"/>
            <a:ext cx="18653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编码智能体严格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按说明书编码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78621" y="26974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B7BD3"/>
                </a:solidFill>
                <a:latin typeface="微软雅黑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89517" y="1874519"/>
            <a:ext cx="2084831" cy="228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1120" bIns="711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" b="0">
                <a:solidFill>
                  <a:srgbClr val="64778C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7589517" y="1874519"/>
            <a:ext cx="2084831" cy="3810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439908" y="2130552"/>
            <a:ext cx="384048" cy="384048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17" y="2697480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2239"/>
                </a:solidFill>
                <a:latin typeface="微软雅黑"/>
              </a:rPr>
              <a:t>AI 测试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99245" y="3200400"/>
            <a:ext cx="18653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测试智能体独立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验证、揭示缺陷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4" y="26974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2B7BD3"/>
                </a:solidFill>
                <a:latin typeface="微软雅黑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930380" y="1874519"/>
            <a:ext cx="2084831" cy="2286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71120" bIns="7112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400" b="0">
                <a:solidFill>
                  <a:srgbClr val="64778C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9930380" y="1874519"/>
            <a:ext cx="2084831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780771" y="2130552"/>
            <a:ext cx="384048" cy="384048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30380" y="2697480"/>
            <a:ext cx="208483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2239"/>
                </a:solidFill>
                <a:latin typeface="微软雅黑"/>
              </a:rPr>
              <a:t>闭环修复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08" y="3200400"/>
            <a:ext cx="186537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我审报告做裁决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指挥修复再复验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4572000"/>
            <a:ext cx="11057839" cy="566928"/>
          </a:xfrm>
          <a:prstGeom prst="roundRect">
            <a:avLst>
              <a:gd name="adj" fmla="val 3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3A93C"/>
                </a:solidFill>
                <a:latin typeface="微软雅黑"/>
              </a:rPr>
              <a:t>⟲  循环迭代，直到质检通过准出 —— 本项目最多的一个模块循环了 4 轮，最终 0 缺陷上线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5440680"/>
            <a:ext cx="1105783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这套流程看似「慢」，实际是最快的路径：</a:t>
            </a:r>
            <a:r>
              <a:rPr sz="1350" b="0">
                <a:solidFill>
                  <a:srgbClr val="64778C"/>
                </a:solidFill>
                <a:latin typeface="微软雅黑"/>
              </a:rPr>
              <a:t>设计先行避免了方向性返工，独立测试把缺陷拦在上线前。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02 · 方法论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质量的秘密：制衡，而不是信任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91640"/>
            <a:ext cx="3017520" cy="15544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0E2239"/>
                </a:solidFill>
                <a:latin typeface="微软雅黑"/>
              </a:rPr>
              <a:t>设计智能体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产出设计说明书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+ 质检验收报告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91640"/>
            <a:ext cx="3017520" cy="3810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21488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4778C"/>
                </a:solidFill>
                <a:latin typeface="微软雅黑"/>
              </a:rPr>
              <a:t>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0248" y="1691640"/>
            <a:ext cx="3017520" cy="15544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0E2239"/>
                </a:solidFill>
                <a:latin typeface="微软雅黑"/>
              </a:rPr>
              <a:t>编码智能体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按说明书实现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按整改单修复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1691640"/>
            <a:ext cx="30175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214884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64778C"/>
                </a:solidFill>
                <a:latin typeface="微软雅黑"/>
              </a:rPr>
              <a:t>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1691640"/>
            <a:ext cx="3017520" cy="15544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600" b="1">
                <a:solidFill>
                  <a:srgbClr val="0E2239"/>
                </a:solidFill>
                <a:latin typeface="微软雅黑"/>
              </a:rPr>
              <a:t>测试智能体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独立执行用例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出具测试报告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90688" y="1691640"/>
            <a:ext cx="3017520" cy="38100"/>
          </a:xfrm>
          <a:prstGeom prst="rect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41648" y="3657600"/>
            <a:ext cx="4114800" cy="960120"/>
          </a:xfrm>
          <a:prstGeom prst="roundRect">
            <a:avLst>
              <a:gd name="adj" fmla="val 1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3A93C"/>
                </a:solidFill>
                <a:latin typeface="微软雅黑"/>
              </a:rPr>
              <a:t>我：最终质量裁决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8FC2EE"/>
                </a:solidFill>
                <a:latin typeface="微软雅黑"/>
              </a:rPr>
              <a:t>逐条审核报告 · 确认根因 · 决定准出/整改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258568.0" y="3246120"/>
            <a:ext cx="3840480.0" cy="411480"/>
          </a:xfrm>
          <a:prstGeom prst="bentConnector3">
            <a:avLst/>
          </a:prstGeom>
          <a:ln w="19050">
            <a:solidFill>
              <a:srgbClr val="DC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779008.0" y="3246120"/>
            <a:ext cx="320040.0" cy="411480"/>
          </a:xfrm>
          <a:prstGeom prst="bentConnector3">
            <a:avLst/>
          </a:prstGeom>
          <a:ln w="19050">
            <a:solidFill>
              <a:srgbClr val="DC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099048" y="3246120"/>
            <a:ext cx="3200400.0" cy="411480"/>
          </a:xfrm>
          <a:prstGeom prst="bentConnector3">
            <a:avLst/>
          </a:prstGeom>
          <a:ln w="19050">
            <a:solidFill>
              <a:srgbClr val="DCE5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66928" y="5029200"/>
            <a:ext cx="11057839" cy="1051560"/>
          </a:xfrm>
          <a:prstGeom prst="roundRect">
            <a:avLst>
              <a:gd name="adj" fmla="val 1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0E2239"/>
                </a:solidFill>
                <a:latin typeface="微软雅黑"/>
              </a:rPr>
              <a:t>真实一幕：编码智能体报告「已完成并自测通过」，质检验收却发现 11 个页面是空壳——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450" b="1">
                <a:solidFill>
                  <a:srgbClr val="2B7BD3"/>
                </a:solidFill>
                <a:latin typeface="微软雅黑"/>
              </a:rPr>
              <a:t>「AI 说做完了」不算数，</a:t>
            </a:r>
            <a:r>
              <a:rPr sz="1450" b="1">
                <a:solidFill>
                  <a:srgbClr val="E3A93C"/>
                </a:solidFill>
                <a:latin typeface="微软雅黑"/>
              </a:rPr>
              <a:t>独立验证 + 专家裁决</a:t>
            </a:r>
            <a:r>
              <a:rPr sz="1450" b="1">
                <a:solidFill>
                  <a:srgbClr val="2B7BD3"/>
                </a:solidFill>
                <a:latin typeface="微软雅黑"/>
              </a:rPr>
              <a:t>才算数。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2377440"/>
            <a:ext cx="5852160" cy="5852160"/>
          </a:xfrm>
          <a:prstGeom prst="ellipse">
            <a:avLst/>
          </a:prstGeom>
          <a:solidFill>
            <a:srgbClr val="12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4023360" cy="4023360"/>
          </a:xfrm>
          <a:prstGeom prst="ellipse">
            <a:avLst/>
          </a:prstGeom>
          <a:noFill/>
          <a:ln w="1524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4480560"/>
            <a:ext cx="2926080" cy="2926080"/>
          </a:xfrm>
          <a:prstGeom prst="ellipse">
            <a:avLst/>
          </a:prstGeom>
          <a:noFill/>
          <a:ln w="1270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0" b="1">
                <a:solidFill>
                  <a:srgbClr val="1D416B"/>
                </a:solidFill>
                <a:latin typeface="微软雅黑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3063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微软雅黑"/>
              </a:rPr>
              <a:t>实战历程：从零到上线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" y="3913632"/>
            <a:ext cx="594360" cy="4445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4114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FC2EE"/>
                </a:solidFill>
                <a:latin typeface="微软雅黑"/>
              </a:rPr>
              <a:t>8 周 · 7 个阶段 · 62 次提交 · 一次真实的完整交付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背景与挑战</a:t>
            </a:r>
          </a:p>
        </p:txBody>
      </p:sp>
      <p:sp>
        <p:nvSpPr>
          <p:cNvPr id="12" name="Oval 11"/>
          <p:cNvSpPr/>
          <p:nvPr/>
        </p:nvSpPr>
        <p:spPr>
          <a:xfrm>
            <a:off x="2112264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00784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方法论</a:t>
            </a:r>
          </a:p>
        </p:txBody>
      </p:sp>
      <p:sp>
        <p:nvSpPr>
          <p:cNvPr id="14" name="Oval 13"/>
          <p:cNvSpPr/>
          <p:nvPr/>
        </p:nvSpPr>
        <p:spPr>
          <a:xfrm>
            <a:off x="3593592" y="5577840"/>
            <a:ext cx="128016" cy="128016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82112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A93C"/>
                </a:solidFill>
                <a:latin typeface="微软雅黑"/>
              </a:rPr>
              <a:t>实战历程</a:t>
            </a:r>
          </a:p>
        </p:txBody>
      </p:sp>
      <p:sp>
        <p:nvSpPr>
          <p:cNvPr id="16" name="Oval 15"/>
          <p:cNvSpPr/>
          <p:nvPr/>
        </p:nvSpPr>
        <p:spPr>
          <a:xfrm>
            <a:off x="5074920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提示词工程</a:t>
            </a:r>
          </a:p>
        </p:txBody>
      </p:sp>
      <p:sp>
        <p:nvSpPr>
          <p:cNvPr id="18" name="Oval 17"/>
          <p:cNvSpPr/>
          <p:nvPr/>
        </p:nvSpPr>
        <p:spPr>
          <a:xfrm>
            <a:off x="6556248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成果与数据</a:t>
            </a:r>
          </a:p>
        </p:txBody>
      </p:sp>
      <p:sp>
        <p:nvSpPr>
          <p:cNvPr id="20" name="Oval 19"/>
          <p:cNvSpPr/>
          <p:nvPr/>
        </p:nvSpPr>
        <p:spPr>
          <a:xfrm>
            <a:off x="8037576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609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能力提升与推广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03 · 实战历程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项目全景：8 周走完传统 6-12 个月的路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377440"/>
            <a:ext cx="11057839" cy="25400"/>
          </a:xfrm>
          <a:prstGeom prst="rect">
            <a:avLst/>
          </a:prstGeom>
          <a:solidFill>
            <a:srgbClr val="DCE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16736" y="2313432"/>
            <a:ext cx="146304" cy="146304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874519"/>
            <a:ext cx="1700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78C"/>
                </a:solidFill>
                <a:latin typeface="微软雅黑"/>
              </a:rPr>
              <a:t>第1周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2697480"/>
            <a:ext cx="1517904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62229" bIns="62229"/>
          <a:lstStyle/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架构设计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需求梳理 · 技术选型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库表/API 设计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4800600"/>
            <a:ext cx="1335024" cy="384048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B7BD3"/>
                </a:solidFill>
                <a:latin typeface="微软雅黑"/>
              </a:rPr>
              <a:t>总架构师</a:t>
            </a:r>
          </a:p>
        </p:txBody>
      </p:sp>
      <p:sp>
        <p:nvSpPr>
          <p:cNvPr id="13" name="Oval 12"/>
          <p:cNvSpPr/>
          <p:nvPr/>
        </p:nvSpPr>
        <p:spPr>
          <a:xfrm>
            <a:off x="2912364" y="2313432"/>
            <a:ext cx="146304" cy="146304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25980" y="1874519"/>
            <a:ext cx="1700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78C"/>
                </a:solidFill>
                <a:latin typeface="微软雅黑"/>
              </a:rPr>
              <a:t>第2-3周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7420" y="2697480"/>
            <a:ext cx="1517904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62229" bIns="62229"/>
          <a:lstStyle/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核心引擎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77 条审核规则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SQL 解析器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08860" y="4800600"/>
            <a:ext cx="1335024" cy="384048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B7BD3"/>
                </a:solidFill>
                <a:latin typeface="微软雅黑"/>
              </a:rPr>
              <a:t>规则设计者</a:t>
            </a:r>
          </a:p>
        </p:txBody>
      </p:sp>
      <p:sp>
        <p:nvSpPr>
          <p:cNvPr id="17" name="Oval 16"/>
          <p:cNvSpPr/>
          <p:nvPr/>
        </p:nvSpPr>
        <p:spPr>
          <a:xfrm>
            <a:off x="4507992" y="2313432"/>
            <a:ext cx="146304" cy="146304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1608" y="1874519"/>
            <a:ext cx="1700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78C"/>
                </a:solidFill>
                <a:latin typeface="微软雅黑"/>
              </a:rPr>
              <a:t>第4周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813048" y="2697480"/>
            <a:ext cx="1517904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62229" bIns="62229"/>
          <a:lstStyle/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前端 V3.0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19 页面重构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设计 Token 体系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04488" y="4800600"/>
            <a:ext cx="1335024" cy="384048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B7BD3"/>
                </a:solidFill>
                <a:latin typeface="微软雅黑"/>
              </a:rPr>
              <a:t>产品设计师</a:t>
            </a:r>
          </a:p>
        </p:txBody>
      </p:sp>
      <p:sp>
        <p:nvSpPr>
          <p:cNvPr id="21" name="Oval 20"/>
          <p:cNvSpPr/>
          <p:nvPr/>
        </p:nvSpPr>
        <p:spPr>
          <a:xfrm>
            <a:off x="6103620" y="2313432"/>
            <a:ext cx="146304" cy="146304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17236" y="1874519"/>
            <a:ext cx="1700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78C"/>
                </a:solidFill>
                <a:latin typeface="微软雅黑"/>
              </a:rPr>
              <a:t>第5周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08676" y="2697480"/>
            <a:ext cx="1517904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62229" bIns="62229"/>
          <a:lstStyle/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功能增强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角色权限矩阵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系统配置等 7 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00116" y="4800600"/>
            <a:ext cx="1335024" cy="384048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B7BD3"/>
                </a:solidFill>
                <a:latin typeface="微软雅黑"/>
              </a:rPr>
              <a:t>需求定义者</a:t>
            </a:r>
          </a:p>
        </p:txBody>
      </p:sp>
      <p:sp>
        <p:nvSpPr>
          <p:cNvPr id="25" name="Oval 24"/>
          <p:cNvSpPr/>
          <p:nvPr/>
        </p:nvSpPr>
        <p:spPr>
          <a:xfrm>
            <a:off x="7699248" y="2313432"/>
            <a:ext cx="146304" cy="146304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12864" y="1874519"/>
            <a:ext cx="1700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78C"/>
                </a:solidFill>
                <a:latin typeface="微软雅黑"/>
              </a:rPr>
              <a:t>第6周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04304" y="2697480"/>
            <a:ext cx="1517904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62229" bIns="62229"/>
          <a:lstStyle/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Oracle 规则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42 条迁移规则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R078-R119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95744" y="4800600"/>
            <a:ext cx="1335024" cy="384048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B7BD3"/>
                </a:solidFill>
                <a:latin typeface="微软雅黑"/>
              </a:rPr>
              <a:t>规范制定者</a:t>
            </a:r>
          </a:p>
        </p:txBody>
      </p:sp>
      <p:sp>
        <p:nvSpPr>
          <p:cNvPr id="29" name="Oval 28"/>
          <p:cNvSpPr/>
          <p:nvPr/>
        </p:nvSpPr>
        <p:spPr>
          <a:xfrm>
            <a:off x="9294876" y="2313432"/>
            <a:ext cx="146304" cy="146304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08492" y="1874519"/>
            <a:ext cx="1700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78C"/>
                </a:solidFill>
                <a:latin typeface="微软雅黑"/>
              </a:rPr>
              <a:t>第7周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9932" y="2697480"/>
            <a:ext cx="1517904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62229" bIns="62229"/>
          <a:lstStyle/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质检验收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880 用例回归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0 失败准出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91372" y="4800600"/>
            <a:ext cx="1335024" cy="384048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B7BD3"/>
                </a:solidFill>
                <a:latin typeface="微软雅黑"/>
              </a:rPr>
              <a:t>质量把关者</a:t>
            </a:r>
          </a:p>
        </p:txBody>
      </p:sp>
      <p:sp>
        <p:nvSpPr>
          <p:cNvPr id="33" name="Oval 32"/>
          <p:cNvSpPr/>
          <p:nvPr/>
        </p:nvSpPr>
        <p:spPr>
          <a:xfrm>
            <a:off x="10890504" y="2313432"/>
            <a:ext cx="146304" cy="146304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04120" y="1874519"/>
            <a:ext cx="1700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4778C"/>
                </a:solidFill>
                <a:latin typeface="微软雅黑"/>
              </a:rPr>
              <a:t>第8周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195560" y="2697480"/>
            <a:ext cx="1517904" cy="1965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62229" bIns="62229"/>
          <a:lstStyle/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上线准备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一键部署包</a:t>
            </a:r>
          </a:p>
          <a:p>
            <a:pPr algn="ctr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>
                <a:solidFill>
                  <a:srgbClr val="64778C"/>
                </a:solidFill>
                <a:latin typeface="微软雅黑"/>
              </a:rPr>
              <a:t>v1.0.2 定版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87000" y="4800600"/>
            <a:ext cx="1335024" cy="384048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2B7BD3"/>
                </a:solidFill>
                <a:latin typeface="微软雅黑"/>
              </a:rPr>
              <a:t>运维专家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5486400"/>
            <a:ext cx="110578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每个阶段，我扮演不同的专家角色；</a:t>
            </a:r>
            <a:r>
              <a:rPr sz="1350" b="0">
                <a:solidFill>
                  <a:srgbClr val="64778C"/>
                </a:solidFill>
                <a:latin typeface="微软雅黑"/>
              </a:rPr>
              <a:t>AI 团队则始终保持三角色并行 —— 这是一个人的「多线程」工作方式。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03 · 实战历程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工程全景数据（源自 Git 仓库真实统计）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2706624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B7BD3"/>
                </a:solidFill>
                <a:latin typeface="微软雅黑"/>
              </a:rPr>
              <a:t>62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次代码提交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全部由 AI 编写并提交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4136" y="1645920"/>
            <a:ext cx="2706624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B7BD3"/>
                </a:solidFill>
                <a:latin typeface="微软雅黑"/>
              </a:rPr>
              <a:t>2.98 万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行工程代码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后端 1.65 万 + 测试 1.18 万 + 前端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45920"/>
            <a:ext cx="2706624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B7BD3"/>
                </a:solidFill>
                <a:latin typeface="微软雅黑"/>
              </a:rPr>
              <a:t>26 份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项目文档 1.25 万行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设计/测试/部署/运维全套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8552" y="1645920"/>
            <a:ext cx="2706624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B7BD3"/>
                </a:solidFill>
                <a:latin typeface="微软雅黑"/>
              </a:rPr>
              <a:t>880 项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自动化测试用例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上线前全量回归 0 失败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977639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059935"/>
            <a:ext cx="4206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119 条审核规则 · 9 大分类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4059935"/>
            <a:ext cx="6309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含 42 条 Oracle 迁移兼容规则，覆盖原厂规范 52 个规范点 100% 无遗漏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782311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864607"/>
            <a:ext cx="4206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14 个后端模块 · 19 个前端页面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0368" y="4864607"/>
            <a:ext cx="6309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认证 RBAC / 多实例注册 / 规则集 / 门禁 / 慢SQL / 体检 / 监控 / 巡检…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86983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669279"/>
            <a:ext cx="42062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3A93C"/>
                </a:solidFill>
                <a:latin typeface="微软雅黑"/>
              </a:rPr>
              <a:t>我本人手写代码：0 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30368" y="5669279"/>
            <a:ext cx="63093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我贡献的是：设计思想、规则体系、每一轮的质量裁决与验收标准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03 · 实战历程 · 典型案例一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Oracle 迁移规则的诞生：一份 729 行的原厂文档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58521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42240" bIns="142240"/>
          <a:lstStyle/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2B7BD3"/>
                </a:solidFill>
                <a:latin typeface="微软雅黑"/>
              </a:rPr>
              <a:t>背景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1C2B3A"/>
                </a:solidFill>
                <a:latin typeface="微软雅黑"/>
              </a:rPr>
              <a:t>原厂交付《Oracle迁移TDSQL改造适配方案》V1.5.1（729 行 .doc），涉及：</a:t>
            </a:r>
          </a:p>
          <a:p>
            <a:pPr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250" b="0">
                <a:solidFill>
                  <a:srgbClr val="1C2B3A"/>
                </a:solidFill>
                <a:latin typeface="微软雅黑"/>
              </a:rPr>
              <a:t>●  to_char / nvl / decode 等函数不支持，需替换改写</a:t>
            </a:r>
          </a:p>
          <a:p>
            <a:pPr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250" b="0">
                <a:solidFill>
                  <a:srgbClr val="1C2B3A"/>
                </a:solidFill>
                <a:latin typeface="微软雅黑"/>
              </a:rPr>
              <a:t>●  rownum / MERGE INTO / WITH AS 等语法不兼容</a:t>
            </a:r>
          </a:p>
          <a:p>
            <a:pPr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250" b="0">
                <a:solidFill>
                  <a:srgbClr val="1C2B3A"/>
                </a:solidFill>
                <a:latin typeface="微软雅黑"/>
              </a:rPr>
              <a:t>●  分布式场景：窗口函数、游标、临时表限制</a:t>
            </a:r>
          </a:p>
          <a:p>
            <a:pPr algn="l">
              <a:lnSpc>
                <a:spcPct val="130000"/>
              </a:lnSpc>
              <a:spcBef>
                <a:spcPts val="900"/>
              </a:spcBef>
              <a:spcAft>
                <a:spcPts val="0"/>
              </a:spcAft>
            </a:pPr>
            <a:r>
              <a:rPr sz="1250" b="0">
                <a:solidFill>
                  <a:srgbClr val="1C2B3A"/>
                </a:solidFill>
                <a:latin typeface="微软雅黑"/>
              </a:rPr>
              <a:t>●  分片键六条军规（类型/唯一索引/更新限制…）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600200"/>
            <a:ext cx="5852160" cy="3810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693408" y="1600200"/>
            <a:ext cx="4937760" cy="3566160"/>
          </a:xfrm>
          <a:prstGeom prst="roundRect">
            <a:avLst>
              <a:gd name="adj" fmla="val 6000"/>
            </a:avLst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42240" bIns="14224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E544E"/>
                </a:solidFill>
                <a:latin typeface="微软雅黑"/>
              </a:rPr>
              <a:t>如果靠人工</a:t>
            </a:r>
          </a:p>
          <a:p>
            <a:pPr algn="ctr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400" b="0">
                <a:solidFill>
                  <a:srgbClr val="1C2B3A"/>
                </a:solidFill>
                <a:latin typeface="微软雅黑"/>
              </a:rPr>
              <a:t>逐条记忆 + 人工排查</a:t>
            </a:r>
          </a:p>
          <a:p>
            <a:pPr algn="ctr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2000" b="1">
                <a:solidFill>
                  <a:srgbClr val="CE544E"/>
                </a:solidFill>
                <a:latin typeface="微软雅黑"/>
              </a:rPr>
              <a:t>一个 DBA 团队需要数月</a:t>
            </a:r>
          </a:p>
          <a:p>
            <a:pPr algn="ctr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64778C"/>
                </a:solidFill>
                <a:latin typeface="微软雅黑"/>
              </a:rPr>
              <a:t>且必然存在遗漏风险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5440680"/>
            <a:ext cx="11057839" cy="777240"/>
          </a:xfrm>
          <a:prstGeom prst="roundRect">
            <a:avLst>
              <a:gd name="adj" fmla="val 1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3A93C"/>
                </a:solidFill>
                <a:latin typeface="微软雅黑"/>
              </a:rPr>
              <a:t>我的目标只有一个：</a:t>
            </a:r>
            <a:r>
              <a:rPr sz="1450" b="1">
                <a:solidFill>
                  <a:srgbClr val="0E2239"/>
                </a:solidFill>
                <a:latin typeface="微软雅黑"/>
              </a:rPr>
              <a:t>把原厂文档的每一个规范点，无遗漏地变成审核工具里可执行的规则。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03 · 实战历程 · 典型案例一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六步走完：从原厂文档到 42 条可执行规则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27632"/>
            <a:ext cx="3602736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13232" y="1773936"/>
            <a:ext cx="329184" cy="329184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1719072"/>
            <a:ext cx="28712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239"/>
                </a:solidFill>
                <a:latin typeface="微软雅黑"/>
              </a:rPr>
              <a:t>我下达指令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103120"/>
            <a:ext cx="323697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把 729 行文档交给设计智能体：「每一个规范点无遗漏映射到规则体系，标注映射/新增」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2544" y="1627632"/>
            <a:ext cx="3602736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498848" y="1773936"/>
            <a:ext cx="329184" cy="329184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719072"/>
            <a:ext cx="28712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239"/>
                </a:solidFill>
                <a:latin typeface="微软雅黑"/>
              </a:rPr>
              <a:t>AI 出设计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103120"/>
            <a:ext cx="323697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设计智能体产出 648 行设计说明书：52 点追溯矩阵 + 42 条规则逐条规格 + 测试设计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627632"/>
            <a:ext cx="3602736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84464" y="1773936"/>
            <a:ext cx="329184" cy="329184"/>
          </a:xfrm>
          <a:prstGeom prst="ellipse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23376" y="1719072"/>
            <a:ext cx="28712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239"/>
                </a:solidFill>
                <a:latin typeface="微软雅黑"/>
              </a:rPr>
              <a:t>我再委派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103120"/>
            <a:ext cx="323697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把设计说明书交给编码智能体：「严格按每一个规格编码，不得遗漏任何一条」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218688"/>
            <a:ext cx="3602736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3232" y="3364992"/>
            <a:ext cx="329184" cy="329184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" y="3310128"/>
            <a:ext cx="28712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239"/>
                </a:solidFill>
                <a:latin typeface="微软雅黑"/>
              </a:rPr>
              <a:t>AI 编码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3694176"/>
            <a:ext cx="323697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oracle_compat.py 978 行、42 个规则类、解析器增强、前端分类展示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52544" y="3218688"/>
            <a:ext cx="3602736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498848" y="3364992"/>
            <a:ext cx="329184" cy="329184"/>
          </a:xfrm>
          <a:prstGeom prst="ellipse">
            <a:avLst/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3310128"/>
            <a:ext cx="28712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239"/>
                </a:solidFill>
                <a:latin typeface="微软雅黑"/>
              </a:rPr>
              <a:t>独立揭短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5424" y="3694176"/>
            <a:ext cx="323697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测试+质检发现 3 个真缺陷：UNSIGNED 误报、R054 死代码、断言未更新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3218688"/>
            <a:ext cx="3602736" cy="1371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84464" y="3364992"/>
            <a:ext cx="329184" cy="329184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3376" y="3310128"/>
            <a:ext cx="28712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2239"/>
                </a:solidFill>
                <a:latin typeface="微软雅黑"/>
              </a:rPr>
              <a:t>我裁决闭环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694176"/>
            <a:ext cx="3236976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逐条确认根因 → 指挥修复 → 184 项复验全过 → 880 回归 0 失败，准出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983480"/>
            <a:ext cx="11057839" cy="1143000"/>
          </a:xfrm>
          <a:prstGeom prst="roundRect">
            <a:avLst>
              <a:gd name="adj" fmla="val 1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3A93C"/>
                </a:solidFill>
                <a:latin typeface="微软雅黑"/>
              </a:rPr>
              <a:t>关键洞察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如果我不理解 TDSQL 的技术细节和原厂文档的每一个规范点，AI 不可能自动完成这些工作。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450" b="1">
                <a:solidFill>
                  <a:srgbClr val="E3A93C"/>
                </a:solidFill>
                <a:latin typeface="微软雅黑"/>
              </a:rPr>
              <a:t>是我的专家判断力，确保了规则的完整性与准确性。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03 · 实战历程 · 典型案例一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成果：数月的工作量，一周交付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83080"/>
            <a:ext cx="270662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B7BD3"/>
                </a:solidFill>
                <a:latin typeface="微软雅黑"/>
              </a:rPr>
              <a:t>42 条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新增审核规则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R078 – R119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4136" y="1783080"/>
            <a:ext cx="270662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B7BD3"/>
                </a:solidFill>
                <a:latin typeface="微软雅黑"/>
              </a:rPr>
              <a:t>52 / 52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原厂规范点覆盖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100% 无遗漏追溯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783080"/>
            <a:ext cx="2706624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2B7BD3"/>
                </a:solidFill>
                <a:latin typeface="微软雅黑"/>
              </a:rPr>
              <a:t>184 项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规则级验收检查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64778C"/>
                </a:solidFill>
                <a:latin typeface="微软雅黑"/>
              </a:rPr>
              <a:t>全部通过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8552" y="1783080"/>
            <a:ext cx="2706624" cy="2148840"/>
          </a:xfrm>
          <a:prstGeom prst="roundRect">
            <a:avLst>
              <a:gd name="adj" fmla="val 8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E3A93C"/>
                </a:solidFill>
                <a:latin typeface="微软雅黑"/>
              </a:rPr>
              <a:t>≈1 周</a:t>
            </a:r>
          </a:p>
          <a:p>
            <a:pPr algn="ctr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全流程耗时</a:t>
            </a:r>
          </a:p>
          <a:p>
            <a:pPr algn="ctr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50" b="0">
                <a:solidFill>
                  <a:srgbClr val="8FC2EE"/>
                </a:solidFill>
                <a:latin typeface="微软雅黑"/>
              </a:rPr>
              <a:t>传统方式需数月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343400"/>
            <a:ext cx="11057839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42240" bIns="142240"/>
          <a:lstStyle/>
          <a:p>
            <a:pPr algn="l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1">
                <a:solidFill>
                  <a:srgbClr val="0E2239"/>
                </a:solidFill>
                <a:latin typeface="微软雅黑"/>
              </a:rPr>
              <a:t>上线后的每一次 SQL 审核，这 42 条规则都在自动工作：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1C2B3A"/>
                </a:solidFill>
                <a:latin typeface="微软雅黑"/>
              </a:rPr>
              <a:t>开发再提交 </a:t>
            </a:r>
            <a:r>
              <a:rPr sz="1350" b="1">
                <a:solidFill>
                  <a:srgbClr val="CE544E"/>
                </a:solidFill>
                <a:latin typeface="微软雅黑"/>
              </a:rPr>
              <a:t>to_char / nvl / rownum / merge into</a:t>
            </a:r>
            <a:r>
              <a:rPr sz="1350" b="0">
                <a:solidFill>
                  <a:srgbClr val="1C2B3A"/>
                </a:solidFill>
                <a:latin typeface="微软雅黑"/>
              </a:rPr>
              <a:t> 等 Oracle 写法，审核工具当场拦截，并给出原厂文档对应的 TDSQL 改写方案。</a:t>
            </a:r>
          </a:p>
          <a:p>
            <a:pPr algn="l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300" b="1">
                <a:solidFill>
                  <a:srgbClr val="E3A93C"/>
                </a:solidFill>
                <a:latin typeface="微软雅黑"/>
              </a:rPr>
              <a:t>—— 原厂规范从「纸面文档」变成了「每一次提交都在执行的自动化防线」。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03 · 实战历程 · 典型案例二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质检验收闭环：AI 给 AI 挑刺，我做裁决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5212080" cy="1828800"/>
          </a:xfrm>
          <a:prstGeom prst="roundRect">
            <a:avLst>
              <a:gd name="adj" fmla="val 8000"/>
            </a:avLst>
          </a:prstGeom>
          <a:solidFill>
            <a:srgbClr val="FBE9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CE544E"/>
                </a:solidFill>
                <a:latin typeface="微软雅黑"/>
              </a:rPr>
              <a:t>质检智能体的验收结论（原文）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1C2B3A"/>
                </a:solidFill>
                <a:latin typeface="微软雅黑"/>
              </a:rPr>
              <a:t>「引擎本体是几轮交付里质量最高的……但仍不能准出：1 个军规是死代码、1 个高频误报、测试工作完全没做。」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53328" y="1554480"/>
            <a:ext cx="557784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2B7BD3"/>
                </a:solidFill>
                <a:latin typeface="微软雅黑"/>
              </a:rPr>
              <a:t>我的处理（专家裁决）</a:t>
            </a:r>
          </a:p>
          <a:p>
            <a:pPr algn="l">
              <a:lnSpc>
                <a:spcPct val="125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1C2B3A"/>
                </a:solidFill>
                <a:latin typeface="微软雅黑"/>
              </a:rPr>
              <a:t>●  逐条审核 4 个缺陷，确认根因分析准确</a:t>
            </a:r>
          </a:p>
          <a:p>
            <a:pPr algn="l">
              <a:lnSpc>
                <a:spcPct val="125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1C2B3A"/>
                </a:solidFill>
                <a:latin typeface="微软雅黑"/>
              </a:rPr>
              <a:t>●  按优先级下达整改指令给编码智能体</a:t>
            </a:r>
          </a:p>
          <a:p>
            <a:pPr algn="l">
              <a:lnSpc>
                <a:spcPct val="125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1C2B3A"/>
                </a:solidFill>
                <a:latin typeface="微软雅黑"/>
              </a:rPr>
              <a:t>●  要求复验口径：4 条自测 SQL + 全量回归 0 失败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657600"/>
            <a:ext cx="2706624" cy="960120"/>
          </a:xfrm>
          <a:prstGeom prst="roundRect">
            <a:avLst>
              <a:gd name="adj" fmla="val 10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9E6B"/>
                </a:solidFill>
                <a:latin typeface="微软雅黑"/>
              </a:rPr>
              <a:t>✓ R117 误报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1C2B3A"/>
                </a:solidFill>
                <a:latin typeface="微软雅黑"/>
              </a:rPr>
              <a:t>5 行代码修复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4136" y="3657600"/>
            <a:ext cx="2706624" cy="960120"/>
          </a:xfrm>
          <a:prstGeom prst="roundRect">
            <a:avLst>
              <a:gd name="adj" fmla="val 10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9E6B"/>
                </a:solidFill>
                <a:latin typeface="微软雅黑"/>
              </a:rPr>
              <a:t>✓ R054 死代码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1C2B3A"/>
                </a:solidFill>
                <a:latin typeface="微软雅黑"/>
              </a:rPr>
              <a:t>解析器+规则双层修复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3657600"/>
            <a:ext cx="2706624" cy="960120"/>
          </a:xfrm>
          <a:prstGeom prst="roundRect">
            <a:avLst>
              <a:gd name="adj" fmla="val 10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9E6B"/>
                </a:solidFill>
                <a:latin typeface="微软雅黑"/>
              </a:rPr>
              <a:t>✓ 测试未做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1C2B3A"/>
                </a:solidFill>
                <a:latin typeface="微软雅黑"/>
              </a:rPr>
              <a:t>103 条新单测补齐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88552" y="3657600"/>
            <a:ext cx="2706624" cy="960120"/>
          </a:xfrm>
          <a:prstGeom prst="roundRect">
            <a:avLst>
              <a:gd name="adj" fmla="val 10000"/>
            </a:avLst>
          </a:prstGeom>
          <a:solidFill>
            <a:srgbClr val="E4F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E9E6B"/>
                </a:solidFill>
                <a:latin typeface="微软雅黑"/>
              </a:rPr>
              <a:t>✓ 文档口径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>
                <a:solidFill>
                  <a:srgbClr val="1C2B3A"/>
                </a:solidFill>
                <a:latin typeface="微软雅黑"/>
              </a:rPr>
              <a:t>6 处更新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37760"/>
            <a:ext cx="11057839" cy="1188720"/>
          </a:xfrm>
          <a:prstGeom prst="roundRect">
            <a:avLst>
              <a:gd name="adj" fmla="val 1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8FC2EE"/>
                </a:solidFill>
                <a:latin typeface="微软雅黑"/>
              </a:rPr>
              <a:t>复验结果：</a:t>
            </a:r>
            <a:r>
              <a:rPr sz="1700" b="1">
                <a:solidFill>
                  <a:srgbClr val="E3A93C"/>
                </a:solidFill>
                <a:latin typeface="微软雅黑"/>
              </a:rPr>
              <a:t>880 passed · 0 failed</a:t>
            </a:r>
            <a:r>
              <a:rPr sz="1700" b="1">
                <a:solidFill>
                  <a:srgbClr val="8FC2EE"/>
                </a:solidFill>
                <a:latin typeface="微软雅黑"/>
              </a:rPr>
              <a:t>，准出上线。</a:t>
            </a:r>
          </a:p>
          <a:p>
            <a:pPr algn="ctr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微软雅黑"/>
              </a:rPr>
              <a:t>制衡的核心：编码智能体说「写对了」不算数 —— 必须过独立验证，再由我做最终裁决。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03 · 实战历程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「无数次交互」的真实样貌：前端 V3.0 的四轮攻坚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11057839" cy="9875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847088"/>
            <a:ext cx="960120" cy="438912"/>
          </a:xfrm>
          <a:prstGeom prst="roundRect">
            <a:avLst>
              <a:gd name="adj" fmla="val 50000"/>
            </a:avLst>
          </a:prstGeom>
          <a:solidFill>
            <a:srgbClr val="CE54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第 1 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2808" y="1645920"/>
            <a:ext cx="57607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B3A"/>
                </a:solidFill>
                <a:latin typeface="微软雅黑"/>
              </a:rPr>
              <a:t>验收发现 19 个页面中 11 个是「空壳」——提交说明与实际严重不符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36408" y="1645920"/>
            <a:ext cx="3749039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BD3"/>
                </a:solidFill>
                <a:latin typeface="微软雅黑"/>
              </a:rPr>
              <a:t>我发整改单：逐页列出问题 + 后端接口清单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706624"/>
            <a:ext cx="11057839" cy="9875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2980944"/>
            <a:ext cx="960120" cy="438912"/>
          </a:xfrm>
          <a:prstGeom prst="roundRect">
            <a:avLst>
              <a:gd name="adj" fmla="val 50000"/>
            </a:avLst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第 2 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2808" y="2779776"/>
            <a:ext cx="57607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B3A"/>
                </a:solidFill>
                <a:latin typeface="微软雅黑"/>
              </a:rPr>
              <a:t>页面填上了，但表格全空。质检定位根因：响应数据「信封」未拆包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6408" y="2779776"/>
            <a:ext cx="3749039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BD3"/>
                </a:solidFill>
                <a:latin typeface="微软雅黑"/>
              </a:rPr>
              <a:t>我要求「傻瓜式」整改文档：逐行给出错误代码 → 正确代码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840480"/>
            <a:ext cx="11057839" cy="9875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1520" y="4114800"/>
            <a:ext cx="960120" cy="438912"/>
          </a:xfrm>
          <a:prstGeom prst="roundRect">
            <a:avLst>
              <a:gd name="adj" fmla="val 50000"/>
            </a:avLst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第 3 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92808" y="3913632"/>
            <a:ext cx="57607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B3A"/>
                </a:solidFill>
                <a:latin typeface="微软雅黑"/>
              </a:rPr>
              <a:t>12 处解包全部修复，仅剩 2 个写接口参数格式错误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36408" y="3913632"/>
            <a:ext cx="3749039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BD3"/>
                </a:solidFill>
                <a:latin typeface="微软雅黑"/>
              </a:rPr>
              <a:t>我给出照抄级修复代码，并要求「亲手点一遍再交付」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974336"/>
            <a:ext cx="11057839" cy="9875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1520" y="5248656"/>
            <a:ext cx="960120" cy="43891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第 4 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5047488"/>
            <a:ext cx="576072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C2B3A"/>
                </a:solidFill>
                <a:latin typeface="微软雅黑"/>
              </a:rPr>
              <a:t>全部修复验证通过，RBAC 顺手校正 —— 验收通过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36408" y="5047488"/>
            <a:ext cx="3749039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E9E6B"/>
                </a:solidFill>
                <a:latin typeface="微软雅黑"/>
              </a:rPr>
              <a:t>四轮不是失败，是方法论在工作：每一轮都可度量、可收敛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144768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64778C"/>
                </a:solidFill>
                <a:latin typeface="微软雅黑"/>
              </a:rPr>
              <a:t>整个项目中，这样的「验收 → 整改 → 复验」循环发生了十余次 —— 交互越充分，AI 的输出越接近专家标准。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2377440"/>
            <a:ext cx="5852160" cy="5852160"/>
          </a:xfrm>
          <a:prstGeom prst="ellipse">
            <a:avLst/>
          </a:prstGeom>
          <a:solidFill>
            <a:srgbClr val="12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4023360" cy="4023360"/>
          </a:xfrm>
          <a:prstGeom prst="ellipse">
            <a:avLst/>
          </a:prstGeom>
          <a:noFill/>
          <a:ln w="1524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4480560"/>
            <a:ext cx="2926080" cy="2926080"/>
          </a:xfrm>
          <a:prstGeom prst="ellipse">
            <a:avLst/>
          </a:prstGeom>
          <a:noFill/>
          <a:ln w="1270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0" b="1">
                <a:solidFill>
                  <a:srgbClr val="1D416B"/>
                </a:solidFill>
                <a:latin typeface="微软雅黑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3063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微软雅黑"/>
              </a:rPr>
              <a:t>提示词工程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" y="3913632"/>
            <a:ext cx="594360" cy="4445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4114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FC2EE"/>
                </a:solidFill>
                <a:latin typeface="微软雅黑"/>
              </a:rPr>
              <a:t>让 AI 完全理解人的意图 —— 六条铁律与四个实录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背景与挑战</a:t>
            </a:r>
          </a:p>
        </p:txBody>
      </p:sp>
      <p:sp>
        <p:nvSpPr>
          <p:cNvPr id="12" name="Oval 11"/>
          <p:cNvSpPr/>
          <p:nvPr/>
        </p:nvSpPr>
        <p:spPr>
          <a:xfrm>
            <a:off x="2112264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00784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方法论</a:t>
            </a:r>
          </a:p>
        </p:txBody>
      </p:sp>
      <p:sp>
        <p:nvSpPr>
          <p:cNvPr id="14" name="Oval 13"/>
          <p:cNvSpPr/>
          <p:nvPr/>
        </p:nvSpPr>
        <p:spPr>
          <a:xfrm>
            <a:off x="3593592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82112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实战历程</a:t>
            </a:r>
          </a:p>
        </p:txBody>
      </p:sp>
      <p:sp>
        <p:nvSpPr>
          <p:cNvPr id="16" name="Oval 15"/>
          <p:cNvSpPr/>
          <p:nvPr/>
        </p:nvSpPr>
        <p:spPr>
          <a:xfrm>
            <a:off x="5074920" y="5577840"/>
            <a:ext cx="128016" cy="128016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A93C"/>
                </a:solidFill>
                <a:latin typeface="微软雅黑"/>
              </a:rPr>
              <a:t>提示词工程</a:t>
            </a:r>
          </a:p>
        </p:txBody>
      </p:sp>
      <p:sp>
        <p:nvSpPr>
          <p:cNvPr id="18" name="Oval 17"/>
          <p:cNvSpPr/>
          <p:nvPr/>
        </p:nvSpPr>
        <p:spPr>
          <a:xfrm>
            <a:off x="6556248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成果与数据</a:t>
            </a:r>
          </a:p>
        </p:txBody>
      </p:sp>
      <p:sp>
        <p:nvSpPr>
          <p:cNvPr id="20" name="Oval 19"/>
          <p:cNvSpPr/>
          <p:nvPr/>
        </p:nvSpPr>
        <p:spPr>
          <a:xfrm>
            <a:off x="8037576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609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能力提升与推广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04 · 提示词工程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与 AI 高效协作的六条铁律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27632"/>
            <a:ext cx="3602736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2B7BD3"/>
                </a:solidFill>
                <a:latin typeface="微软雅黑"/>
              </a:rPr>
              <a:t>铁律 1  </a:t>
            </a:r>
            <a:r>
              <a:rPr sz="1500" b="1">
                <a:solidFill>
                  <a:srgbClr val="0E2239"/>
                </a:solidFill>
                <a:latin typeface="微软雅黑"/>
              </a:rPr>
              <a:t>专家先行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1C2B3A"/>
                </a:solidFill>
                <a:latin typeface="微软雅黑"/>
              </a:rPr>
              <a:t>先想清楚再让 AI 做，不让 AI 替你做决策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CE544E"/>
                </a:solidFill>
                <a:latin typeface="微软雅黑"/>
              </a:rPr>
              <a:t>反例：「帮我设计一个系统」→ 太模糊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627632"/>
            <a:ext cx="3602736" cy="3175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2544" y="1627632"/>
            <a:ext cx="3602736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2B7BD3"/>
                </a:solidFill>
                <a:latin typeface="微软雅黑"/>
              </a:rPr>
              <a:t>铁律 2  </a:t>
            </a:r>
            <a:r>
              <a:rPr sz="1500" b="1">
                <a:solidFill>
                  <a:srgbClr val="0E2239"/>
                </a:solidFill>
                <a:latin typeface="微软雅黑"/>
              </a:rPr>
              <a:t>设计先行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1C2B3A"/>
                </a:solidFill>
                <a:latin typeface="微软雅黑"/>
              </a:rPr>
              <a:t>先出设计说明书，再让编码智能体实现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CE544E"/>
                </a:solidFill>
                <a:latin typeface="微软雅黑"/>
              </a:rPr>
              <a:t>反例：「直接写代码」→ 方向偏差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52544" y="1627632"/>
            <a:ext cx="3602736" cy="3175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138160" y="1627632"/>
            <a:ext cx="3602736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2B7BD3"/>
                </a:solidFill>
                <a:latin typeface="微软雅黑"/>
              </a:rPr>
              <a:t>铁律 3  </a:t>
            </a:r>
            <a:r>
              <a:rPr sz="1500" b="1">
                <a:solidFill>
                  <a:srgbClr val="0E2239"/>
                </a:solidFill>
                <a:latin typeface="微软雅黑"/>
              </a:rPr>
              <a:t>精确约束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1C2B3A"/>
                </a:solidFill>
                <a:latin typeface="微软雅黑"/>
              </a:rPr>
              <a:t>给出明确的验收标准与边界条件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CE544E"/>
                </a:solidFill>
                <a:latin typeface="微软雅黑"/>
              </a:rPr>
              <a:t>反例：「优化一下性能」→ 无标准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627632"/>
            <a:ext cx="3602736" cy="3175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3255264"/>
            <a:ext cx="3602736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2B7BD3"/>
                </a:solidFill>
                <a:latin typeface="微软雅黑"/>
              </a:rPr>
              <a:t>铁律 4  </a:t>
            </a:r>
            <a:r>
              <a:rPr sz="1500" b="1">
                <a:solidFill>
                  <a:srgbClr val="0E2239"/>
                </a:solidFill>
                <a:latin typeface="微软雅黑"/>
              </a:rPr>
              <a:t>闭环验证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1C2B3A"/>
                </a:solidFill>
                <a:latin typeface="微软雅黑"/>
              </a:rPr>
              <a:t>每一轮交付必须经过独立测试验证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CE544E"/>
                </a:solidFill>
                <a:latin typeface="微软雅黑"/>
              </a:rPr>
              <a:t>反例：「写完就提交」→ 质量失控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55264"/>
            <a:ext cx="3602736" cy="3175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52544" y="3255264"/>
            <a:ext cx="3602736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2B7BD3"/>
                </a:solidFill>
                <a:latin typeface="微软雅黑"/>
              </a:rPr>
              <a:t>铁律 5  </a:t>
            </a:r>
            <a:r>
              <a:rPr sz="1500" b="1">
                <a:solidFill>
                  <a:srgbClr val="0E2239"/>
                </a:solidFill>
                <a:latin typeface="微软雅黑"/>
              </a:rPr>
              <a:t>迭代改进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1C2B3A"/>
                </a:solidFill>
                <a:latin typeface="微软雅黑"/>
              </a:rPr>
              <a:t>接受 AI 不完美，持续推动收敛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CE544E"/>
                </a:solidFill>
                <a:latin typeface="微软雅黑"/>
              </a:rPr>
              <a:t>反例：「一次就要完美」→ 不现实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52544" y="3255264"/>
            <a:ext cx="3602736" cy="3175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38160" y="3255264"/>
            <a:ext cx="3602736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2B7BD3"/>
                </a:solidFill>
                <a:latin typeface="微软雅黑"/>
              </a:rPr>
              <a:t>铁律 6  </a:t>
            </a:r>
            <a:r>
              <a:rPr sz="1500" b="1">
                <a:solidFill>
                  <a:srgbClr val="0E2239"/>
                </a:solidFill>
                <a:latin typeface="微软雅黑"/>
              </a:rPr>
              <a:t>角色分工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1150" b="0">
                <a:solidFill>
                  <a:srgbClr val="1C2B3A"/>
                </a:solidFill>
                <a:latin typeface="微软雅黑"/>
              </a:rPr>
              <a:t>设计/编码/测试各司其职，不混岗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>
                <a:solidFill>
                  <a:srgbClr val="CE544E"/>
                </a:solidFill>
                <a:latin typeface="微软雅黑"/>
              </a:rPr>
              <a:t>反例：「让编码的做测试」→ 无制衡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3255264"/>
            <a:ext cx="3602736" cy="3175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5166360"/>
            <a:ext cx="11057839" cy="914400"/>
          </a:xfrm>
          <a:prstGeom prst="roundRect">
            <a:avLst>
              <a:gd name="adj" fmla="val 1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2B7BD3"/>
                </a:solidFill>
                <a:latin typeface="微软雅黑"/>
              </a:rPr>
              <a:t>一句话总结：</a:t>
            </a:r>
            <a:r>
              <a:rPr sz="1350" b="0">
                <a:solidFill>
                  <a:srgbClr val="0E2239"/>
                </a:solidFill>
                <a:latin typeface="微软雅黑"/>
              </a:rPr>
              <a:t>把 AI 当成能力极强但需要明确指令的新员工 —— 你给的目标越清晰、验收越严格，它的产出越接近专家水准。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04 · 提示词工程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提示词实录（一）：任务委派 与 缺陷修复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440680" cy="4297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2011680" cy="411480"/>
          </a:xfrm>
          <a:prstGeom prst="roundRect">
            <a:avLst>
              <a:gd name="adj" fmla="val 50000"/>
            </a:avLst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软雅黑"/>
              </a:rPr>
              <a:t>模式一 · 任务委派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286000"/>
            <a:ext cx="5074920" cy="2697480"/>
          </a:xfrm>
          <a:prstGeom prst="roundRect">
            <a:avLst>
              <a:gd name="adj" fmla="val 5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97789" bIns="97789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“你从 GitHub 更新一下最新内容，然后把设计说明书的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内容严格按照要求进行编码开发。设计说明书位置在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docs/xxx.md，你自己取一下。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完成后自行开展一轮冒烟测试，冒烟测试通过后向我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汇报，我会让测试智能体进行 SIT 和 UAT 测试。”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5065776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B7BD3"/>
                </a:solidFill>
                <a:latin typeface="微软雅黑"/>
              </a:rPr>
              <a:t>要点：</a:t>
            </a:r>
            <a:r>
              <a:rPr sz="1050" b="0">
                <a:solidFill>
                  <a:srgbClr val="64778C"/>
                </a:solidFill>
                <a:latin typeface="微软雅黑"/>
              </a:rPr>
              <a:t>明确输入（设计说明书）、明确流程（编码→冒烟→汇报）、明确后续（测试智能体接手）。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572768"/>
            <a:ext cx="5440680" cy="4297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3368" y="1737360"/>
            <a:ext cx="2011680" cy="411480"/>
          </a:xfrm>
          <a:prstGeom prst="roundRect">
            <a:avLst>
              <a:gd name="adj" fmla="val 50000"/>
            </a:avLst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软雅黑"/>
              </a:rPr>
              <a:t>模式二 · 缺陷修复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73368" y="2286000"/>
            <a:ext cx="5074920" cy="2697480"/>
          </a:xfrm>
          <a:prstGeom prst="roundRect">
            <a:avLst>
              <a:gd name="adj" fmla="val 5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97789" bIns="97789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“这是测试智能体的测试报告，你照着修复。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改好后我让测试智能体复测。”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（把测试报告原样传递，不做二次转译）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5065776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3A93C"/>
                </a:solidFill>
                <a:latin typeface="微软雅黑"/>
              </a:rPr>
              <a:t>要点：</a:t>
            </a:r>
            <a:r>
              <a:rPr sz="1050" b="0">
                <a:solidFill>
                  <a:srgbClr val="64778C"/>
                </a:solidFill>
                <a:latin typeface="微软雅黑"/>
              </a:rPr>
              <a:t>直接传递测试报告让 AI 自行分析修复，不过度指导；「复测」预告形成压力闭环。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04 · 提示词工程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提示词实录（二）：质检驱动 与 需求定义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440680" cy="4297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737360"/>
            <a:ext cx="2011680" cy="41148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软雅黑"/>
              </a:rPr>
              <a:t>模式三 · 质检驱动整改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2286000"/>
            <a:ext cx="5074920" cy="2697480"/>
          </a:xfrm>
          <a:prstGeom prst="roundRect">
            <a:avLst>
              <a:gd name="adj" fmla="val 5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97789" bIns="97789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“我让设计智能体开展了一轮质检验收，结论是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不予准出，质检意见在 docs/xxx.md，你拿下来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照着改一下。”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/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（质检报告里每个缺陷带：根因定位 + 精确到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行号的修复指引 + 修完的自测 SQL）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5065776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E9E6B"/>
                </a:solidFill>
                <a:latin typeface="微软雅黑"/>
              </a:rPr>
              <a:t>要点：</a:t>
            </a:r>
            <a:r>
              <a:rPr sz="1050" b="0">
                <a:solidFill>
                  <a:srgbClr val="64778C"/>
                </a:solidFill>
                <a:latin typeface="微软雅黑"/>
              </a:rPr>
              <a:t>引入独立质检角色，用质检报告驱动修复；整改单越「傻瓜式」，修复越精准。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572768"/>
            <a:ext cx="5440680" cy="4297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3368" y="1737360"/>
            <a:ext cx="2011680" cy="411480"/>
          </a:xfrm>
          <a:prstGeom prst="roundRect">
            <a:avLst>
              <a:gd name="adj" fmla="val 50000"/>
            </a:avLst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微软雅黑"/>
              </a:rPr>
              <a:t>模式四 · 需求定义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73368" y="2286000"/>
            <a:ext cx="5074920" cy="2697480"/>
          </a:xfrm>
          <a:prstGeom prst="roundRect">
            <a:avLst>
              <a:gd name="adj" fmla="val 5000"/>
            </a:avLst>
          </a:prstGeom>
          <a:solidFill>
            <a:srgbClr val="F0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97789" bIns="97789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“原厂今天给过来一份文档《Oracle迁移TDSQL改造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适配方案》，给出了一些 TDSQL 使用规范，比如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to_char 函数不支持需要替换改写等。这些内容对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使用 TDSQL 的业务系统至关重要，现在急需把文档</a:t>
            </a:r>
          </a:p>
          <a:p>
            <a:pPr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>
                <a:solidFill>
                  <a:srgbClr val="2E4258"/>
                </a:solidFill>
                <a:latin typeface="微软雅黑"/>
              </a:rPr>
              <a:t>内容全部无遗漏地添加到审核规则库中。”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5065776"/>
            <a:ext cx="5074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2B7BD3"/>
                </a:solidFill>
                <a:latin typeface="微软雅黑"/>
              </a:rPr>
              <a:t>要点：</a:t>
            </a:r>
            <a:r>
              <a:rPr sz="1050" b="0">
                <a:solidFill>
                  <a:srgbClr val="64778C"/>
                </a:solidFill>
                <a:latin typeface="微软雅黑"/>
              </a:rPr>
              <a:t>说清业务背景、紧迫程度、核心要求（无遗漏）——让 AI 理解「什么最重要」。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04 · 提示词工程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踩过的坑：五大陷阱与正确做法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11057839" cy="475488"/>
          </a:xfrm>
          <a:prstGeom prst="roundRect">
            <a:avLst>
              <a:gd name="adj" fmla="val 8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627632"/>
            <a:ext cx="32918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陷阱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8848" y="1627632"/>
            <a:ext cx="3108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后果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73568" y="1627632"/>
            <a:ext cx="3566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正确做法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157984"/>
            <a:ext cx="11057839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231136"/>
            <a:ext cx="34747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E544E"/>
                </a:solidFill>
                <a:latin typeface="微软雅黑"/>
              </a:rPr>
              <a:t>⚠ 让 AI 自己做架构决策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2231136"/>
            <a:ext cx="3200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78C"/>
                </a:solidFill>
                <a:latin typeface="微软雅黑"/>
              </a:rPr>
              <a:t>架构混乱、前后矛盾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8" y="2231136"/>
            <a:ext cx="3657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9E6B"/>
                </a:solidFill>
                <a:latin typeface="微软雅黑"/>
              </a:rPr>
              <a:t>✓ 专家定义架构，AI 实现细节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99232"/>
            <a:ext cx="11057839" cy="713232"/>
          </a:xfrm>
          <a:prstGeom prst="roundRect">
            <a:avLst>
              <a:gd name="adj" fmla="val 6000"/>
            </a:avLst>
          </a:prstGeom>
          <a:solidFill>
            <a:srgbClr val="EFF4FA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072384"/>
            <a:ext cx="34747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E544E"/>
                </a:solidFill>
                <a:latin typeface="微软雅黑"/>
              </a:rPr>
              <a:t>⚠ 一次提太多需求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98848" y="3072384"/>
            <a:ext cx="3200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78C"/>
                </a:solidFill>
                <a:latin typeface="微软雅黑"/>
              </a:rPr>
              <a:t>理解偏差、遗漏需求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072384"/>
            <a:ext cx="3657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9E6B"/>
                </a:solidFill>
                <a:latin typeface="微软雅黑"/>
              </a:rPr>
              <a:t>✓ 分阶段迭代，每阶段聚焦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840480"/>
            <a:ext cx="11057839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913632"/>
            <a:ext cx="34747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E544E"/>
                </a:solidFill>
                <a:latin typeface="微软雅黑"/>
              </a:rPr>
              <a:t>⚠ 不看 AI 输出就继续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913632"/>
            <a:ext cx="3200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78C"/>
                </a:solidFill>
                <a:latin typeface="微软雅黑"/>
              </a:rPr>
              <a:t>错误累积、返工成本高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73568" y="3913632"/>
            <a:ext cx="3657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9E6B"/>
                </a:solidFill>
                <a:latin typeface="微软雅黑"/>
              </a:rPr>
              <a:t>✓ 每轮审核后再下达下一轮指令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681728"/>
            <a:ext cx="11057839" cy="713232"/>
          </a:xfrm>
          <a:prstGeom prst="roundRect">
            <a:avLst>
              <a:gd name="adj" fmla="val 6000"/>
            </a:avLst>
          </a:prstGeom>
          <a:solidFill>
            <a:srgbClr val="EFF4FA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4754880"/>
            <a:ext cx="34747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E544E"/>
                </a:solidFill>
                <a:latin typeface="微软雅黑"/>
              </a:rPr>
              <a:t>⚠ 忽略独立测试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8" y="4754880"/>
            <a:ext cx="3200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78C"/>
                </a:solidFill>
                <a:latin typeface="微软雅黑"/>
              </a:rPr>
              <a:t>上线后才发现缺陷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73568" y="4754880"/>
            <a:ext cx="3657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9E6B"/>
                </a:solidFill>
                <a:latin typeface="微软雅黑"/>
              </a:rPr>
              <a:t>✓ 三角色制衡，测试先行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22976"/>
            <a:ext cx="11057839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" y="5596128"/>
            <a:ext cx="347472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E544E"/>
                </a:solidFill>
                <a:latin typeface="微软雅黑"/>
              </a:rPr>
              <a:t>⚠ 硬用编程术语沟通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98848" y="5596128"/>
            <a:ext cx="3200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4778C"/>
                </a:solidFill>
                <a:latin typeface="微软雅黑"/>
              </a:rPr>
              <a:t>词不达意、来回返工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73568" y="5596128"/>
            <a:ext cx="3657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2E9E6B"/>
                </a:solidFill>
                <a:latin typeface="微软雅黑"/>
              </a:rPr>
              <a:t>✓ 用业务语言描述需求即可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2377440"/>
            <a:ext cx="5852160" cy="5852160"/>
          </a:xfrm>
          <a:prstGeom prst="ellipse">
            <a:avLst/>
          </a:prstGeom>
          <a:solidFill>
            <a:srgbClr val="12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4023360" cy="4023360"/>
          </a:xfrm>
          <a:prstGeom prst="ellipse">
            <a:avLst/>
          </a:prstGeom>
          <a:noFill/>
          <a:ln w="1524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4480560"/>
            <a:ext cx="2926080" cy="2926080"/>
          </a:xfrm>
          <a:prstGeom prst="ellipse">
            <a:avLst/>
          </a:prstGeom>
          <a:noFill/>
          <a:ln w="1270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0" b="1">
                <a:solidFill>
                  <a:srgbClr val="1D416B"/>
                </a:solidFill>
                <a:latin typeface="微软雅黑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3063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微软雅黑"/>
              </a:rPr>
              <a:t>成果与数据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" y="3913632"/>
            <a:ext cx="594360" cy="4445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4114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FC2EE"/>
                </a:solidFill>
                <a:latin typeface="微软雅黑"/>
              </a:rPr>
              <a:t>一款可上线的企业级产品，和一笔算得清的账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背景与挑战</a:t>
            </a:r>
          </a:p>
        </p:txBody>
      </p:sp>
      <p:sp>
        <p:nvSpPr>
          <p:cNvPr id="12" name="Oval 11"/>
          <p:cNvSpPr/>
          <p:nvPr/>
        </p:nvSpPr>
        <p:spPr>
          <a:xfrm>
            <a:off x="2112264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00784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方法论</a:t>
            </a:r>
          </a:p>
        </p:txBody>
      </p:sp>
      <p:sp>
        <p:nvSpPr>
          <p:cNvPr id="14" name="Oval 13"/>
          <p:cNvSpPr/>
          <p:nvPr/>
        </p:nvSpPr>
        <p:spPr>
          <a:xfrm>
            <a:off x="3593592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82112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实战历程</a:t>
            </a:r>
          </a:p>
        </p:txBody>
      </p:sp>
      <p:sp>
        <p:nvSpPr>
          <p:cNvPr id="16" name="Oval 15"/>
          <p:cNvSpPr/>
          <p:nvPr/>
        </p:nvSpPr>
        <p:spPr>
          <a:xfrm>
            <a:off x="5074920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提示词工程</a:t>
            </a:r>
          </a:p>
        </p:txBody>
      </p:sp>
      <p:sp>
        <p:nvSpPr>
          <p:cNvPr id="18" name="Oval 17"/>
          <p:cNvSpPr/>
          <p:nvPr/>
        </p:nvSpPr>
        <p:spPr>
          <a:xfrm>
            <a:off x="6556248" y="5577840"/>
            <a:ext cx="128016" cy="128016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A93C"/>
                </a:solidFill>
                <a:latin typeface="微软雅黑"/>
              </a:rPr>
              <a:t>成果与数据</a:t>
            </a:r>
          </a:p>
        </p:txBody>
      </p:sp>
      <p:sp>
        <p:nvSpPr>
          <p:cNvPr id="20" name="Oval 19"/>
          <p:cNvSpPr/>
          <p:nvPr/>
        </p:nvSpPr>
        <p:spPr>
          <a:xfrm>
            <a:off x="8037576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609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能力提升与推广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05 · 成果与数据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交付成果：TDSQL数据库SQL审核工具 v1.0.2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27632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SQL 即时审核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98064" y="1627632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文件批量审核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1627632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GitLab 集成审核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60336" y="1627632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慢SQL扫描分析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91472" y="1627632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EXPLAIN 诊断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286000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数据库体检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286000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大表治理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2286000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质量门禁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0336" y="2286000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规则集多租户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91472" y="2286000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角色权限 RBAC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2944368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监控告警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98064" y="2944368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操作审计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2944368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数据保留策略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0336" y="2944368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Prometheus 指标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91472" y="2944368"/>
            <a:ext cx="2121408" cy="512064"/>
          </a:xfrm>
          <a:prstGeom prst="roundRect">
            <a:avLst>
              <a:gd name="adj" fmla="val 50000"/>
            </a:avLst>
          </a:prstGeom>
          <a:solidFill>
            <a:srgbClr val="E4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F4E82"/>
                </a:solidFill>
                <a:latin typeface="微软雅黑"/>
              </a:rPr>
              <a:t>一键部署回滚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840480"/>
            <a:ext cx="11057839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1520" y="3977640"/>
            <a:ext cx="914400" cy="411480"/>
          </a:xfrm>
          <a:prstGeom prst="roundRect">
            <a:avLst>
              <a:gd name="adj" fmla="val 5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3A93C"/>
                </a:solidFill>
                <a:latin typeface="微软雅黑"/>
              </a:rPr>
              <a:t>规则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92808" y="3913632"/>
            <a:ext cx="9692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C2B3A"/>
                </a:solidFill>
                <a:latin typeface="微软雅黑"/>
              </a:rPr>
              <a:t>119 条审核规则 · 9 大分类，含 42 条 Oracle 迁移兼容规则（覆盖原厂 52 点 100%）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4681728"/>
            <a:ext cx="11057839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31520" y="4818888"/>
            <a:ext cx="914400" cy="411480"/>
          </a:xfrm>
          <a:prstGeom prst="roundRect">
            <a:avLst>
              <a:gd name="adj" fmla="val 5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3A93C"/>
                </a:solidFill>
                <a:latin typeface="微软雅黑"/>
              </a:rPr>
              <a:t>质量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92808" y="4754880"/>
            <a:ext cx="9692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C2B3A"/>
                </a:solidFill>
                <a:latin typeface="微软雅黑"/>
              </a:rPr>
              <a:t>880 项全量回归 0 失败 · 184 项规则验收全通过 · 多轮 SIT/UAT + 独立质检准出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522976"/>
            <a:ext cx="11057839" cy="6858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1520" y="5660136"/>
            <a:ext cx="914400" cy="411480"/>
          </a:xfrm>
          <a:prstGeom prst="roundRect">
            <a:avLst>
              <a:gd name="adj" fmla="val 5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3A93C"/>
                </a:solidFill>
                <a:latin typeface="微软雅黑"/>
              </a:rPr>
              <a:t>交付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92808" y="5596128"/>
            <a:ext cx="9692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C2B3A"/>
                </a:solidFill>
                <a:latin typeface="微软雅黑"/>
              </a:rPr>
              <a:t>麒麟 V10 SP3 一键部署包（离线安装/预检/冒烟/回滚）+ 13 份 v1.0.2 文档体系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05 · 成果与数据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效率对比：同样的活，时间轴完全不同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84448" y="15544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4778C"/>
                </a:solidFill>
                <a:latin typeface="微软雅黑"/>
              </a:rPr>
              <a:t>■ </a:t>
            </a:r>
            <a:r>
              <a:rPr sz="1100" b="0">
                <a:solidFill>
                  <a:srgbClr val="64778C"/>
                </a:solidFill>
                <a:latin typeface="微软雅黑"/>
              </a:rPr>
              <a:t>传统方式    </a:t>
            </a:r>
            <a:r>
              <a:rPr sz="1100" b="1">
                <a:solidFill>
                  <a:srgbClr val="2B7BD3"/>
                </a:solidFill>
                <a:latin typeface="微软雅黑"/>
              </a:rPr>
              <a:t>■ </a:t>
            </a:r>
            <a:r>
              <a:rPr sz="1100" b="0">
                <a:solidFill>
                  <a:srgbClr val="2B7BD3"/>
                </a:solidFill>
                <a:latin typeface="微软雅黑"/>
              </a:rPr>
              <a:t>AI 协作方式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947672"/>
            <a:ext cx="2834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架构设计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84448" y="1901952"/>
            <a:ext cx="6035040" cy="274320"/>
          </a:xfrm>
          <a:prstGeom prst="roundRect">
            <a:avLst>
              <a:gd name="adj" fmla="val 50000"/>
            </a:avLst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0928" y="1874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2–3 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84448" y="2231136"/>
            <a:ext cx="844905" cy="274320"/>
          </a:xfrm>
          <a:prstGeom prst="roundRect">
            <a:avLst>
              <a:gd name="adj" fmla="val 50000"/>
            </a:avLst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0793" y="22037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BD3"/>
                </a:solidFill>
                <a:latin typeface="微软雅黑"/>
              </a:rPr>
              <a:t>3 天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660904"/>
            <a:ext cx="2834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规则引擎开发（119条）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84448" y="2615184"/>
            <a:ext cx="6035040" cy="274320"/>
          </a:xfrm>
          <a:prstGeom prst="roundRect">
            <a:avLst>
              <a:gd name="adj" fmla="val 50000"/>
            </a:avLst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0928" y="258775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2–3 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84448" y="2944368"/>
            <a:ext cx="1025956" cy="274320"/>
          </a:xfrm>
          <a:prstGeom prst="roundRect">
            <a:avLst>
              <a:gd name="adj" fmla="val 50000"/>
            </a:avLst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1844" y="291693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BD3"/>
                </a:solidFill>
                <a:latin typeface="微软雅黑"/>
              </a:rPr>
              <a:t>2 周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3374136"/>
            <a:ext cx="2834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Oracle 迁移规则（42条）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84448" y="3328416"/>
            <a:ext cx="6035040" cy="274320"/>
          </a:xfrm>
          <a:prstGeom prst="roundRect">
            <a:avLst>
              <a:gd name="adj" fmla="val 50000"/>
            </a:avLst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10928" y="330098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1–2 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84448" y="3657600"/>
            <a:ext cx="784555" cy="274320"/>
          </a:xfrm>
          <a:prstGeom prst="roundRect">
            <a:avLst>
              <a:gd name="adj" fmla="val 50000"/>
            </a:avLst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60443" y="363016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BD3"/>
                </a:solidFill>
                <a:latin typeface="微软雅黑"/>
              </a:rPr>
              <a:t>1 周 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087368"/>
            <a:ext cx="2834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前端 19 页面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84448" y="4041648"/>
            <a:ext cx="6035040" cy="274320"/>
          </a:xfrm>
          <a:prstGeom prst="roundRect">
            <a:avLst>
              <a:gd name="adj" fmla="val 50000"/>
            </a:avLst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10928" y="401421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1–2 月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84448" y="4370832"/>
            <a:ext cx="784555" cy="274320"/>
          </a:xfrm>
          <a:prstGeom prst="roundRect">
            <a:avLst>
              <a:gd name="adj" fmla="val 50000"/>
            </a:avLst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60443" y="434340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BD3"/>
                </a:solidFill>
                <a:latin typeface="微软雅黑"/>
              </a:rPr>
              <a:t>1 周 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4800600"/>
            <a:ext cx="2834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全量测试（880 用例）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584448" y="4754880"/>
            <a:ext cx="6035040" cy="274320"/>
          </a:xfrm>
          <a:prstGeom prst="roundRect">
            <a:avLst>
              <a:gd name="adj" fmla="val 50000"/>
            </a:avLst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10928" y="47274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4778C"/>
                </a:solidFill>
                <a:latin typeface="微软雅黑"/>
              </a:rPr>
              <a:t>2–4 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84448" y="5084064"/>
            <a:ext cx="411480" cy="274320"/>
          </a:xfrm>
          <a:prstGeom prst="roundRect">
            <a:avLst>
              <a:gd name="adj" fmla="val 50000"/>
            </a:avLst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87368" y="50566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B7BD3"/>
                </a:solidFill>
                <a:latin typeface="微软雅黑"/>
              </a:rPr>
              <a:t>自动执行 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559552"/>
            <a:ext cx="11057839" cy="777240"/>
          </a:xfrm>
          <a:prstGeom prst="roundRect">
            <a:avLst>
              <a:gd name="adj" fmla="val 10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总周期：传统方式 6–12 个月   →   AI 协作 </a:t>
            </a:r>
            <a:r>
              <a:rPr sz="2200" b="1">
                <a:solidFill>
                  <a:srgbClr val="E3A93C"/>
                </a:solidFill>
                <a:latin typeface="微软雅黑"/>
              </a:rPr>
              <a:t>8 周</a:t>
            </a:r>
            <a:r>
              <a:rPr sz="1600" b="1">
                <a:solidFill>
                  <a:srgbClr val="FFFFFF"/>
                </a:solidFill>
                <a:latin typeface="微软雅黑"/>
              </a:rPr>
              <a:t>（整体提速 3–6 倍）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05 · 成果与数据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成本对比：一笔算得清的账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270662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2239"/>
                </a:solidFill>
                <a:latin typeface="微软雅黑"/>
              </a:rPr>
              <a:t>采购商业产品</a:t>
            </a:r>
          </a:p>
          <a:p>
            <a:pPr algn="ctr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CE544E"/>
                </a:solidFill>
                <a:latin typeface="微软雅黑"/>
              </a:rPr>
              <a:t>30–80 万 / 年</a:t>
            </a:r>
          </a:p>
          <a:p>
            <a:pPr algn="ctr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3–6 月选型适配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74136" y="1691640"/>
            <a:ext cx="270662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2239"/>
                </a:solidFill>
                <a:latin typeface="微软雅黑"/>
              </a:rPr>
              <a:t>外包开发</a:t>
            </a:r>
          </a:p>
          <a:p>
            <a:pPr algn="ctr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CE544E"/>
                </a:solidFill>
                <a:latin typeface="微软雅黑"/>
              </a:rPr>
              <a:t>50–150 万</a:t>
            </a:r>
          </a:p>
          <a:p>
            <a:pPr algn="ctr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6–12 月交付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4" y="1691640"/>
            <a:ext cx="2706624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2239"/>
                </a:solidFill>
                <a:latin typeface="微软雅黑"/>
              </a:rPr>
              <a:t>自建团队（3–5人）</a:t>
            </a:r>
          </a:p>
          <a:p>
            <a:pPr algn="ctr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700" b="1">
                <a:solidFill>
                  <a:srgbClr val="CE544E"/>
                </a:solidFill>
                <a:latin typeface="微软雅黑"/>
              </a:rPr>
              <a:t>100–200 万 / 年</a:t>
            </a:r>
          </a:p>
          <a:p>
            <a:pPr algn="ctr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>
                <a:solidFill>
                  <a:srgbClr val="64778C"/>
                </a:solidFill>
                <a:latin typeface="微软雅黑"/>
              </a:rPr>
              <a:t>6–12 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88552" y="1691640"/>
            <a:ext cx="2706624" cy="2286000"/>
          </a:xfrm>
          <a:prstGeom prst="roundRect">
            <a:avLst>
              <a:gd name="adj" fmla="val 8000"/>
            </a:avLst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6679" bIns="106679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E3A93C"/>
                </a:solidFill>
                <a:latin typeface="微软雅黑"/>
              </a:rPr>
              <a:t>我 + AI 工具</a:t>
            </a:r>
          </a:p>
          <a:p>
            <a:pPr algn="ctr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微软雅黑"/>
              </a:rPr>
              <a:t>0 额外人力成本</a:t>
            </a:r>
          </a:p>
          <a:p>
            <a:pPr algn="ctr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>
                <a:solidFill>
                  <a:srgbClr val="8FC2EE"/>
                </a:solidFill>
                <a:latin typeface="微软雅黑"/>
              </a:rPr>
              <a:t>8 周交付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88552" y="1691640"/>
            <a:ext cx="2706624" cy="4445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4480560"/>
            <a:ext cx="11057839" cy="1371600"/>
          </a:xfrm>
          <a:prstGeom prst="roundRect">
            <a:avLst>
              <a:gd name="adj" fmla="val 1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rIns="203200" tIns="142240" bIns="14224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2239"/>
                </a:solidFill>
                <a:latin typeface="微软雅黑"/>
              </a:rPr>
              <a:t>直接效益（最保守口径）：节省 </a:t>
            </a:r>
            <a:r>
              <a:rPr sz="2600" b="1">
                <a:solidFill>
                  <a:srgbClr val="E3A93C"/>
                </a:solidFill>
                <a:latin typeface="微软雅黑"/>
              </a:rPr>
              <a:t>≥ 50 万元</a:t>
            </a:r>
            <a:r>
              <a:rPr sz="1600" b="1">
                <a:solidFill>
                  <a:srgbClr val="0E2239"/>
                </a:solidFill>
                <a:latin typeface="微软雅黑"/>
              </a:rPr>
              <a:t> 开发成本 + </a:t>
            </a:r>
            <a:r>
              <a:rPr sz="2600" b="1">
                <a:solidFill>
                  <a:srgbClr val="E3A93C"/>
                </a:solidFill>
                <a:latin typeface="微软雅黑"/>
              </a:rPr>
              <a:t>6 个月</a:t>
            </a:r>
            <a:r>
              <a:rPr sz="1600" b="1">
                <a:solidFill>
                  <a:srgbClr val="0E2239"/>
                </a:solidFill>
                <a:latin typeface="微软雅黑"/>
              </a:rPr>
              <a:t> 时间成本</a:t>
            </a:r>
          </a:p>
          <a:p>
            <a:pPr algn="ctr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64778C"/>
                </a:solidFill>
                <a:latin typeface="微软雅黑"/>
              </a:rPr>
              <a:t>长期效益：SQL 缺陷在上线前拦截，生产事故与救火成本持续下降（难以估量但真实存在）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2377440"/>
            <a:ext cx="5852160" cy="5852160"/>
          </a:xfrm>
          <a:prstGeom prst="ellipse">
            <a:avLst/>
          </a:prstGeom>
          <a:solidFill>
            <a:srgbClr val="12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4023360" cy="4023360"/>
          </a:xfrm>
          <a:prstGeom prst="ellipse">
            <a:avLst/>
          </a:prstGeom>
          <a:noFill/>
          <a:ln w="1524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4480560"/>
            <a:ext cx="2926080" cy="2926080"/>
          </a:xfrm>
          <a:prstGeom prst="ellipse">
            <a:avLst/>
          </a:prstGeom>
          <a:noFill/>
          <a:ln w="1270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0" b="1">
                <a:solidFill>
                  <a:srgbClr val="1D416B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" y="30632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FFFFFF"/>
                </a:solidFill>
                <a:latin typeface="微软雅黑"/>
              </a:rPr>
              <a:t>能力提升与推广建议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" y="3913632"/>
            <a:ext cx="594360" cy="4445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41148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8FC2EE"/>
                </a:solidFill>
                <a:latin typeface="微软雅黑"/>
              </a:rPr>
              <a:t>AI 放大了专家能力，而不是替代了专家能力</a:t>
            </a:r>
          </a:p>
        </p:txBody>
      </p:sp>
      <p:sp>
        <p:nvSpPr>
          <p:cNvPr id="10" name="Oval 9"/>
          <p:cNvSpPr/>
          <p:nvPr/>
        </p:nvSpPr>
        <p:spPr>
          <a:xfrm>
            <a:off x="630936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背景与挑战</a:t>
            </a:r>
          </a:p>
        </p:txBody>
      </p:sp>
      <p:sp>
        <p:nvSpPr>
          <p:cNvPr id="12" name="Oval 11"/>
          <p:cNvSpPr/>
          <p:nvPr/>
        </p:nvSpPr>
        <p:spPr>
          <a:xfrm>
            <a:off x="2112264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00784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方法论</a:t>
            </a:r>
          </a:p>
        </p:txBody>
      </p:sp>
      <p:sp>
        <p:nvSpPr>
          <p:cNvPr id="14" name="Oval 13"/>
          <p:cNvSpPr/>
          <p:nvPr/>
        </p:nvSpPr>
        <p:spPr>
          <a:xfrm>
            <a:off x="3593592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182112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实战历程</a:t>
            </a:r>
          </a:p>
        </p:txBody>
      </p:sp>
      <p:sp>
        <p:nvSpPr>
          <p:cNvPr id="16" name="Oval 15"/>
          <p:cNvSpPr/>
          <p:nvPr/>
        </p:nvSpPr>
        <p:spPr>
          <a:xfrm>
            <a:off x="5074920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提示词工程</a:t>
            </a:r>
          </a:p>
        </p:txBody>
      </p:sp>
      <p:sp>
        <p:nvSpPr>
          <p:cNvPr id="18" name="Oval 17"/>
          <p:cNvSpPr/>
          <p:nvPr/>
        </p:nvSpPr>
        <p:spPr>
          <a:xfrm>
            <a:off x="6556248" y="5577840"/>
            <a:ext cx="128016" cy="128016"/>
          </a:xfrm>
          <a:prstGeom prst="ellipse">
            <a:avLst/>
          </a:prstGeom>
          <a:solidFill>
            <a:srgbClr val="2A4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E7793"/>
                </a:solidFill>
                <a:latin typeface="微软雅黑"/>
              </a:rPr>
              <a:t>成果与数据</a:t>
            </a:r>
          </a:p>
        </p:txBody>
      </p:sp>
      <p:sp>
        <p:nvSpPr>
          <p:cNvPr id="20" name="Oval 19"/>
          <p:cNvSpPr/>
          <p:nvPr/>
        </p:nvSpPr>
        <p:spPr>
          <a:xfrm>
            <a:off x="8037576" y="5577840"/>
            <a:ext cx="128016" cy="128016"/>
          </a:xfrm>
          <a:prstGeom prst="ellipse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26096" y="5760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E3A93C"/>
                </a:solidFill>
                <a:latin typeface="微软雅黑"/>
              </a:rPr>
              <a:t>能力提升与推广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06 · 能力提升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AI 如何提升了我：四个维度的能力跃迁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30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27632"/>
            <a:ext cx="11057839" cy="9875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700784"/>
            <a:ext cx="32918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239"/>
                </a:solidFill>
                <a:latin typeface="微软雅黑"/>
              </a:rPr>
              <a:t>从 DBA 到全栈交付者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1700784"/>
            <a:ext cx="292608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778C"/>
                </a:solidFill>
                <a:latin typeface="微软雅黑"/>
              </a:rPr>
              <a:t>只会 SQL 运维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9208" y="1792224"/>
            <a:ext cx="685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3A93C"/>
                </a:solidFill>
                <a:latin typeface="微软雅黑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0728" y="1700784"/>
            <a:ext cx="35204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B7BD3"/>
                </a:solidFill>
                <a:latin typeface="微软雅黑"/>
              </a:rPr>
              <a:t>能独立交付完整软件产品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779776"/>
            <a:ext cx="11057839" cy="9875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2852928"/>
            <a:ext cx="32918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239"/>
                </a:solidFill>
                <a:latin typeface="微软雅黑"/>
              </a:rPr>
              <a:t>从执行者到架构师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2852928"/>
            <a:ext cx="292608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778C"/>
                </a:solidFill>
                <a:latin typeface="微软雅黑"/>
              </a:rPr>
              <a:t>执行运维任务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79208" y="2944368"/>
            <a:ext cx="685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3A93C"/>
                </a:solidFill>
                <a:latin typeface="微软雅黑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0728" y="2852928"/>
            <a:ext cx="35204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B7BD3"/>
                </a:solidFill>
                <a:latin typeface="微软雅黑"/>
              </a:rPr>
              <a:t>设计系统架构、指挥 AI 团队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931920"/>
            <a:ext cx="11057839" cy="9875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005072"/>
            <a:ext cx="32918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239"/>
                </a:solidFill>
                <a:latin typeface="微软雅黑"/>
              </a:rPr>
              <a:t>从个人到团队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8" y="4005072"/>
            <a:ext cx="292608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778C"/>
                </a:solidFill>
                <a:latin typeface="微软雅黑"/>
              </a:rPr>
              <a:t>一个人的能力边界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9208" y="4096512"/>
            <a:ext cx="685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3A93C"/>
                </a:solidFill>
                <a:latin typeface="微软雅黑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4005072"/>
            <a:ext cx="35204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B7BD3"/>
                </a:solidFill>
                <a:latin typeface="微软雅黑"/>
              </a:rPr>
              <a:t>一个人 = 一个生产力团队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084064"/>
            <a:ext cx="11057839" cy="987552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157216"/>
            <a:ext cx="32918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E2239"/>
                </a:solidFill>
                <a:latin typeface="微软雅黑"/>
              </a:rPr>
              <a:t>从被动到主动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07408" y="5157216"/>
            <a:ext cx="292608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4778C"/>
                </a:solidFill>
                <a:latin typeface="微软雅黑"/>
              </a:rPr>
              <a:t>问题来了再救火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9208" y="5248656"/>
            <a:ext cx="685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E3A93C"/>
                </a:solidFill>
                <a:latin typeface="微软雅黑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0728" y="5157216"/>
            <a:ext cx="35204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B7BD3"/>
                </a:solidFill>
                <a:latin typeface="微软雅黑"/>
              </a:rPr>
              <a:t>主动构建工具预防问题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06 · 能力提升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为什么必须「专家驱动」：五项不可替代的能力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00200"/>
            <a:ext cx="1105783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8096" y="1773936"/>
            <a:ext cx="365760" cy="365760"/>
          </a:xfrm>
          <a:prstGeom prst="ellipse">
            <a:avLst/>
          </a:prstGeom>
          <a:solidFill>
            <a:srgbClr val="14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73352"/>
            <a:ext cx="3108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2239"/>
                </a:solidFill>
                <a:latin typeface="微软雅黑"/>
              </a:rPr>
              <a:t>需求定义能力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673352"/>
            <a:ext cx="6949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B7BD3"/>
                </a:solidFill>
                <a:latin typeface="微软雅黑"/>
              </a:rPr>
              <a:t>「我知道 DBA 真正需要什么工具」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441448"/>
            <a:ext cx="1105783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8096" y="2615184"/>
            <a:ext cx="365760" cy="365760"/>
          </a:xfrm>
          <a:prstGeom prst="ellipse">
            <a:avLst/>
          </a:prstGeom>
          <a:solidFill>
            <a:srgbClr val="14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4168" y="2514600"/>
            <a:ext cx="3108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2239"/>
                </a:solidFill>
                <a:latin typeface="微软雅黑"/>
              </a:rPr>
              <a:t>架构设计能力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2514600"/>
            <a:ext cx="6949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B7BD3"/>
                </a:solidFill>
                <a:latin typeface="微软雅黑"/>
              </a:rPr>
              <a:t>「我能设计出 119 条规则的完整体系」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82696"/>
            <a:ext cx="1105783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8096" y="3456432"/>
            <a:ext cx="365760" cy="365760"/>
          </a:xfrm>
          <a:prstGeom prst="ellipse">
            <a:avLst/>
          </a:prstGeom>
          <a:solidFill>
            <a:srgbClr val="14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3355848"/>
            <a:ext cx="3108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2239"/>
                </a:solidFill>
                <a:latin typeface="微软雅黑"/>
              </a:rPr>
              <a:t>质量判断能力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3355848"/>
            <a:ext cx="6949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B7BD3"/>
                </a:solidFill>
                <a:latin typeface="微软雅黑"/>
              </a:rPr>
              <a:t>「我能判断 AI 的输出是否达到生产级」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123944"/>
            <a:ext cx="1105783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8096" y="4297680"/>
            <a:ext cx="365760" cy="365760"/>
          </a:xfrm>
          <a:prstGeom prst="ellipse">
            <a:avLst/>
          </a:prstGeom>
          <a:solidFill>
            <a:srgbClr val="14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44168" y="4197096"/>
            <a:ext cx="3108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2239"/>
                </a:solidFill>
                <a:latin typeface="微软雅黑"/>
              </a:rPr>
              <a:t>业务理解深度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0288" y="4197096"/>
            <a:ext cx="6949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B7BD3"/>
                </a:solidFill>
                <a:latin typeface="微软雅黑"/>
              </a:rPr>
              <a:t>「我理解 Oracle→TDSQL 迁移的每一个技术细节」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965192"/>
            <a:ext cx="11057839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68096" y="5138928"/>
            <a:ext cx="365760" cy="365760"/>
          </a:xfrm>
          <a:prstGeom prst="ellipse">
            <a:avLst/>
          </a:prstGeom>
          <a:solidFill>
            <a:srgbClr val="143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44168" y="5038344"/>
            <a:ext cx="31089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0E2239"/>
                </a:solidFill>
                <a:latin typeface="微软雅黑"/>
              </a:rPr>
              <a:t>优先级决策能力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0288" y="5038344"/>
            <a:ext cx="6949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B7BD3"/>
                </a:solidFill>
                <a:latin typeface="微软雅黑"/>
              </a:rPr>
              <a:t>「我知道什么最重要，什么可以延后」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943600"/>
            <a:ext cx="110578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E3A93C"/>
                </a:solidFill>
                <a:latin typeface="微软雅黑"/>
              </a:rPr>
              <a:t>这五项能力，AI 一项都替代不了 —— 它们恰恰是每一位领域专家已经具备的。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B7BD3"/>
                </a:solidFill>
                <a:latin typeface="微软雅黑"/>
              </a:rPr>
              <a:t>06 · 推广建议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66928"/>
            <a:ext cx="11057839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2239"/>
                </a:solidFill>
                <a:latin typeface="微软雅黑"/>
              </a:rPr>
              <a:t>方法论完全可复制：从一个人的实践到一个部门的能力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70432"/>
            <a:ext cx="50292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4778C"/>
                </a:solidFill>
                <a:latin typeface="微软雅黑"/>
              </a:rPr>
              <a:t>AI赋能DBA创新实践 · TDSQL数据库SQL审核工具 v1.0.2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64778C"/>
                </a:solidFill>
                <a:latin typeface="微软雅黑"/>
              </a:rPr>
              <a:t>32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572768"/>
            <a:ext cx="539496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2B7BD3"/>
                </a:solidFill>
                <a:latin typeface="微软雅黑"/>
              </a:rPr>
              <a:t>任何领域专家都可复用</a:t>
            </a:r>
          </a:p>
          <a:p>
            <a:pPr algn="l">
              <a:lnSpc>
                <a:spcPct val="125000"/>
              </a:lnSpc>
              <a:spcBef>
                <a:spcPts val="110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DBA：</a:t>
            </a:r>
            <a:r>
              <a:rPr sz="1250" b="0">
                <a:solidFill>
                  <a:srgbClr val="64778C"/>
                </a:solidFill>
                <a:latin typeface="微软雅黑"/>
              </a:rPr>
              <a:t>SQL 审核 / 慢SQL 平台 / 巡检系统</a:t>
            </a:r>
          </a:p>
          <a:p>
            <a:pPr algn="l">
              <a:lnSpc>
                <a:spcPct val="125000"/>
              </a:lnSpc>
              <a:spcBef>
                <a:spcPts val="110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网络工程师：</a:t>
            </a:r>
            <a:r>
              <a:rPr sz="1250" b="0">
                <a:solidFill>
                  <a:srgbClr val="64778C"/>
                </a:solidFill>
                <a:latin typeface="微软雅黑"/>
              </a:rPr>
              <a:t>网络监控 / 故障自动诊断</a:t>
            </a:r>
          </a:p>
          <a:p>
            <a:pPr algn="l">
              <a:lnSpc>
                <a:spcPct val="125000"/>
              </a:lnSpc>
              <a:spcBef>
                <a:spcPts val="110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安全工程师：</a:t>
            </a:r>
            <a:r>
              <a:rPr sz="1250" b="0">
                <a:solidFill>
                  <a:srgbClr val="64778C"/>
                </a:solidFill>
                <a:latin typeface="微软雅黑"/>
              </a:rPr>
              <a:t>漏洞扫描 / 合规检查平台</a:t>
            </a:r>
          </a:p>
          <a:p>
            <a:pPr algn="l">
              <a:lnSpc>
                <a:spcPct val="125000"/>
              </a:lnSpc>
              <a:spcBef>
                <a:spcPts val="110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运维工程师：</a:t>
            </a:r>
            <a:r>
              <a:rPr sz="1250" b="0">
                <a:solidFill>
                  <a:srgbClr val="64778C"/>
                </a:solidFill>
                <a:latin typeface="微软雅黑"/>
              </a:rPr>
              <a:t>CMDB / 自动化运维 / 告警系统</a:t>
            </a:r>
          </a:p>
          <a:p>
            <a:pPr algn="l">
              <a:lnSpc>
                <a:spcPct val="125000"/>
              </a:lnSpc>
              <a:spcBef>
                <a:spcPts val="110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业务分析师：</a:t>
            </a:r>
            <a:r>
              <a:rPr sz="1250" b="0">
                <a:solidFill>
                  <a:srgbClr val="64778C"/>
                </a:solidFill>
                <a:latin typeface="微软雅黑"/>
              </a:rPr>
              <a:t>数据分析工具 / 报表平台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572768"/>
            <a:ext cx="5394960" cy="38100"/>
          </a:xfrm>
          <a:prstGeom prst="rect">
            <a:avLst/>
          </a:prstGeom>
          <a:solidFill>
            <a:srgbClr val="2B7B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8" y="1572768"/>
            <a:ext cx="5394960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CE5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24459" bIns="124459"/>
          <a:lstStyle/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</a:pPr>
            <a:r>
              <a:rPr sz="1500" b="1">
                <a:solidFill>
                  <a:srgbClr val="E3A93C"/>
                </a:solidFill>
                <a:latin typeface="微软雅黑"/>
              </a:rPr>
              <a:t>对部门的五点推广建议</a:t>
            </a:r>
          </a:p>
          <a:p>
            <a:pPr algn="l">
              <a:lnSpc>
                <a:spcPct val="125000"/>
              </a:lnSpc>
              <a:spcBef>
                <a:spcPts val="110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机制：</a:t>
            </a:r>
            <a:r>
              <a:rPr sz="1250" b="0">
                <a:solidFill>
                  <a:srgbClr val="64778C"/>
                </a:solidFill>
                <a:latin typeface="微软雅黑"/>
              </a:rPr>
              <a:t>建立「AI+专家」项目孵化机制</a:t>
            </a:r>
          </a:p>
          <a:p>
            <a:pPr algn="l">
              <a:lnSpc>
                <a:spcPct val="125000"/>
              </a:lnSpc>
              <a:spcBef>
                <a:spcPts val="110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培训：</a:t>
            </a:r>
            <a:r>
              <a:rPr sz="1250" b="0">
                <a:solidFill>
                  <a:srgbClr val="64778C"/>
                </a:solidFill>
                <a:latin typeface="微软雅黑"/>
              </a:rPr>
              <a:t>开展提示词工程培训，推广五步方法论</a:t>
            </a:r>
          </a:p>
          <a:p>
            <a:pPr algn="l">
              <a:lnSpc>
                <a:spcPct val="125000"/>
              </a:lnSpc>
              <a:spcBef>
                <a:spcPts val="110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工具：</a:t>
            </a:r>
            <a:r>
              <a:rPr sz="1250" b="0">
                <a:solidFill>
                  <a:srgbClr val="64778C"/>
                </a:solidFill>
                <a:latin typeface="微软雅黑"/>
              </a:rPr>
              <a:t>统一 AI 平台，建立智能体协作规范</a:t>
            </a:r>
          </a:p>
          <a:p>
            <a:pPr algn="l">
              <a:lnSpc>
                <a:spcPct val="125000"/>
              </a:lnSpc>
              <a:spcBef>
                <a:spcPts val="110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激励：</a:t>
            </a:r>
            <a:r>
              <a:rPr sz="1250" b="0">
                <a:solidFill>
                  <a:srgbClr val="64778C"/>
                </a:solidFill>
                <a:latin typeface="微软雅黑"/>
              </a:rPr>
              <a:t>AI 协作创新纳入绩效，设创新实践奖</a:t>
            </a:r>
          </a:p>
          <a:p>
            <a:pPr algn="l">
              <a:lnSpc>
                <a:spcPct val="125000"/>
              </a:lnSpc>
              <a:spcBef>
                <a:spcPts val="1100"/>
              </a:spcBef>
              <a:spcAft>
                <a:spcPts val="0"/>
              </a:spcAft>
            </a:pPr>
            <a:r>
              <a:rPr sz="1250" b="1">
                <a:solidFill>
                  <a:srgbClr val="0E2239"/>
                </a:solidFill>
                <a:latin typeface="微软雅黑"/>
              </a:rPr>
              <a:t>知识：</a:t>
            </a:r>
            <a:r>
              <a:rPr sz="1250" b="0">
                <a:solidFill>
                  <a:srgbClr val="64778C"/>
                </a:solidFill>
                <a:latin typeface="微软雅黑"/>
              </a:rPr>
              <a:t>建案例库，沉淀方法论与提示词模板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36208" y="1572768"/>
            <a:ext cx="5394960" cy="38100"/>
          </a:xfrm>
          <a:prstGeom prst="rect">
            <a:avLst/>
          </a:prstGeom>
          <a:solidFill>
            <a:srgbClr val="E3A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35440" y="-2377440"/>
            <a:ext cx="5852160" cy="5852160"/>
          </a:xfrm>
          <a:prstGeom prst="ellipse">
            <a:avLst/>
          </a:prstGeom>
          <a:solidFill>
            <a:srgbClr val="122C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4023360" cy="4023360"/>
          </a:xfrm>
          <a:prstGeom prst="ellipse">
            <a:avLst/>
          </a:prstGeom>
          <a:noFill/>
          <a:ln w="1524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607040" y="4480560"/>
            <a:ext cx="2926080" cy="2926080"/>
          </a:xfrm>
          <a:prstGeom prst="ellipse">
            <a:avLst/>
          </a:prstGeom>
          <a:noFill/>
          <a:ln w="12700">
            <a:solidFill>
              <a:srgbClr val="1B4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34440"/>
            <a:ext cx="110578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3A93C"/>
                </a:solidFill>
                <a:latin typeface="微软雅黑"/>
              </a:rPr>
              <a:t>结 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74519"/>
            <a:ext cx="9966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微软雅黑"/>
              </a:rPr>
              <a:t>这不是一个程序员的故事，</a:t>
            </a:r>
          </a:p>
          <a:p>
            <a:pPr algn="ctr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微软雅黑"/>
              </a:rPr>
              <a:t>而是一个 DBA 用专家智慧指挥 AI 团队的故事。</a:t>
            </a:r>
          </a:p>
          <a:p>
            <a:pPr algn="ctr">
              <a:lnSpc>
                <a:spcPct val="150000"/>
              </a:lnSpc>
              <a:spcBef>
                <a:spcPts val="1800"/>
              </a:spcBef>
              <a:spcAft>
                <a:spcPts val="0"/>
              </a:spcAft>
            </a:pPr>
            <a:r>
              <a:rPr sz="1350" b="0">
                <a:solidFill>
                  <a:srgbClr val="8FC2EE"/>
                </a:solidFill>
                <a:latin typeface="微软雅黑"/>
              </a:rPr>
              <a:t>我没有写一行代码，但我设计了 119 条规则的完整体系，定义了 42 条迁移规范的技术细节，</a:t>
            </a:r>
          </a:p>
          <a:p>
            <a:pPr algn="ctr">
              <a:lnSpc>
                <a:spcPct val="150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0">
                <a:solidFill>
                  <a:srgbClr val="8FC2EE"/>
                </a:solidFill>
                <a:latin typeface="微软雅黑"/>
              </a:rPr>
              <a:t>审核了每一轮测试报告，并做出了每一次质量裁决。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58568" y="4251960"/>
            <a:ext cx="7680960" cy="914400"/>
          </a:xfrm>
          <a:prstGeom prst="roundRect">
            <a:avLst>
              <a:gd name="adj" fmla="val 12000"/>
            </a:avLst>
          </a:prstGeom>
          <a:solidFill>
            <a:srgbClr val="132E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88900" bIns="88900"/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E3A93C"/>
                </a:solidFill>
                <a:latin typeface="微软雅黑"/>
              </a:rPr>
              <a:t>AI 是放大器 —— 它放大了专家能力，而不是替代了专家能力。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440680"/>
            <a:ext cx="110578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一个人 + AI = 一个生产力团队。这不是未来的愿景，而是今天正在发生的现实。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172200"/>
            <a:ext cx="110578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E7793"/>
                </a:solidFill>
                <a:latin typeface="微软雅黑"/>
              </a:rPr>
              <a:t>—— 感谢聆听 ——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