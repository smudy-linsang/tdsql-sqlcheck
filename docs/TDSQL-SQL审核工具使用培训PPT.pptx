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接下来的半个小时，咱们乘热打铁，把刚才汇报里的这个SQL审核工具真正教给大家用起来。</a:t>
            </a:r>
          </a:p>
          <a:p>
            <a:r>
              <a:t>这场培训面向所有岗位：开发、DBA、审计、管理岗都有各自用得上的部分。我今天讲的是全面而概化的用法——功能是什么、什么场景用、大概怎么用；具体的操作细节，会后大家按文档自学就够了。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先说清楚这场培训的目标，就三样东西。</a:t>
            </a:r>
          </a:p>
          <a:p>
            <a:r>
              <a:t>第一，知道它能干什么——五大功能域我会带大家过一遍全景；第二，知道你该用哪些——不同角色主战场不同，开发同事重点在SQL审核，DBA重点在慢SQL治理和实例管理，审计同事看审计视图；第三，知道去哪学细节——最后我会给一张文档地图。</a:t>
            </a:r>
          </a:p>
          <a:p>
            <a:r>
              <a:t>这个工具的定位一句话：它是全行TDSQL数据库的"SQL质量门卫加慢SQL管家"。SQL上线前过它这一关，慢SQL由它主动发现、跟踪到关闭。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这是系统的功能全景，五大功能域、十九个页面，正好对应系统左侧的导航分组。</a:t>
            </a:r>
          </a:p>
          <a:p>
            <a:r>
              <a:t>从左到右：SQL审核域，即时审核、文件审核、规则库，开发同事主用；慢SQL治理域，扫描、记录、计划、EXPLAIN，DBA主用；实例与体检域，实例管理、体检、大表治理，也是DBA的；平台治理域，项目、规则集、门禁、监控、巡检，DBA和管理员用；系统管理域，用户、保留、审计，管理员和审计员用。</a:t>
            </a:r>
          </a:p>
          <a:p>
            <a:r>
              <a:t>另外登录进来第一眼看到的是"治理概览"工作台，今日审核量、通过率、待处理慢SQL这些KPI和趋势图都在上面。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下面进入第一部分，快速上手。就讲两件事：怎么登录进来，以及你的角色能用什么。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第一次使用，三步进系统。</a:t>
            </a:r>
          </a:p>
          <a:p>
            <a:r>
              <a:t>第一步，浏览器访问系统地址，地址上线后会统一公布，推荐Chrome或Edge；第二步，登录，账号由管理员分配，首次登录系统会强制你修改口令，要求八位以上、含大小写字母数字特殊字符至少三类；第三步，认识界面，记住三个位置：顶栏的实例和项目切换器——你操作的是哪套数据库全看它；左侧按功能域分组的导航；右上角的告警铃铛和头像菜单。</a:t>
            </a:r>
          </a:p>
          <a:p>
            <a:r>
              <a:t>特别提醒一下安全事项：连续输错口令五次会锁定十五分钟；另外请不要互借账号，系统里所有操作都有审计记录，账号就代表你本人。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这一页大家对号入座。</a:t>
            </a:r>
          </a:p>
          <a:p>
            <a:r>
              <a:t>开发同事，你的主战场是SQL即时审核、文件审核、规则库查询和EXPLAIN分析，慢SQL这些是只读的；DBA同事权限最全，慢SQL全流程、实例管理、体检治理、规则集门禁配置都归你；审计同事是全局只读视角，重点是治理概览、审核历史和操作审计日志；admin系统管理员管用户和系统配置，全行只设一到两个人。</a:t>
            </a:r>
          </a:p>
          <a:p>
            <a:r>
              <a:t>角色看不到的菜单不会显示，所以如果你发现少了某个功能，不是坏了，是权限设计如此。</a:t>
            </a:r>
          </a:p>
          <a:p>
            <a:r>
              <a:t>接下来按角色主线讲场景，开发同事重点听下一篇。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第二部分，SQL审核篇，开发同事的主战场。核心就一句话：SQL上线之前，先过工具这一关。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第一个场景，也是用得最多的：即时审核，SQL上线前的三秒自查。</a:t>
            </a:r>
          </a:p>
          <a:p>
            <a:r>
              <a:t>用法非常简单：打开"SQL审核、即时审核"，把写好的SQL粘进去，可以顺手选一下项目、需要的话打开元数据增强，然后点审核或者直接按Ctrl加回车，三秒内出结果。</a:t>
            </a:r>
          </a:p>
          <a:p>
            <a:r>
              <a:t>结果怎么看：红色ERROR必须改，那是TDSQL会报错或者有生产风险的；黄色WARNING强烈建议改；蓝色INFO是提示。每条违规下面都带修复建议，照着改就行，改完再审一遍，直到通过。</a:t>
            </a:r>
          </a:p>
          <a:p>
            <a:r>
              <a:t>什么时候用？写完SQL提测前、投产变更单预检、Oracle迁移改写验证、以及任何拿不准的写法。请大家养成习惯：SQL离手前先过一遍审核，三秒钟，换生产环境一夜安稳。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第二个场景，文件批量审核，适合整包脚本。</a:t>
            </a:r>
          </a:p>
          <a:p>
            <a:r>
              <a:t>三步：把.sql脚本或者MyBatis的.xml映射文件拖进"文件审核"页；系统自动把文件里的SQL全部拆出来，逐条过119条规则，给出总数、通过率和逐条明细；最后在"审核报告"页签可以查历史、下载HTML报告，直接附在投产材料里留痕。</a:t>
            </a:r>
          </a:p>
          <a:p>
            <a:r>
              <a:t>说明两点：sql文件按分号拆分、注释自动跳过；MyBatis的动态标签，井号大括号、if、foreach这些，系统会自动处理，不用改造文件。</a:t>
            </a:r>
          </a:p>
          <a:p>
            <a:r>
              <a:t>另外我们还做了GitLab集成，合并请求可以自动触发审核，有需要的团队看《功能使用手册》的GitLab章节自行配置。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审核报了违规，想知道为什么？看规则库。</a:t>
            </a:r>
          </a:p>
          <a:p>
            <a:r>
              <a:t>"SQL审核、审核规则库"里是全部119条规则，九大分类：命名、DDL、DML、索引、分布式、安全、性能、事务，以及金色高亮的Oracle迁移兼容42条。</a:t>
            </a:r>
          </a:p>
          <a:p>
            <a:r>
              <a:t>用法有两种：按分类浏览，每条规则有编号、级别、说明；或者直接搜索——审核报了R082看不懂，搜R082或者搜to_char，规则说明和修复建议都在。每条规则还标注了规范出处，行内开发规范或者TDSQL原厂适配方案的章节，有据可查。</a:t>
            </a:r>
          </a:p>
          <a:p>
            <a:r>
              <a:t>特别提示：正在做Oracle迁移的团队，那42条金色规则务必通读一遍，都是原厂踩过的坑。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第三个场景涉及团队管理：项目与质量门禁。</a:t>
            </a:r>
          </a:p>
          <a:p>
            <a:r>
              <a:t>逻辑是这样的：管理员或DBA在"项目管理"里为每个团队或系统建项目，项目绑定两样东西——规则集和门禁。开发审核的时候选中自己的项目，审核就自动套用项目的标准，结果里会多一行"门禁：通过或阻断"。阻断的SQL，不允许投产，就这么简单。</a:t>
            </a:r>
          </a:p>
          <a:p>
            <a:r>
              <a:t>门禁标准怎么定：有预设的strict严格策略——零ERROR容忍，生产投产用；loose宽松策略给开发调试用；也可以自定义ERROR和WARNING的数量上限。</a:t>
            </a:r>
          </a:p>
          <a:p>
            <a:r>
              <a:t>旁边的规则集解决另一个问题：某条规则对你的项目不适用怎么办？DBA可以按项目禁用或降级单条规则，不用改代码，也不影响其他项目。</a:t>
            </a:r>
          </a:p>
          <a:p>
            <a:r>
              <a:t>管理上我的建议：生产投产项目一律绑strict门禁，把"门禁通过"作为投产SQL的准入条件。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第三部分，慢SQL治理篇，DBA同事的主战场。关键词是四个：主动发现、分析定位、跟踪闭环、定时自动化。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先讲扫描，这是把慢SQL治理从"等投诉"变成"主动查"的关键。</a:t>
            </a:r>
          </a:p>
          <a:p>
            <a:r>
              <a:t>操作三步：先在顶栏选中目标实例；然后"扫描任务、新建扫描"，选数据源、时间窗口和耗时阈值；扫描完成后结果自动入库，点"查看慢SQL"直达这一批记录。</a:t>
            </a:r>
          </a:p>
          <a:p>
            <a:r>
              <a:t>数据源有两种：推荐用digest性能摘要，取的是Proxy层的聚合数据，按SQL指纹归并，适合看全局分布；另一种是processlist实时快照，对正在执行的语句做多轮采样，适合抓"此刻正在慢"的语句。</a:t>
            </a:r>
          </a:p>
          <a:p>
            <a:r>
              <a:t>有同事可能问为什么不用慢日志——TDSQL分布式实例的mysql.slow_log由Proxy管理、拿不到，所以用这两种方式，这也是这个工具"懂TDSQL"的体现。放心，扫描有并发限流保护，不会压垮目标库。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扫出来之后，关键是处置闭环——每一条慢SQL都要有下落。</a:t>
            </a:r>
          </a:p>
          <a:p>
            <a:r>
              <a:t>四步：第一，筛选定位，按库名、SET、级别、状态过滤，红色CRITICAL置顶处理；第二，点进详情，除了指纹、耗时、扫描行数，系统自动给出六维分析——问题类型、证据、根因、优化建议，比如缺索引、全表扫描、隐式转换；第三，需要实锤就一键跳EXPLAIN看执行计划；第四，处理完标记状态——已优化或已忽略，需要派单或汇报就导出分析报告。</a:t>
            </a:r>
          </a:p>
          <a:p>
            <a:r>
              <a:t>状态流转就是治理台账："治理概览"首页实时统计待处理和已优化的数量，治理进展一目了然。</a:t>
            </a:r>
          </a:p>
          <a:p>
            <a:r>
              <a:t>管理口径建议：CRITICAL级三个工作日内闭环，WARNING纳入月度治理清单。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再讲两个提效的功能。</a:t>
            </a:r>
          </a:p>
          <a:p>
            <a:r>
              <a:t>左边，定时扫描计划——让系统替你值班。新建计划时选实例、执行时刻比如凌晨两点、抓取条数和阈值，启用即生效。之后每天自动扫描入库，DBA早上打开"慢SQL记录"就能看昨夜新增。建议核心业务库每库配一条每日计划，全行慢SQL从此有"日报"。</a:t>
            </a:r>
          </a:p>
          <a:p>
            <a:r>
              <a:t>右边，EXPLAIN执行计划分析。两种用法：SQL直连模式，粘贴SQL选实例，系统代跑EXPLAIN并自动解读，全表扫描、索引未命中这些直接标出来；拿不到实例权限的同事用JSON粘贴模式，把EXPLAIN输出贴进来照样分析。慢SQL详情页可以一键带着SQL跳转过来。</a:t>
            </a:r>
          </a:p>
          <a:p>
            <a:r>
              <a:t>到这里，慢SQL"发现、分析、处置、复盘"的闭环就完整了。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第四部分，实例与治理篇，主要面向DBA和管理员，讲四块：实例纳管、数据库体检、监控审计和系统管理。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实例管理是一切的地基——几百套TDSQL在这里一处纳管。</a:t>
            </a:r>
          </a:p>
          <a:p>
            <a:r>
              <a:t>三步：新建连接，填地址、账号、口令，标注是分布式还是集中式实例；先点"测试连接"，能看到版本号和延迟，通过了再保存；保存后这个实例就出现在顶栏切换器里，全系统的扫描、体检、EXPLAIN都跟着顶栏选中的实例走，常用的可以设为默认。</a:t>
            </a:r>
          </a:p>
          <a:p>
            <a:r>
              <a:t>三点须知：第一，目标实例只需要只读账号，SELECT加PROCESS加performance_schema读取权限就够，工具不改业务数据；第二，连接口令是加密入库的，任何界面不回显明文；第三，连接是池化管理的，支持数百实例并存。</a:t>
            </a:r>
          </a:p>
          <a:p>
            <a:r>
              <a:t>一个重要提醒：动手扫描、体检之前，先看一眼顶栏，确认选中的是正确的实例。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接着是给数据库做"年度体检"的两个功能。</a:t>
            </a:r>
          </a:p>
          <a:p>
            <a:r>
              <a:t>左边数据库体检：字符集一致性检查，能查出库、表、字段三级字符集不一致，以及跨表同名字段排序规则冲突——这是隐式转换和索引失效的常见根源，很多慢SQL的病根就在这；大表检查按容量行数扫出大表并分级；巡检管理可以建任务留档。</a:t>
            </a:r>
          </a:p>
          <a:p>
            <a:r>
              <a:t>右边大表治理：一键采集实例的大表清单入库，按L1一般、L2重点、L3特大三级分类，分区情况、分片键、容量行数一屏看全，为归档、分区、拆分决策提供依据。建议季度采集一次，L3特大表逐一定治理方案。</a:t>
            </a:r>
          </a:p>
          <a:p>
            <a:r>
              <a:t>典型场景：新实例接管评估、年度健康检查、容量治理专项。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这一页三块功能日常用得少，但很关键。</a:t>
            </a:r>
          </a:p>
          <a:p>
            <a:r>
              <a:t>监控告警，DBA用：配指标阈值规则，触发后顶栏铃铛亮红点，处理完点确认闭环；系统自身的运行指标还能对接行内Prometheus监控平台。</a:t>
            </a:r>
          </a:p>
          <a:p>
            <a:r>
              <a:t>操作审计，审计同事重点看：系统里谁在什么时间做了什么操作，包括来源IP，全部落审计日志，按人、按操作类型可以筛选追溯；配合审核历史和报告导出，完全满足合规检查的取证要求。</a:t>
            </a:r>
          </a:p>
          <a:p>
            <a:r>
              <a:t>系统管理，admin专属：用户管理建账号分角色、重置口令、解锁禁用；数据保留策略让慢SQL、审核历史、日志按设定天数自动清理，不用担心库越来越大；系统信息页一屏核对版本和安全开关。</a:t>
            </a:r>
          </a:p>
          <a:p>
            <a:r>
              <a:t>一句话：告警保运行、审计保合规、系统管理保秩序。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最后一部分，三件收尾的事：给Oracle迁移团队的专项提示、五个常见问题、以及一张文档地图。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这一页请正在做Oracle迁移的团队重点看——这些写法，工具会当场拦截。</a:t>
            </a:r>
          </a:p>
          <a:p>
            <a:r>
              <a:t>念几个最高频的：to_char要改成DATE_FORMAT；nvl改IFNULL；rownum改LIMIT；decode改CASE或IF；MERGE INTO改成INSERT ON DUPLICATE KEY UPDATE；加号外连接改成标准的LEFT JOIN。</a:t>
            </a:r>
          </a:p>
          <a:p>
            <a:r>
              <a:t>这只是42条迁移规则里最常见的6条，还有with as、窗口函数、游标、临时表的分布式限制，分片键六条军规等等。</a:t>
            </a:r>
          </a:p>
          <a:p>
            <a:r>
              <a:t>但是大家不用背——这正是工具的价值：写完丢进"即时审核"，有问题它当场指出来，而且给的是原厂文档对应的改写方案。原厂的规范文档，已经变成了每次提交都在执行的自动化防线。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五个常见问题，记下来可以少提工单。</a:t>
            </a:r>
          </a:p>
          <a:p>
            <a:r>
              <a:t>一，登录被锁：输错五次锁十五分钟，等一刻钟自动解锁，急的话找管理员解锁重置；二，觉得规则误报：别忍着，反馈给DBA，在规则集里为你的项目单独禁用或降级那条规则，不影响别人；三，实例连接失败：按顺序查网络通不通、账号口令对不对、账号有没有SELECT和PROCESS权限；四，扫描提示忙：那是并发保护在工作，稍后再试；五，报告去哪下：文件审核的"审核报告"页签，慢SQL详情页可以导单条分析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想学操作细节，按这张地图读文档。</a:t>
            </a:r>
          </a:p>
          <a:p>
            <a:r>
              <a:t>《用户使用手册》全员必读，各角色功能总览；《功能使用手册》最详细，逐功能逐步骤，包括GitLab集成配置，用到哪读哪；《发布说明》了解功能边界和已知限制；《部署手册》《运维手册》是运维和管理员的；最后特别推荐——系统内的"审核规则库"页面本身就是最好的文档，119条规则的说明和修复建议随手可查。</a:t>
            </a:r>
          </a:p>
          <a:p>
            <a:r>
              <a:t>全部文档随系统发布，上线后会同步挂到内网知识库。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简单小结今天的培训：开发的SQL先过审核，DBA的慢SQL有了管家，审计有迹可循，管理有据可依。</a:t>
            </a:r>
          </a:p>
          <a:p>
            <a:r>
              <a:t>对大家的要求就一句话：从下一条SQL开始，离手之前，先过审核。</a:t>
            </a:r>
          </a:p>
          <a:p>
            <a:r>
              <a:t>工具刚上线，使用中遇到任何问题、有任何改进建议，欢迎随时反馈给DBA团队——大家刚才在汇报里也看到了，这个工具的迭代速度很快，你们的每一条建议都可能在下个版本变成功能。</a:t>
            </a:r>
          </a:p>
          <a:p>
            <a:r>
              <a:t>今天的培训到此结束，感谢大家参与，欢迎马上上手体验。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A93C"/>
                </a:solidFill>
                <a:latin typeface="微软雅黑"/>
              </a:rPr>
              <a:t>信息科技部 · 系统使用培训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7373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TDSQL数据库SQL审核工具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8FC2EE"/>
                </a:solidFill>
                <a:latin typeface="微软雅黑"/>
              </a:rPr>
              <a:t>使用培训 · 主要功能 / 使用场景 / 使用方法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749039"/>
            <a:ext cx="73152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9867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适用版本：v1.0.2</a:t>
            </a:r>
            <a:r>
              <a:rPr sz="1400" b="0">
                <a:solidFill>
                  <a:srgbClr val="8FC2EE"/>
                </a:solidFill>
                <a:latin typeface="微软雅黑"/>
              </a:rPr>
              <a:t>    培训对象：开发 / DBA / 审计 / 管理岗全体同事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5 大功能域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19 个功能页面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3A93C"/>
                </a:solidFill>
                <a:latin typeface="微软雅黑"/>
              </a:rPr>
              <a:t>119 条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SQL审核规则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4 类角色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按岗取用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4504" y="4892040"/>
            <a:ext cx="2395728" cy="11430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1120" bIns="7112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13 份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配套文档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培训说明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这场培训，让你带走三样东西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11057839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883664"/>
            <a:ext cx="402336" cy="402336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709928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E2239"/>
                </a:solidFill>
                <a:latin typeface="微软雅黑"/>
              </a:rPr>
              <a:t>知道它能干什么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709928"/>
            <a:ext cx="6858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5 大功能域全景：SQL审核、慢SQL治理、实例与体检、平台治理、系统管理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4056"/>
            <a:ext cx="11057839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017520"/>
            <a:ext cx="402336" cy="402336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2843784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E2239"/>
                </a:solidFill>
                <a:latin typeface="微软雅黑"/>
              </a:rPr>
              <a:t>知道你该用哪些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843784"/>
            <a:ext cx="6858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按角色划定主战场：开发用审核、DBA用治理、审计用审计视图、管理员管配置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67912"/>
            <a:ext cx="11057839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151376"/>
            <a:ext cx="402336" cy="40233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397764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E2239"/>
                </a:solidFill>
                <a:latin typeface="微软雅黑"/>
              </a:rPr>
              <a:t>知道去哪学细节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977640"/>
            <a:ext cx="6858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今天只讲全面概化的用法；具体操作细节，会后按文档地图自学（最后一页）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38928"/>
            <a:ext cx="11057839" cy="960120"/>
          </a:xfrm>
          <a:prstGeom prst="roundRect">
            <a:avLst>
              <a:gd name="adj" fmla="val 1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7BD3"/>
                </a:solidFill>
                <a:latin typeface="微软雅黑"/>
              </a:rPr>
              <a:t>一句话定位：</a:t>
            </a:r>
            <a:r>
              <a:rPr sz="1400" b="1">
                <a:solidFill>
                  <a:srgbClr val="0E2239"/>
                </a:solidFill>
                <a:latin typeface="微软雅黑"/>
              </a:rPr>
              <a:t>它是全行 TDSQL 数据库的「SQL 质量门卫 + 慢SQL 管家」——SQL 上线前必须过它这一关，慢SQL 由它主动发现、跟踪到关闭。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系统一览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功能全景：5 大功能域 · 19 个页面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30552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0E2239"/>
                </a:solidFill>
                <a:latin typeface="微软雅黑"/>
              </a:rPr>
              <a:t>SQL 审核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即时审核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文件审核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审核规则库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2130552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4828032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开发主用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1554480"/>
            <a:ext cx="2130552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0E2239"/>
                </a:solidFill>
                <a:latin typeface="微软雅黑"/>
              </a:rPr>
              <a:t>慢SQL治理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扫描任务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慢SQL记录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扫描计划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EXPLAIN分析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8064" y="1554480"/>
            <a:ext cx="2130552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26664" y="4828032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DBA主用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554480"/>
            <a:ext cx="2130552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0E2239"/>
                </a:solidFill>
                <a:latin typeface="微软雅黑"/>
              </a:rPr>
              <a:t>实例与体检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实例管理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数据库体检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大表治理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2130552" cy="381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57800" y="4828032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DBA主用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554480"/>
            <a:ext cx="2130552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0E2239"/>
                </a:solidFill>
                <a:latin typeface="微软雅黑"/>
              </a:rPr>
              <a:t>平台治理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项目管理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规则集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质量门禁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监控告警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巡检管理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6" y="1554480"/>
            <a:ext cx="2130552" cy="38100"/>
          </a:xfrm>
          <a:prstGeom prst="rect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88936" y="4828032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DBA/管理员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1554480"/>
            <a:ext cx="2130552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0E2239"/>
                </a:solidFill>
                <a:latin typeface="微软雅黑"/>
              </a:rPr>
              <a:t>系统管理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用户管理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数据保留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操作审计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· 系统信息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91472" y="1554480"/>
            <a:ext cx="2130552" cy="38100"/>
          </a:xfrm>
          <a:prstGeom prst="rect">
            <a:avLst/>
          </a:prstGeom>
          <a:solidFill>
            <a:srgbClr val="1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20072" y="4828032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管理员/审计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623560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64778C"/>
                </a:solidFill>
                <a:latin typeface="微软雅黑"/>
              </a:rPr>
              <a:t>另有「治理概览」工作台首页：今日审核量、通过率、待处理慢SQL 等 KPI 与趋势图，登录即见。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快速上手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登录 · 界面布局 · 你的角色能用什么</a:t>
            </a:r>
          </a:p>
        </p:txBody>
      </p:sp>
      <p:sp>
        <p:nvSpPr>
          <p:cNvPr id="9" name="Oval 8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快速上手</a:t>
            </a:r>
          </a:p>
        </p:txBody>
      </p:sp>
      <p:sp>
        <p:nvSpPr>
          <p:cNvPr id="11" name="Oval 10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SQL审核篇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慢SQL治理篇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实例与治理篇</a:t>
            </a:r>
          </a:p>
        </p:txBody>
      </p:sp>
      <p:sp>
        <p:nvSpPr>
          <p:cNvPr id="17" name="Oval 16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答疑与文档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01 · 快速上手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第一次使用：三步进入系统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打开系统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浏览器访问系统地址（上线后另行公布），推荐 Chrome/Edge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1474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954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登录改密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账号由管理员分配；首次登录强制修改口令（≥8位、含三类字符）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804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8860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340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认识界面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顶栏选实例/项目，左侧按功能域分组导航，中间是工作区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08960"/>
            <a:ext cx="11057839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界面三要素（记住这三个位置，全系统就会用了）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① 顶栏切换器：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左侧下拉切「目标实例」——你操作的是哪套数据库全看它；旁边可选「项目」，审核会自动套用该项目的规则集与门禁。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② 左侧导航：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按 5 大功能域分组折叠，你的角色看不到的功能不会显示。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③ 右上角：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铃铛显示活跃告警数；头像菜单里修改口令、退出登录。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32120"/>
            <a:ext cx="11057839" cy="640080"/>
          </a:xfrm>
          <a:prstGeom prst="roundRect">
            <a:avLst>
              <a:gd name="adj" fmla="val 12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安全提示：连续输错口令 5 次锁定 15 分钟；忘记口令找管理员重置，不要互借账号——所有操作都有审计记录。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01 · 快速上手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你是什么角色，就用什么功能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4864" cy="5080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64208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developer 开发人员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664208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SQL 即时审核 / 文件审核 / 规则库查阅 / EXPLAIN 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9448" y="1664208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慢SQL、实例等为只读或不可见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06624"/>
            <a:ext cx="54864" cy="5080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98064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dba 数据库管理员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2798064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慢SQL全流程 / 实例管理 / 体检治理 / 规则集与门禁配置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798064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除用户管理外几乎全功能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40480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840480"/>
            <a:ext cx="54864" cy="508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931920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auditor 审计员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3931920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治理概览 / 审核历史 / 操作审计日志 / 报告导出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93192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全局只读，专注合规追溯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74336"/>
            <a:ext cx="11057839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974336"/>
            <a:ext cx="54864" cy="508000"/>
          </a:xfrm>
          <a:prstGeom prst="rect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065776"/>
            <a:ext cx="3017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admin 系统管理员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5065776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用户与角色管理 / 数据保留 / 系统信息 / 全部功能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5065776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全行只设 1–2 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12648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78C"/>
                </a:solidFill>
                <a:latin typeface="微软雅黑"/>
              </a:rPr>
              <a:t>接下来按角色主线讲场景：开发同事重点听第 2 篇，DBA 重点听第 3、4 篇，审计与管理岗重点听第 4 篇结尾。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SQL 审核篇（开发主战场）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上线前把住质量关：即时审核 · 文件审核 · 规则库 · 门禁</a:t>
            </a:r>
          </a:p>
        </p:txBody>
      </p:sp>
      <p:sp>
        <p:nvSpPr>
          <p:cNvPr id="9" name="Oval 8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快速上手</a:t>
            </a:r>
          </a:p>
        </p:txBody>
      </p:sp>
      <p:sp>
        <p:nvSpPr>
          <p:cNvPr id="11" name="Oval 10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SQL审核篇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慢SQL治理篇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实例与治理篇</a:t>
            </a:r>
          </a:p>
        </p:txBody>
      </p:sp>
      <p:sp>
        <p:nvSpPr>
          <p:cNvPr id="17" name="Oval 16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答疑与文档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SQL审核篇 · 场景一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即时审核：SQL 上线前的 3 秒自查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粘贴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「SQL审核 → 即时审核」粘贴语句，可选绑定项目、开元数据增强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1474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954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点击审核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或直接 Ctrl+Enter，3 秒内出结果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804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8860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340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按建议改写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逐条违规带规则号、级别与修复建议，改完再审直到通过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063240"/>
            <a:ext cx="672084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结果怎么看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CE544E"/>
                </a:solidFill>
                <a:latin typeface="微软雅黑"/>
              </a:rPr>
              <a:t>ERROR（红）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：必须改，TDSQL 会报错或有生产风险；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WARNING（黄）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：强烈建议改，存在语义差异或性能隐患；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INFO（蓝）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：提示级注意事项。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每条违规下方的「建议」直接给出改写方案，照着改即可。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063240"/>
            <a:ext cx="4114800" cy="2331720"/>
          </a:xfrm>
          <a:prstGeom prst="roundRect">
            <a:avLst>
              <a:gd name="adj" fmla="val 7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E3A93C"/>
                </a:solidFill>
                <a:latin typeface="微软雅黑"/>
              </a:rPr>
              <a:t>使用场景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写完 SQL 提测前自查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投产变更单里的 SQL 预检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Oracle 迁移语句改写验证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拿不准的写法快速求证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96128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养成习惯：SQL 离手前先过一遍审核——3 秒钟，换生产环境一夜安稳。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SQL审核篇 · 场景二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文件批量审核：整包脚本一次过检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上传文件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「文件审核」页拖入 .sql 脚本或 MyBatis .xml 映射文件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1474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954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自动逐条审核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系统拆分文件内全部 SQL 逐条过 119 条规则，汇总通过率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804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8860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340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下载报告留痕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「审核报告」页签查历史、下载 HTML 报告，可附投产材料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063240"/>
            <a:ext cx="672084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支持的文件与结果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.sql 脚本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：按分号拆分逐条审核，注释自动跳过；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MyBatis .xml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：自动抽取 select/insert/update/delete 标签内 SQL，动态标签(#{}/if/foreach)自动处理；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0">
                <a:solidFill>
                  <a:srgbClr val="64778C"/>
                </a:solidFill>
                <a:latin typeface="微软雅黑"/>
              </a:rPr>
              <a:t>结果页给出 SQL 总数、通过/未通过、通过率，逐条可展开看违规明细。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063240"/>
            <a:ext cx="4114800" cy="2331720"/>
          </a:xfrm>
          <a:prstGeom prst="roundRect">
            <a:avLst>
              <a:gd name="adj" fmla="val 7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E3A93C"/>
                </a:solidFill>
                <a:latin typeface="微软雅黑"/>
              </a:rPr>
              <a:t>使用场景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投产变更 SQL 脚本包预检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工程代码 MyBatis 全量体检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Oracle 迁移脚本批量扫描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C2B3A"/>
                </a:solidFill>
                <a:latin typeface="微软雅黑"/>
              </a:rPr>
              <a:t>· 审核报告随变更单归档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96128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另有 GitLab 集成：合并请求可自动触发审核（Webhook），配置方法见《功能使用手册》GitLab 章节。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SQL审核篇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审核规则库：119 条规则，9 大分类，每条都讲道理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5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命名规范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5940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22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DDL规范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9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DML规范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964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10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索引规范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14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分布式规范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1988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8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安全规范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5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性能规范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0012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B7BD3"/>
                </a:solidFill>
                <a:latin typeface="微软雅黑"/>
              </a:rPr>
              <a:t>4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1C2B3A"/>
                </a:solidFill>
                <a:latin typeface="微软雅黑"/>
              </a:rPr>
              <a:t>事务规范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9024" y="1572768"/>
            <a:ext cx="1179576" cy="1143000"/>
          </a:xfrm>
          <a:prstGeom prst="roundRect">
            <a:avLst>
              <a:gd name="adj" fmla="val 10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44450" bIns="4445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3A93C"/>
                </a:solidFill>
                <a:latin typeface="微软雅黑"/>
              </a:rPr>
              <a:t>42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Oracle迁移兼容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17520"/>
            <a:ext cx="110578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怎么用规则库（「SQL审核 → 审核规则库」）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按分类浏览：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九个分类折叠展示，点开即见每条规则的编号、级别、说明；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关键字搜索：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审核报了 R082 看不懂？搜索规则号或关键词（如 to_char），看规则说明与修复建议；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规范出处可溯：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每条规则标注依据（行内开发规范 / TDSQL 原厂适配方案章节），有据可查、有理可讲。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59552"/>
            <a:ext cx="11057839" cy="640080"/>
          </a:xfrm>
          <a:prstGeom prst="roundRect">
            <a:avLst>
              <a:gd name="adj" fmla="val 12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重点：金色的 Oracle迁移兼容 42 条，正在做 Oracle→TDSQL 迁移的团队务必通读一遍——都是原厂踩过的坑。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02 · SQL审核篇 · 场景三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项目与质量门禁：给团队定「过关标准」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管理员建项目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「平台治理 → 项目管理」为团队/系统建项目，绑定规则集与门禁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1474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954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审核时选项目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开发在顶栏或审核页选中项目，审核自动套用项目标准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804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8860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340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门禁裁决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结果带「门禁：通过/阻断」——阻断的 SQL 不允许投产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063240"/>
            <a:ext cx="539496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门禁规则怎么定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预设策略：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strict（零 ERROR 容忍，生产投产用）/ loose（宽松，开发调试用）一键套用；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自定义阈值：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最大 ERROR 数 / 最大 WARNING 数按项目自定。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06324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规则集：按项目定制规则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场景：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某条规则对你的项目不适用/误报？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做法：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DBA 在「规则集」为项目定制——单条规则可禁用或调级（如开发环境把 SELECT* 降为 INFO），不用改代码、不影响其他项目。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96128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管理建议：生产投产项目一律绑 strict 门禁，把「门禁通过」作为投产 SQL 的准入条件。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慢SQL治理篇（DBA 主战场）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主动发现 · 分析定位 · 跟踪闭环 · 定时自动化</a:t>
            </a:r>
          </a:p>
        </p:txBody>
      </p:sp>
      <p:sp>
        <p:nvSpPr>
          <p:cNvPr id="9" name="Oval 8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快速上手</a:t>
            </a:r>
          </a:p>
        </p:txBody>
      </p:sp>
      <p:sp>
        <p:nvSpPr>
          <p:cNvPr id="11" name="Oval 10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SQL审核篇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慢SQL治理篇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实例与治理篇</a:t>
            </a:r>
          </a:p>
        </p:txBody>
      </p:sp>
      <p:sp>
        <p:nvSpPr>
          <p:cNvPr id="17" name="Oval 16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答疑与文档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慢SQL治理 · 场景四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慢SQL扫描：从「等投诉」到「主动查」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顶栏选实例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先在顶栏实例切换器选中目标 TDSQL 实例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1474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954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新建扫描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「扫描任务 → +新建扫描」选数据源、时间窗口、耗时阈值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804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8860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340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查看结果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扫描完成自动入库，「查看慢SQL」直达该批记录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063240"/>
            <a:ext cx="11057839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两种数据源，按需选择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digest 性能摘要（推荐）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：取 Proxy 层 performance_schema 聚合数据，按 SQL 指纹归并，看全局慢 SQL 分布；需填时间窗口作为任务标记；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processlist 实时快照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：对当前正在执行的语句做多轮轮询采样，抓「此刻正在慢」的 SQL，可设轮询时长与间隔；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E3A93C"/>
                </a:solidFill>
                <a:latin typeface="微软雅黑"/>
              </a:rPr>
              <a:t>说明：</a:t>
            </a:r>
            <a:r>
              <a:rPr sz="1200" b="0">
                <a:solidFill>
                  <a:srgbClr val="1C2B3A"/>
                </a:solidFill>
                <a:latin typeface="微软雅黑"/>
              </a:rPr>
              <a:t>TDSQL 分布式实例的 mysql.slow_log 由 Proxy 管理不可用，所以用以上两种方式；扫描有并发限流保护，不会压垮目标库。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96128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使用场景：版本投产后回查、性能投诉定位、月度例行巡检、迁移后新老对比。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慢SQL治理 · 场景五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慢SQL处置闭环：每一条都要有下落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55871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1918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筛选定位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2229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按库名/SET/级别/状态/关键词过滤，CRITICAL 红色置顶处理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9071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554480"/>
            <a:ext cx="255871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7127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8607" y="1645920"/>
            <a:ext cx="1918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看详情分析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4559" y="2066544"/>
            <a:ext cx="2229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点行进详情：指纹、耗时、扫描行数 + 六维自动分析与建议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2111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554480"/>
            <a:ext cx="255871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0167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1645920"/>
            <a:ext cx="1918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EXPLAIN 佐证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2066544"/>
            <a:ext cx="2229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一键跳转 EXPLAIN 分析，拿执行计划实锤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5151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6047" y="1554480"/>
            <a:ext cx="255871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03207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4687" y="1645920"/>
            <a:ext cx="1918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标记闭环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639" y="2066544"/>
            <a:ext cx="2229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处理后标记「已优化/已忽略」，可导出报告归档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063240"/>
            <a:ext cx="11057839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状态流转就是台账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待处理 → 已优化 / 已忽略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：每条慢SQL 的处置状态全程留痕，「治理概览」的 KPI 卡实时统计待处理与已优化数量——治理进展一目了然；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六维分析：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系统自动给出问题类型、证据、根因与优化建议（如缺索引、全表扫描、隐式转换等），DBA 复核后按建议处置；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导出报告：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单条慢SQL 可导出分析报告，用于向开发团队派单或向上汇报。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59552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管理口径建议：CRITICAL 三个工作日内闭环，WARNING 纳入月度治理清单。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03 · 慢SQL治理 · 场景六/七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定时扫描计划 与 EXPLAIN 执行计划分析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9496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2B7BD3"/>
                </a:solidFill>
                <a:latin typeface="微软雅黑"/>
              </a:rPr>
              <a:t>定时扫描计划：让系统替你值班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配置：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「扫描计划 → +新建计划」选实例、执行时刻（如凌晨 2 点）、抓取条数与耗时阈值，启用即生效；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效果：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每天定时自动扫描入库，DBA 上班打开「慢SQL记录」就能看昨夜新增；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建议：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核心业务库每库一条每日计划，全行慢SQL 从此有「日报」。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4960" cy="38100"/>
          </a:xfrm>
          <a:prstGeom prst="rect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0488" y="1572768"/>
            <a:ext cx="544068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E3A93C"/>
                </a:solidFill>
                <a:latin typeface="微软雅黑"/>
              </a:rPr>
              <a:t>EXPLAIN 分析：执行计划一键解读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SQL 直连模式：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粘贴 SQL、选实例，系统代跑 EXPLAIN 并解读结果（全表扫描、索引未命中等自动标注）；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JSON 粘贴模式：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拿不到实例权限时，把 EXPLAIN 输出粘进来照样分析；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入口：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慢SQL详情页可一键带 SQL 跳转过来。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572768"/>
            <a:ext cx="544068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78C"/>
                </a:solidFill>
                <a:latin typeface="微软雅黑"/>
              </a:rPr>
              <a:t>这两个功能配合扫描与处置，构成慢SQL「发现—分析—处置—复盘」的完整闭环。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实例与治理篇（DBA / 管理员）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实例纳管 · 数据库体检 · 监控审计 · 系统管理</a:t>
            </a:r>
          </a:p>
        </p:txBody>
      </p:sp>
      <p:sp>
        <p:nvSpPr>
          <p:cNvPr id="9" name="Oval 8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快速上手</a:t>
            </a:r>
          </a:p>
        </p:txBody>
      </p:sp>
      <p:sp>
        <p:nvSpPr>
          <p:cNvPr id="11" name="Oval 10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SQL审核篇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慢SQL治理篇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实例与治理篇</a:t>
            </a:r>
          </a:p>
        </p:txBody>
      </p:sp>
      <p:sp>
        <p:nvSpPr>
          <p:cNvPr id="17" name="Oval 16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答疑与文档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实例与治理 · 场景八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实例管理：几百套 TDSQL 一处纳管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录入连接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「实例管理 → +新建连接」填地址/账号/口令，标注分布式或集中式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1474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954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测试连接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先「测试连接」看版本与延迟，通过再保存（口令加密存储）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804" y="19385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BD3"/>
                </a:solidFill>
                <a:latin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1554480"/>
            <a:ext cx="3503066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8860" y="1691640"/>
            <a:ext cx="329184" cy="329184"/>
          </a:xfrm>
          <a:prstGeom prst="ellipse">
            <a:avLst/>
          </a:prstGeom>
          <a:solidFill>
            <a:srgbClr val="2B7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0340" y="1645920"/>
            <a:ext cx="286298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顶栏随切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066544"/>
            <a:ext cx="317388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78C"/>
                </a:solidFill>
                <a:latin typeface="微软雅黑"/>
              </a:rPr>
              <a:t>保存后出现在顶栏切换器，全系统操作跟着实例走；可设默认实例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08960"/>
            <a:ext cx="11057839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0E2239"/>
                </a:solidFill>
                <a:latin typeface="微软雅黑"/>
              </a:rPr>
              <a:t>纳管须知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账号权限：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目标实例只需只读账号（SELECT + PROCESS + performance_schema 读取），不需要写权限——工具不改业务数据；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口令安全：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连接口令 AES 加密入库，界面与接口均不回显明文；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B7BD3"/>
                </a:solidFill>
                <a:latin typeface="微软雅黑"/>
              </a:rPr>
              <a:t>规模能力：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连接池化管理，支持数百实例并存纳管，空闲自动回收。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32120"/>
            <a:ext cx="11057839" cy="603504"/>
          </a:xfrm>
          <a:prstGeom prst="roundRect">
            <a:avLst>
              <a:gd name="adj" fmla="val 12000"/>
            </a:avLst>
          </a:prstGeom>
          <a:solidFill>
            <a:srgbClr val="FB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提醒：开展扫描/体检/EXPLAIN 前，记得先看顶栏——确认你选中的是正确的实例。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实例与治理 · 场景九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数据库体检 与 大表治理：给库做「年度体检」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9496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2E9E6B"/>
                </a:solidFill>
                <a:latin typeface="微软雅黑"/>
              </a:rPr>
              <a:t>数据库体检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字符集一致性：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检出库/表/字段三级字符集不一致、跨表同名字段排序规则冲突——这是隐式转换与索引失效的常见根源；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大表检查：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按容量/行数扫出大表并分级；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巡检管理：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可建巡检任务留档，结果集中查看。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4960" cy="381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0488" y="1572768"/>
            <a:ext cx="544068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4459" bIns="124459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CE544E"/>
                </a:solidFill>
                <a:latin typeface="微软雅黑"/>
              </a:rPr>
              <a:t>大表治理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采集清单：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一键采集实例大表清单入库，L1 一般 / L2 重点 / L3 特大三级分类；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0E2239"/>
                </a:solidFill>
                <a:latin typeface="微软雅黑"/>
              </a:rPr>
              <a:t>治理依据：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分区情况、分片键、容量行数一屏看全，指导归档/分区/拆分决策；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E3A93C"/>
                </a:solidFill>
                <a:latin typeface="微软雅黑"/>
              </a:rPr>
              <a:t>使用建议：</a:t>
            </a:r>
            <a:r>
              <a:rPr sz="1250" b="0">
                <a:solidFill>
                  <a:srgbClr val="1C2B3A"/>
                </a:solidFill>
                <a:latin typeface="微软雅黑"/>
              </a:rPr>
              <a:t>季度采集一次，L3 特大表逐一定治理方案。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572768"/>
            <a:ext cx="5440680" cy="38100"/>
          </a:xfrm>
          <a:prstGeom prst="rect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78C"/>
                </a:solidFill>
                <a:latin typeface="微软雅黑"/>
              </a:rPr>
              <a:t>使用场景：新实例接管评估、年度健康检查、容量治理专项。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04 · 实例与治理 · 场景十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监控告警 · 操作审计 · 系统管理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661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rIns="165100" tIns="115570" bIns="115570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监控告警（DBA）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「监控告警」配指标阈值规则，触发后顶栏铃铛亮红点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告警处理后点「确认」闭环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系统自身指标可对接行内 Prometheus 监控平台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356616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6824" y="1572768"/>
            <a:ext cx="35661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rIns="165100" tIns="115570" bIns="115570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操作审计（审计员）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谁在何时做了什么，全部落审计日志（含 IP）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「操作审计」页按人/类型筛选追溯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审核历史、报告导出满足合规检查取证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572768"/>
            <a:ext cx="3566160" cy="381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572768"/>
            <a:ext cx="35661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rIns="165100" tIns="115570" bIns="115570"/>
          <a:lstStyle/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1">
                <a:solidFill>
                  <a:srgbClr val="0E2239"/>
                </a:solidFill>
                <a:latin typeface="微软雅黑"/>
              </a:rPr>
              <a:t>系统管理（admin）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用户管理：建账号、分角色、重置口令、解锁禁用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数据保留：慢SQL/审核历史/日志按天数自动清理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1C2B3A"/>
                </a:solidFill>
                <a:latin typeface="微软雅黑"/>
              </a:rPr>
              <a:t>· 系统信息：版本与安全开关状态一屏核对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72768"/>
            <a:ext cx="3566160" cy="38100"/>
          </a:xfrm>
          <a:prstGeom prst="rect">
            <a:avLst/>
          </a:prstGeom>
          <a:solidFill>
            <a:srgbClr val="CE5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78C"/>
                </a:solidFill>
                <a:latin typeface="微软雅黑"/>
              </a:rPr>
              <a:t>这三块日常用得少但很关键：告警保运行、审计保合规、系统管理保秩序。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D416B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Oracle 迁移专项 · FAQ · 文档地图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913632"/>
            <a:ext cx="594360" cy="4445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FC2EE"/>
                </a:solidFill>
                <a:latin typeface="微软雅黑"/>
              </a:rPr>
              <a:t>最后三件事：迁移团队重点提示、常见问题、去哪学细节</a:t>
            </a:r>
          </a:p>
        </p:txBody>
      </p:sp>
      <p:sp>
        <p:nvSpPr>
          <p:cNvPr id="9" name="Oval 8"/>
          <p:cNvSpPr/>
          <p:nvPr/>
        </p:nvSpPr>
        <p:spPr>
          <a:xfrm>
            <a:off x="630936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快速上手</a:t>
            </a:r>
          </a:p>
        </p:txBody>
      </p:sp>
      <p:sp>
        <p:nvSpPr>
          <p:cNvPr id="11" name="Oval 10"/>
          <p:cNvSpPr/>
          <p:nvPr/>
        </p:nvSpPr>
        <p:spPr>
          <a:xfrm>
            <a:off x="2112264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SQL审核篇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2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慢SQL治理篇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5577840"/>
            <a:ext cx="128016" cy="128016"/>
          </a:xfrm>
          <a:prstGeom prst="ellipse">
            <a:avLst/>
          </a:prstGeom>
          <a:solidFill>
            <a:srgbClr val="2A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793"/>
                </a:solidFill>
                <a:latin typeface="微软雅黑"/>
              </a:rPr>
              <a:t>实例与治理篇</a:t>
            </a:r>
          </a:p>
        </p:txBody>
      </p:sp>
      <p:sp>
        <p:nvSpPr>
          <p:cNvPr id="17" name="Oval 16"/>
          <p:cNvSpPr/>
          <p:nvPr/>
        </p:nvSpPr>
        <p:spPr>
          <a:xfrm>
            <a:off x="6556248" y="5577840"/>
            <a:ext cx="128016" cy="128016"/>
          </a:xfrm>
          <a:prstGeom prst="ellipse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A93C"/>
                </a:solidFill>
                <a:latin typeface="微软雅黑"/>
              </a:rPr>
              <a:t>答疑与文档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05 · 专项提示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Oracle 迁移团队请重点记住：这些写法工具会当场拦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2514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to_char(dt,'YYYYMMDD')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66420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78C"/>
                </a:solidFill>
                <a:latin typeface="微软雅黑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1627632"/>
            <a:ext cx="2194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DATE_FORMAT(dt,'%Y%m%d')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5448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27632"/>
            <a:ext cx="2514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nvl(a, 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166420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78C"/>
                </a:solidFill>
                <a:latin typeface="微软雅黑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9176" y="1627632"/>
            <a:ext cx="2194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IFNULL(a, 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5059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523744"/>
            <a:ext cx="2514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rownum &lt;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5603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78C"/>
                </a:solidFill>
                <a:latin typeface="微软雅黑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523744"/>
            <a:ext cx="2194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LIMIT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45059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523744"/>
            <a:ext cx="2514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decode(c,1,'A','B')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5603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78C"/>
                </a:solidFill>
                <a:latin typeface="微软雅黑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523744"/>
            <a:ext cx="2194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CASE / IF()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4670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419856"/>
            <a:ext cx="2514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MERGE INTO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4564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78C"/>
                </a:solidFill>
                <a:latin typeface="微软雅黑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3419856"/>
            <a:ext cx="2194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INSERT … ON DUPLICATE KEY UPDATE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334670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419856"/>
            <a:ext cx="2514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544E"/>
                </a:solidFill>
                <a:latin typeface="微软雅黑"/>
              </a:rPr>
              <a:t>a.id = b.id(+)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34564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78C"/>
                </a:solidFill>
                <a:latin typeface="微软雅黑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419856"/>
            <a:ext cx="21945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LEFT JOIN b ON a.id=b.id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34840"/>
            <a:ext cx="11057839" cy="1600200"/>
          </a:xfrm>
          <a:prstGeom prst="roundRect">
            <a:avLst>
              <a:gd name="adj" fmla="val 8000"/>
            </a:avLst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42240" bIns="14224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这只是 42 条 Oracle 迁移兼容规则里最高频的 6 条。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8FC2EE"/>
                </a:solidFill>
                <a:latin typeface="微软雅黑"/>
              </a:rPr>
              <a:t>不用背——</a:t>
            </a:r>
            <a:r>
              <a:rPr sz="1400" b="1">
                <a:solidFill>
                  <a:srgbClr val="E3A93C"/>
                </a:solidFill>
                <a:latin typeface="微软雅黑"/>
              </a:rPr>
              <a:t>写完丢进「即时审核」，工具会当场指出问题并给出原厂改写方案。</a:t>
            </a:r>
          </a:p>
          <a:p>
            <a:pPr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8FC2EE"/>
                </a:solidFill>
                <a:latin typeface="微软雅黑"/>
              </a:rPr>
              <a:t>还包括：with as / 窗口函数 / 游标 / 临时表的分布式限制、分片键六条军规、substr 起始位、length 语义差异等。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05 · 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FAQ：这五个问题不用提工单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3017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Q. </a:t>
            </a:r>
            <a:r>
              <a:rPr sz="1300" b="1">
                <a:solidFill>
                  <a:srgbClr val="0E2239"/>
                </a:solidFill>
                <a:latin typeface="微软雅黑"/>
              </a:rPr>
              <a:t>登录被锁定了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645920"/>
            <a:ext cx="7498079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A. </a:t>
            </a:r>
            <a:r>
              <a:rPr sz="1150" b="0">
                <a:solidFill>
                  <a:srgbClr val="1C2B3A"/>
                </a:solidFill>
                <a:latin typeface="微软雅黑"/>
              </a:rPr>
              <a:t>输错 5 次锁 15 分钟：等一刻钟自动解锁，或找管理员在「用户管理」里解锁/重置口令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3017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Q. </a:t>
            </a:r>
            <a:r>
              <a:rPr sz="1300" b="1">
                <a:solidFill>
                  <a:srgbClr val="0E2239"/>
                </a:solidFill>
                <a:latin typeface="微软雅黑"/>
              </a:rPr>
              <a:t>我觉得某条规则误报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560320"/>
            <a:ext cx="7498079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A. </a:t>
            </a:r>
            <a:r>
              <a:rPr sz="1150" b="0">
                <a:solidFill>
                  <a:srgbClr val="1C2B3A"/>
                </a:solidFill>
                <a:latin typeface="微软雅黑"/>
              </a:rPr>
              <a:t>别忍着：反馈给 DBA，在「规则集」为你的项目单独禁用或降级该规则，不影响别人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3017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Q. </a:t>
            </a:r>
            <a:r>
              <a:rPr sz="1300" b="1">
                <a:solidFill>
                  <a:srgbClr val="0E2239"/>
                </a:solidFill>
                <a:latin typeface="微软雅黑"/>
              </a:rPr>
              <a:t>实例连接测试失败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3474720"/>
            <a:ext cx="7498079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A. </a:t>
            </a:r>
            <a:r>
              <a:rPr sz="1150" b="0">
                <a:solidFill>
                  <a:srgbClr val="1C2B3A"/>
                </a:solidFill>
                <a:latin typeface="微软雅黑"/>
              </a:rPr>
              <a:t>按序排查：网络能否到达实例端口 → 账号口令是否正确 → 账号是否有 SELECT/PROCESS 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3017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Q. </a:t>
            </a:r>
            <a:r>
              <a:rPr sz="1300" b="1">
                <a:solidFill>
                  <a:srgbClr val="0E2239"/>
                </a:solidFill>
                <a:latin typeface="微软雅黑"/>
              </a:rPr>
              <a:t>扫描提示忙/被限流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4389120"/>
            <a:ext cx="7498079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A. </a:t>
            </a:r>
            <a:r>
              <a:rPr sz="1150" b="0">
                <a:solidFill>
                  <a:srgbClr val="1C2B3A"/>
                </a:solidFill>
                <a:latin typeface="微软雅黑"/>
              </a:rPr>
              <a:t>并发保护机制在工作，稍后再试；确有需要请管理员调大并发限额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1208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30175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7BD3"/>
                </a:solidFill>
                <a:latin typeface="微软雅黑"/>
              </a:rPr>
              <a:t>Q. </a:t>
            </a:r>
            <a:r>
              <a:rPr sz="1300" b="1">
                <a:solidFill>
                  <a:srgbClr val="0E2239"/>
                </a:solidFill>
                <a:latin typeface="微软雅黑"/>
              </a:rPr>
              <a:t>审核报告在哪里下载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5303520"/>
            <a:ext cx="7498079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9E6B"/>
                </a:solidFill>
                <a:latin typeface="微软雅黑"/>
              </a:rPr>
              <a:t>A. </a:t>
            </a:r>
            <a:r>
              <a:rPr sz="1150" b="0">
                <a:solidFill>
                  <a:srgbClr val="1C2B3A"/>
                </a:solidFill>
                <a:latin typeface="微软雅黑"/>
              </a:rPr>
              <a:t>文件审核 →「审核报告」页签查历史并下载 HTML；慢SQL 详情页可导出单条分析报告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B7BD3"/>
                </a:solidFill>
                <a:latin typeface="微软雅黑"/>
              </a:rPr>
              <a:t>05 · 文档地图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239"/>
                </a:solidFill>
                <a:latin typeface="微软雅黑"/>
              </a:rPr>
              <a:t>想学细节：按这张地图去读文档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502920" cy="38100"/>
          </a:xfrm>
          <a:prstGeom prst="rect">
            <a:avLst/>
          </a:prstGeom>
          <a:solidFill>
            <a:srgbClr val="E3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78C"/>
                </a:solidFill>
                <a:latin typeface="微软雅黑"/>
              </a:rPr>
              <a:t>TDSQL数据库SQL审核工具 v1.0.2 · 使用培训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78C"/>
                </a:solidFill>
                <a:latin typeface="微软雅黑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11057839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55064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《用户使用手册》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655064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各角色功能操作总览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2408" y="173736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全员必读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50592"/>
            <a:ext cx="11057839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32888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《功能使用手册》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532888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逐功能逐步骤的详细操作说明（含 GitLab 集成配置）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22408" y="2615184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BD3"/>
                </a:solidFill>
                <a:latin typeface="微软雅黑"/>
              </a:rPr>
              <a:t>用到哪读哪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28416"/>
            <a:ext cx="11057839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410712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《发布说明 v1.0.2》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3410712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功能全景、已知限制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349300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3A93C"/>
                </a:solidFill>
                <a:latin typeface="微软雅黑"/>
              </a:rPr>
              <a:t>了解边界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6240"/>
            <a:ext cx="11057839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288536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《部署手册》《运维手册》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4288536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安装部署、日常运维、故障处置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22408" y="4370832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9E6B"/>
                </a:solidFill>
                <a:latin typeface="微软雅黑"/>
              </a:rPr>
              <a:t>运维/管理员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84064"/>
            <a:ext cx="11057839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166360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2239"/>
                </a:solidFill>
                <a:latin typeface="微软雅黑"/>
              </a:rPr>
              <a:t>系统内「审核规则库」页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516636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A"/>
                </a:solidFill>
                <a:latin typeface="微软雅黑"/>
              </a:rPr>
              <a:t>119 条规则的说明与修复建议，就在系统里、随手可查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5248656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E4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E544E"/>
                </a:solidFill>
                <a:latin typeface="微软雅黑"/>
              </a:rPr>
              <a:t>开发常备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03504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78C"/>
                </a:solidFill>
                <a:latin typeface="微软雅黑"/>
              </a:rPr>
              <a:t>全部文档随系统发布在项目文档库（docs/ 目录），上线后同步挂内网知识库。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377440"/>
            <a:ext cx="5852160" cy="5852160"/>
          </a:xfrm>
          <a:prstGeom prst="ellipse">
            <a:avLst/>
          </a:prstGeom>
          <a:solidFill>
            <a:srgbClr val="12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noFill/>
          <a:ln w="15240">
            <a:solidFill>
              <a:srgbClr val="1B4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A93C"/>
                </a:solidFill>
                <a:latin typeface="微软雅黑"/>
              </a:rPr>
              <a:t>培训小结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开发的 SQL 先过审核，DBA 的慢SQL 有了管家，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审计有迹可循，管理有据可依。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4114800"/>
            <a:ext cx="7680960" cy="914400"/>
          </a:xfrm>
          <a:prstGeom prst="roundRect">
            <a:avLst>
              <a:gd name="adj" fmla="val 12000"/>
            </a:avLst>
          </a:prstGeom>
          <a:solidFill>
            <a:srgbClr val="13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88900" bIns="8890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3A93C"/>
                </a:solidFill>
                <a:latin typeface="微软雅黑"/>
              </a:rPr>
              <a:t>从下一条 SQL 开始：离手之前，先过审核。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349240"/>
            <a:ext cx="11057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/>
              </a:rPr>
              <a:t>使用中的问题与建议，欢迎随时反馈给 DBA 团队——工具会在大家的使用中持续进化。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7793"/>
                </a:solidFill>
                <a:latin typeface="微软雅黑"/>
              </a:rPr>
              <a:t>—— 感谢参与，欢迎上手体验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